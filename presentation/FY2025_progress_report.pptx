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a progress report on the Mitsubishi Electric forecasting project: the problem we were given, the work completed so far, and the plan to the semi-final and final presentations.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from Mitsubishi: both surplus and shortage at once, so no just-in-time supply. Our task: a monthly demand forecast for every product, a revenue forecast, and a system their whole team can use. They gave us four fiscal years of order history plus the item and customer masters.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project stands today. The heavy engineering is done: data pipeline, the forecasting system itself, and a dashboard Mitsubishi's team can operate without us. A first FY2025 forecast exists end-to-end; we are holding the numbers for the semi-final, once the evidence pack is final.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was the data itself. The good news: Mitsubishi's data is exceptionally clean - the master lists reconcile perfectly. Where we found oddities, we investigated rather than guessed: the duplicate lines turned out to be genuine ERP behaviour, and zero prices are a business convention, not missing data. Everything is documented.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analytical finding so far. This catalogue is extremely sparse and extremely concentrated - half a percent of order lines carry 16 percent of volume, and ten customers carry two-thirds of it. Much of this demand is discrete events, not smooth patterns. That diagnosis drives the system design you are about to see, and the roadmap after it.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in one slide. We did not pick a model - every product runs a tournament of up to 24 methods, judged on two years we hid from them. Because demand behaviour varies so much across the catalogue, seventeen different methods currently earn their place somewhere.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deliverable Mitsubishi's team actually touches. Plain language throughout, and the key requirement from the brief: anyone can upload a new data file and the entire system re-runs in about two minutes - no code, no analyst. I will open it live in a moment and walk through it on the real data.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method, because for a graded forecast the process is the product. Every improvement idea is scored against a year we hid before any adoption - twelve tested so far, three survived. The failures are documented with their numbers, which is exactly what makes the successes credible.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from here. Today: the build is done. At the semi-final on 7 September we present the outcomes - the FY2025 numbers with the accuracy evidence behind them, improved by whatever we take from today's discussion. The final on 28 September delivers the final forecast, the written report, and the handover.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build phase is complete and the data is understood. The numbers and their evidence arrive at the semi-final on 7 September. Now let me show you the dashboard itself, live.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8686800" y="1371600"/>
            <a:ext cx="4754880" cy="4754880"/>
          </a:xfrm>
          <a:prstGeom prst="ellipse">
            <a:avLst/>
          </a:prstGeom>
          <a:solidFill>
            <a:srgbClr val="1C2530"/>
          </a:solidFill>
          <a:ln w="15875">
            <a:solidFill>
              <a:srgbClr val="C8102E"/>
            </a:solidFill>
            <a:prstDash val="solid"/>
          </a:ln>
        </p:spPr>
      </p:sp>
      <p:sp>
        <p:nvSpPr>
          <p:cNvPr id="3" name="Shape 1"/>
          <p:cNvSpPr/>
          <p:nvPr/>
        </p:nvSpPr>
        <p:spPr>
          <a:xfrm>
            <a:off x="9692640" y="2377440"/>
            <a:ext cx="2743200" cy="2743200"/>
          </a:xfrm>
          <a:prstGeom prst="ellipse">
            <a:avLst/>
          </a:prstGeom>
          <a:solidFill>
            <a:srgbClr val="1C2530"/>
          </a:solidFill>
          <a:ln w="12700">
            <a:solidFill>
              <a:srgbClr val="3A4656"/>
            </a:solidFill>
            <a:prstDash val="solid"/>
          </a:ln>
        </p:spPr>
      </p:sp>
      <p:sp>
        <p:nvSpPr>
          <p:cNvPr id="4" name="Text 2"/>
          <p:cNvSpPr/>
          <p:nvPr/>
        </p:nvSpPr>
        <p:spPr>
          <a:xfrm>
            <a:off x="685800" y="1417320"/>
            <a:ext cx="8229600"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PROGRESS REPORT  —  ELEMENT OF SUCCESSFUL STARTUP</a:t>
            </a:r>
            <a:endParaRPr lang="en-US" sz="1100" dirty="0"/>
          </a:p>
        </p:txBody>
      </p:sp>
      <p:sp>
        <p:nvSpPr>
          <p:cNvPr id="5" name="Text 3"/>
          <p:cNvSpPr/>
          <p:nvPr/>
        </p:nvSpPr>
        <p:spPr>
          <a:xfrm>
            <a:off x="685800" y="1874520"/>
            <a:ext cx="8778240" cy="2103120"/>
          </a:xfrm>
          <a:prstGeom prst="rect">
            <a:avLst/>
          </a:prstGeom>
          <a:noFill/>
          <a:ln/>
        </p:spPr>
        <p:txBody>
          <a:bodyPr wrap="square" lIns="0" tIns="0" rIns="0" bIns="0" rtlCol="0" anchor="ctr"/>
          <a:lstStyle/>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Forecasting demand for</a:t>
            </a:r>
            <a:endParaRPr lang="en-US" sz="4800" dirty="0"/>
          </a:p>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Mitsubishi Electric</a:t>
            </a:r>
            <a:endParaRPr lang="en-US" sz="4800" dirty="0"/>
          </a:p>
        </p:txBody>
      </p:sp>
      <p:sp>
        <p:nvSpPr>
          <p:cNvPr id="6" name="Text 4"/>
          <p:cNvSpPr/>
          <p:nvPr/>
        </p:nvSpPr>
        <p:spPr>
          <a:xfrm>
            <a:off x="685800" y="4069080"/>
            <a:ext cx="7772400" cy="777240"/>
          </a:xfrm>
          <a:prstGeom prst="rect">
            <a:avLst/>
          </a:prstGeom>
          <a:noFill/>
          <a:ln/>
        </p:spPr>
        <p:txBody>
          <a:bodyPr wrap="square" lIns="0" tIns="0" rIns="0" bIns="0" rtlCol="0" anchor="ctr"/>
          <a:lstStyle/>
          <a:p>
            <a:pPr indent="0" marL="0">
              <a:lnSpc>
                <a:spcPct val="115000"/>
              </a:lnSpc>
              <a:buNone/>
            </a:pPr>
            <a:r>
              <a:rPr lang="en-US" sz="1500" dirty="0">
                <a:solidFill>
                  <a:srgbClr val="A9B4C2"/>
                </a:solidFill>
                <a:latin typeface="Calibri" pitchFamily="34" charset="0"/>
                <a:ea typeface="Calibri" pitchFamily="34" charset="-122"/>
                <a:cs typeface="Calibri" pitchFamily="34" charset="-120"/>
              </a:rPr>
              <a:t>Where the project stands, what we found in the data,</a:t>
            </a:r>
            <a:endParaRPr lang="en-US" sz="1500" dirty="0"/>
          </a:p>
          <a:p>
            <a:pPr indent="0" marL="0">
              <a:lnSpc>
                <a:spcPct val="115000"/>
              </a:lnSpc>
              <a:buNone/>
            </a:pPr>
            <a:r>
              <a:rPr lang="en-US" sz="1500" dirty="0">
                <a:solidFill>
                  <a:srgbClr val="A9B4C2"/>
                </a:solidFill>
                <a:latin typeface="Calibri" pitchFamily="34" charset="0"/>
                <a:ea typeface="Calibri" pitchFamily="34" charset="-122"/>
                <a:cs typeface="Calibri" pitchFamily="34" charset="-120"/>
              </a:rPr>
              <a:t>and the road to the final forecast.</a:t>
            </a:r>
            <a:endParaRPr lang="en-US" sz="1500" dirty="0"/>
          </a:p>
        </p:txBody>
      </p:sp>
      <p:sp>
        <p:nvSpPr>
          <p:cNvPr id="7" name="Text 5"/>
          <p:cNvSpPr/>
          <p:nvPr/>
        </p:nvSpPr>
        <p:spPr>
          <a:xfrm>
            <a:off x="685800" y="5989320"/>
            <a:ext cx="7315200" cy="320040"/>
          </a:xfrm>
          <a:prstGeom prst="rect">
            <a:avLst/>
          </a:prstGeom>
          <a:noFill/>
          <a:ln/>
        </p:spPr>
        <p:txBody>
          <a:bodyPr wrap="square" lIns="0" tIns="0" rIns="0" bIns="0" rtlCol="0" anchor="ctr"/>
          <a:lstStyle/>
          <a:p>
            <a:pPr indent="0" marL="0">
              <a:buNone/>
            </a:pPr>
            <a:r>
              <a:rPr lang="en-US" sz="1150" dirty="0">
                <a:solidFill>
                  <a:srgbClr val="9AA4B0"/>
                </a:solidFill>
                <a:latin typeface="Calibri" pitchFamily="34" charset="0"/>
                <a:ea typeface="Calibri" pitchFamily="34" charset="-122"/>
                <a:cs typeface="Calibri" pitchFamily="34" charset="-120"/>
              </a:rPr>
              <a:t>Thai-Nichi Institute of Technology   ·   10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01 — THE PROBLEM</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Stock surplus and stock shortage, at once.</a:t>
            </a:r>
            <a:endParaRPr lang="en-US" sz="3800" dirty="0"/>
          </a:p>
        </p:txBody>
      </p:sp>
      <p:sp>
        <p:nvSpPr>
          <p:cNvPr id="4" name="Text 2"/>
          <p:cNvSpPr/>
          <p:nvPr/>
        </p:nvSpPr>
        <p:spPr>
          <a:xfrm>
            <a:off x="685800" y="2057400"/>
            <a:ext cx="8778240" cy="868680"/>
          </a:xfrm>
          <a:prstGeom prst="rect">
            <a:avLst/>
          </a:prstGeom>
          <a:noFill/>
          <a:ln/>
        </p:spPr>
        <p:txBody>
          <a:bodyPr wrap="square" lIns="0" tIns="0" rIns="0" bIns="0" rtlCol="0" anchor="ctr"/>
          <a:lstStyle/>
          <a:p>
            <a:pPr indent="0" marL="0">
              <a:lnSpc>
                <a:spcPct val="120000"/>
              </a:lnSpc>
              <a:buNone/>
            </a:pPr>
            <a:r>
              <a:rPr lang="en-US" sz="1500" dirty="0">
                <a:solidFill>
                  <a:srgbClr val="6B7280"/>
                </a:solidFill>
                <a:latin typeface="Calibri" pitchFamily="34" charset="0"/>
                <a:ea typeface="Calibri" pitchFamily="34" charset="-122"/>
                <a:cs typeface="Calibri" pitchFamily="34" charset="-120"/>
              </a:rPr>
              <a:t>Mitsubishi Electric Thailand cannot supply customers just-in-time: some products sit overstocked while others run out. Planning needs forward demand numbers it can trust.</a:t>
            </a:r>
            <a:endParaRPr lang="en-US" sz="1500" dirty="0"/>
          </a:p>
        </p:txBody>
      </p:sp>
      <p:sp>
        <p:nvSpPr>
          <p:cNvPr id="5" name="Text 3"/>
          <p:cNvSpPr/>
          <p:nvPr/>
        </p:nvSpPr>
        <p:spPr>
          <a:xfrm>
            <a:off x="685800"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5,706</a:t>
            </a:r>
            <a:endParaRPr lang="en-US" sz="4000" dirty="0"/>
          </a:p>
        </p:txBody>
      </p:sp>
      <p:sp>
        <p:nvSpPr>
          <p:cNvPr id="6" name="Text 4"/>
          <p:cNvSpPr/>
          <p:nvPr/>
        </p:nvSpPr>
        <p:spPr>
          <a:xfrm>
            <a:off x="685800"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products in the catalogue</a:t>
            </a:r>
            <a:endParaRPr lang="en-US" sz="1200" dirty="0"/>
          </a:p>
        </p:txBody>
      </p:sp>
      <p:sp>
        <p:nvSpPr>
          <p:cNvPr id="7" name="Text 5"/>
          <p:cNvSpPr/>
          <p:nvPr/>
        </p:nvSpPr>
        <p:spPr>
          <a:xfrm>
            <a:off x="4291584"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272,000</a:t>
            </a:r>
            <a:endParaRPr lang="en-US" sz="4000" dirty="0"/>
          </a:p>
        </p:txBody>
      </p:sp>
      <p:sp>
        <p:nvSpPr>
          <p:cNvPr id="8" name="Text 6"/>
          <p:cNvSpPr/>
          <p:nvPr/>
        </p:nvSpPr>
        <p:spPr>
          <a:xfrm>
            <a:off x="4291584"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order lines, four fiscal years</a:t>
            </a:r>
            <a:endParaRPr lang="en-US" sz="1200" dirty="0"/>
          </a:p>
        </p:txBody>
      </p:sp>
      <p:sp>
        <p:nvSpPr>
          <p:cNvPr id="9" name="Text 7"/>
          <p:cNvSpPr/>
          <p:nvPr/>
        </p:nvSpPr>
        <p:spPr>
          <a:xfrm>
            <a:off x="7897368"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48</a:t>
            </a:r>
            <a:endParaRPr lang="en-US" sz="4000" dirty="0"/>
          </a:p>
        </p:txBody>
      </p:sp>
      <p:sp>
        <p:nvSpPr>
          <p:cNvPr id="10" name="Text 8"/>
          <p:cNvSpPr/>
          <p:nvPr/>
        </p:nvSpPr>
        <p:spPr>
          <a:xfrm>
            <a:off x="7897368"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months of history — FY2021 to FY2024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02 — WHERE WE STAND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The build phase is complete.</a:t>
            </a:r>
            <a:endParaRPr lang="en-US" sz="3800" dirty="0"/>
          </a:p>
        </p:txBody>
      </p:sp>
      <p:sp>
        <p:nvSpPr>
          <p:cNvPr id="4" name="Text 2"/>
          <p:cNvSpPr/>
          <p:nvPr/>
        </p:nvSpPr>
        <p:spPr>
          <a:xfrm>
            <a:off x="685800" y="2313432"/>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01</a:t>
            </a:r>
            <a:endParaRPr lang="en-US" sz="2200" dirty="0"/>
          </a:p>
        </p:txBody>
      </p:sp>
      <p:sp>
        <p:nvSpPr>
          <p:cNvPr id="5" name="Text 3"/>
          <p:cNvSpPr/>
          <p:nvPr/>
        </p:nvSpPr>
        <p:spPr>
          <a:xfrm>
            <a:off x="1645920" y="2286000"/>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Data cleaned and reconciled</a:t>
            </a:r>
            <a:endParaRPr lang="en-US" sz="1550" dirty="0"/>
          </a:p>
        </p:txBody>
      </p:sp>
      <p:sp>
        <p:nvSpPr>
          <p:cNvPr id="6" name="Text 4"/>
          <p:cNvSpPr/>
          <p:nvPr/>
        </p:nvSpPr>
        <p:spPr>
          <a:xfrm>
            <a:off x="6355080" y="2322576"/>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every order line checked against both master lists; every decision documented</a:t>
            </a:r>
            <a:endParaRPr lang="en-US" sz="1150" dirty="0"/>
          </a:p>
        </p:txBody>
      </p:sp>
      <p:sp>
        <p:nvSpPr>
          <p:cNvPr id="7" name="Shape 5"/>
          <p:cNvSpPr/>
          <p:nvPr/>
        </p:nvSpPr>
        <p:spPr>
          <a:xfrm>
            <a:off x="685800" y="3035808"/>
            <a:ext cx="10817352" cy="0"/>
          </a:xfrm>
          <a:prstGeom prst="line">
            <a:avLst/>
          </a:prstGeom>
          <a:noFill/>
          <a:ln w="9525">
            <a:solidFill>
              <a:srgbClr val="E2E6EA"/>
            </a:solidFill>
            <a:prstDash val="solid"/>
          </a:ln>
        </p:spPr>
      </p:sp>
      <p:sp>
        <p:nvSpPr>
          <p:cNvPr id="8" name="Text 6"/>
          <p:cNvSpPr/>
          <p:nvPr/>
        </p:nvSpPr>
        <p:spPr>
          <a:xfrm>
            <a:off x="685800" y="3209544"/>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02</a:t>
            </a:r>
            <a:endParaRPr lang="en-US" sz="2200" dirty="0"/>
          </a:p>
        </p:txBody>
      </p:sp>
      <p:sp>
        <p:nvSpPr>
          <p:cNvPr id="9" name="Text 7"/>
          <p:cNvSpPr/>
          <p:nvPr/>
        </p:nvSpPr>
        <p:spPr>
          <a:xfrm>
            <a:off x="1645920" y="3182112"/>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Forecasting system built</a:t>
            </a:r>
            <a:endParaRPr lang="en-US" sz="1550" dirty="0"/>
          </a:p>
        </p:txBody>
      </p:sp>
      <p:sp>
        <p:nvSpPr>
          <p:cNvPr id="10" name="Text 8"/>
          <p:cNvSpPr/>
          <p:nvPr/>
        </p:nvSpPr>
        <p:spPr>
          <a:xfrm>
            <a:off x="6355080" y="3218688"/>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per-product method competition, validated by back-testing on withheld years</a:t>
            </a:r>
            <a:endParaRPr lang="en-US" sz="1150" dirty="0"/>
          </a:p>
        </p:txBody>
      </p:sp>
      <p:sp>
        <p:nvSpPr>
          <p:cNvPr id="11" name="Shape 9"/>
          <p:cNvSpPr/>
          <p:nvPr/>
        </p:nvSpPr>
        <p:spPr>
          <a:xfrm>
            <a:off x="685800" y="3931920"/>
            <a:ext cx="10817352" cy="0"/>
          </a:xfrm>
          <a:prstGeom prst="line">
            <a:avLst/>
          </a:prstGeom>
          <a:noFill/>
          <a:ln w="9525">
            <a:solidFill>
              <a:srgbClr val="E2E6EA"/>
            </a:solidFill>
            <a:prstDash val="solid"/>
          </a:ln>
        </p:spPr>
      </p:sp>
      <p:sp>
        <p:nvSpPr>
          <p:cNvPr id="12" name="Text 10"/>
          <p:cNvSpPr/>
          <p:nvPr/>
        </p:nvSpPr>
        <p:spPr>
          <a:xfrm>
            <a:off x="685800" y="4105656"/>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03</a:t>
            </a:r>
            <a:endParaRPr lang="en-US" sz="2200" dirty="0"/>
          </a:p>
        </p:txBody>
      </p:sp>
      <p:sp>
        <p:nvSpPr>
          <p:cNvPr id="13" name="Text 11"/>
          <p:cNvSpPr/>
          <p:nvPr/>
        </p:nvSpPr>
        <p:spPr>
          <a:xfrm>
            <a:off x="1645920" y="4078224"/>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Planning dashboard live</a:t>
            </a:r>
            <a:endParaRPr lang="en-US" sz="1550" dirty="0"/>
          </a:p>
        </p:txBody>
      </p:sp>
      <p:sp>
        <p:nvSpPr>
          <p:cNvPr id="14" name="Text 12"/>
          <p:cNvSpPr/>
          <p:nvPr/>
        </p:nvSpPr>
        <p:spPr>
          <a:xfrm>
            <a:off x="6355080" y="4114800"/>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eight pages, written for non-analysts; new data re-runs everything in two minutes</a:t>
            </a:r>
            <a:endParaRPr lang="en-US" sz="1150" dirty="0"/>
          </a:p>
        </p:txBody>
      </p:sp>
      <p:sp>
        <p:nvSpPr>
          <p:cNvPr id="15" name="Shape 13"/>
          <p:cNvSpPr/>
          <p:nvPr/>
        </p:nvSpPr>
        <p:spPr>
          <a:xfrm>
            <a:off x="685800" y="4828032"/>
            <a:ext cx="10817352" cy="0"/>
          </a:xfrm>
          <a:prstGeom prst="line">
            <a:avLst/>
          </a:prstGeom>
          <a:noFill/>
          <a:ln w="9525">
            <a:solidFill>
              <a:srgbClr val="E2E6EA"/>
            </a:solidFill>
            <a:prstDash val="solid"/>
          </a:ln>
        </p:spPr>
      </p:sp>
      <p:sp>
        <p:nvSpPr>
          <p:cNvPr id="16" name="Text 14"/>
          <p:cNvSpPr/>
          <p:nvPr/>
        </p:nvSpPr>
        <p:spPr>
          <a:xfrm>
            <a:off x="685800" y="5001768"/>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04</a:t>
            </a:r>
            <a:endParaRPr lang="en-US" sz="2200" dirty="0"/>
          </a:p>
        </p:txBody>
      </p:sp>
      <p:sp>
        <p:nvSpPr>
          <p:cNvPr id="17" name="Text 15"/>
          <p:cNvSpPr/>
          <p:nvPr/>
        </p:nvSpPr>
        <p:spPr>
          <a:xfrm>
            <a:off x="1645920" y="4974336"/>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FY2025 forecast produced</a:t>
            </a:r>
            <a:endParaRPr lang="en-US" sz="1550" dirty="0"/>
          </a:p>
        </p:txBody>
      </p:sp>
      <p:sp>
        <p:nvSpPr>
          <p:cNvPr id="18" name="Text 16"/>
          <p:cNvSpPr/>
          <p:nvPr/>
        </p:nvSpPr>
        <p:spPr>
          <a:xfrm>
            <a:off x="6355080" y="5010912"/>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first full run complete — results and accuracy evidence presented at the semi-final</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03 — WORK DONE: THE DATA</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Cleaned, reconciled, understood.</a:t>
            </a:r>
            <a:endParaRPr lang="en-US" sz="3800" dirty="0"/>
          </a:p>
        </p:txBody>
      </p:sp>
      <p:sp>
        <p:nvSpPr>
          <p:cNvPr id="4" name="Text 2"/>
          <p:cNvSpPr/>
          <p:nvPr/>
        </p:nvSpPr>
        <p:spPr>
          <a:xfrm>
            <a:off x="685800" y="2286000"/>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Perfect reconciliation</a:t>
            </a:r>
            <a:endParaRPr lang="en-US" sz="1500" dirty="0"/>
          </a:p>
        </p:txBody>
      </p:sp>
      <p:sp>
        <p:nvSpPr>
          <p:cNvPr id="5" name="Text 3"/>
          <p:cNvSpPr/>
          <p:nvPr/>
        </p:nvSpPr>
        <p:spPr>
          <a:xfrm>
            <a:off x="5074920" y="2313432"/>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every product and customer in the sales history exists in the master lists — no orphans</a:t>
            </a:r>
            <a:endParaRPr lang="en-US" sz="1150" dirty="0"/>
          </a:p>
        </p:txBody>
      </p:sp>
      <p:sp>
        <p:nvSpPr>
          <p:cNvPr id="6" name="Shape 4"/>
          <p:cNvSpPr/>
          <p:nvPr/>
        </p:nvSpPr>
        <p:spPr>
          <a:xfrm>
            <a:off x="685800" y="3035808"/>
            <a:ext cx="10817352" cy="0"/>
          </a:xfrm>
          <a:prstGeom prst="line">
            <a:avLst/>
          </a:prstGeom>
          <a:noFill/>
          <a:ln w="9525">
            <a:solidFill>
              <a:srgbClr val="E2E6EA"/>
            </a:solidFill>
            <a:prstDash val="solid"/>
          </a:ln>
        </p:spPr>
      </p:sp>
      <p:sp>
        <p:nvSpPr>
          <p:cNvPr id="7" name="Text 5"/>
          <p:cNvSpPr/>
          <p:nvPr/>
        </p:nvSpPr>
        <p:spPr>
          <a:xfrm>
            <a:off x="685800" y="3182112"/>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Duplicates investigated</a:t>
            </a:r>
            <a:endParaRPr lang="en-US" sz="1500" dirty="0"/>
          </a:p>
        </p:txBody>
      </p:sp>
      <p:sp>
        <p:nvSpPr>
          <p:cNvPr id="8" name="Text 6"/>
          <p:cNvSpPr/>
          <p:nvPr/>
        </p:nvSpPr>
        <p:spPr>
          <a:xfrm>
            <a:off x="5074920" y="3209544"/>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6,865 identical lines forensically tested — genuine ERP entries, kept with evidence</a:t>
            </a:r>
            <a:endParaRPr lang="en-US" sz="1150" dirty="0"/>
          </a:p>
        </p:txBody>
      </p:sp>
      <p:sp>
        <p:nvSpPr>
          <p:cNvPr id="9" name="Shape 7"/>
          <p:cNvSpPr/>
          <p:nvPr/>
        </p:nvSpPr>
        <p:spPr>
          <a:xfrm>
            <a:off x="685800" y="3931920"/>
            <a:ext cx="10817352" cy="0"/>
          </a:xfrm>
          <a:prstGeom prst="line">
            <a:avLst/>
          </a:prstGeom>
          <a:noFill/>
          <a:ln w="9525">
            <a:solidFill>
              <a:srgbClr val="E2E6EA"/>
            </a:solidFill>
            <a:prstDash val="solid"/>
          </a:ln>
        </p:spPr>
      </p:sp>
      <p:sp>
        <p:nvSpPr>
          <p:cNvPr id="10" name="Text 8"/>
          <p:cNvSpPr/>
          <p:nvPr/>
        </p:nvSpPr>
        <p:spPr>
          <a:xfrm>
            <a:off x="685800" y="4078224"/>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Variable pricing handled</a:t>
            </a:r>
            <a:endParaRPr lang="en-US" sz="1500" dirty="0"/>
          </a:p>
        </p:txBody>
      </p:sp>
      <p:sp>
        <p:nvSpPr>
          <p:cNvPr id="11" name="Text 9"/>
          <p:cNvSpPr/>
          <p:nvPr/>
        </p:nvSpPr>
        <p:spPr>
          <a:xfrm>
            <a:off x="5074920" y="4105656"/>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price-0 means quoted per order by Japan — never counted as zero revenue</a:t>
            </a:r>
            <a:endParaRPr lang="en-US" sz="1150" dirty="0"/>
          </a:p>
        </p:txBody>
      </p:sp>
      <p:sp>
        <p:nvSpPr>
          <p:cNvPr id="12" name="Shape 10"/>
          <p:cNvSpPr/>
          <p:nvPr/>
        </p:nvSpPr>
        <p:spPr>
          <a:xfrm>
            <a:off x="685800" y="4828032"/>
            <a:ext cx="10817352" cy="0"/>
          </a:xfrm>
          <a:prstGeom prst="line">
            <a:avLst/>
          </a:prstGeom>
          <a:noFill/>
          <a:ln w="9525">
            <a:solidFill>
              <a:srgbClr val="E2E6EA"/>
            </a:solidFill>
            <a:prstDash val="solid"/>
          </a:ln>
        </p:spPr>
      </p:sp>
      <p:sp>
        <p:nvSpPr>
          <p:cNvPr id="13" name="Text 11"/>
          <p:cNvSpPr/>
          <p:nvPr/>
        </p:nvSpPr>
        <p:spPr>
          <a:xfrm>
            <a:off x="685800" y="4974336"/>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Fiscal year verified</a:t>
            </a:r>
            <a:endParaRPr lang="en-US" sz="1500" dirty="0"/>
          </a:p>
        </p:txBody>
      </p:sp>
      <p:sp>
        <p:nvSpPr>
          <p:cNvPr id="14" name="Text 12"/>
          <p:cNvSpPr/>
          <p:nvPr/>
        </p:nvSpPr>
        <p:spPr>
          <a:xfrm>
            <a:off x="5074920" y="5001768"/>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April–March, detected from the data three independent ways</a:t>
            </a:r>
            <a:endParaRPr lang="en-US" sz="1150" dirty="0"/>
          </a:p>
        </p:txBody>
      </p:sp>
      <p:sp>
        <p:nvSpPr>
          <p:cNvPr id="15" name="Text 13"/>
          <p:cNvSpPr/>
          <p:nvPr/>
        </p:nvSpPr>
        <p:spPr>
          <a:xfrm>
            <a:off x="685800" y="580644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cleaning decision is written down with its evidence, so the numbers can be defended line by line.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04 — WORK DONE: THE ANALYSIS</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Demand here is events, not patterns.</a:t>
            </a:r>
            <a:endParaRPr lang="en-US" sz="3800" dirty="0"/>
          </a:p>
        </p:txBody>
      </p:sp>
      <p:sp>
        <p:nvSpPr>
          <p:cNvPr id="4" name="Text 2"/>
          <p:cNvSpPr/>
          <p:nvPr/>
        </p:nvSpPr>
        <p:spPr>
          <a:xfrm>
            <a:off x="685800" y="242316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3 of 48</a:t>
            </a:r>
            <a:endParaRPr lang="en-US" sz="2800" dirty="0"/>
          </a:p>
        </p:txBody>
      </p:sp>
      <p:sp>
        <p:nvSpPr>
          <p:cNvPr id="5" name="Text 3"/>
          <p:cNvSpPr/>
          <p:nvPr/>
        </p:nvSpPr>
        <p:spPr>
          <a:xfrm>
            <a:off x="3794760" y="253288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months in which the median product records any sale at all</a:t>
            </a:r>
            <a:endParaRPr lang="en-US" sz="1350" dirty="0"/>
          </a:p>
        </p:txBody>
      </p:sp>
      <p:sp>
        <p:nvSpPr>
          <p:cNvPr id="6" name="Shape 4"/>
          <p:cNvSpPr/>
          <p:nvPr/>
        </p:nvSpPr>
        <p:spPr>
          <a:xfrm>
            <a:off x="685800" y="3255264"/>
            <a:ext cx="10817352" cy="0"/>
          </a:xfrm>
          <a:prstGeom prst="line">
            <a:avLst/>
          </a:prstGeom>
          <a:noFill/>
          <a:ln w="9525">
            <a:solidFill>
              <a:srgbClr val="E2E6EA"/>
            </a:solidFill>
            <a:prstDash val="solid"/>
          </a:ln>
        </p:spPr>
      </p:sp>
      <p:sp>
        <p:nvSpPr>
          <p:cNvPr id="7" name="Text 5"/>
          <p:cNvSpPr/>
          <p:nvPr/>
        </p:nvSpPr>
        <p:spPr>
          <a:xfrm>
            <a:off x="685800" y="338328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0.4% → 16%</a:t>
            </a:r>
            <a:endParaRPr lang="en-US" sz="2800" dirty="0"/>
          </a:p>
        </p:txBody>
      </p:sp>
      <p:sp>
        <p:nvSpPr>
          <p:cNvPr id="8" name="Text 6"/>
          <p:cNvSpPr/>
          <p:nvPr/>
        </p:nvSpPr>
        <p:spPr>
          <a:xfrm>
            <a:off x="3794760" y="349300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share of volume carried by the largest half-percent of order lines</a:t>
            </a:r>
            <a:endParaRPr lang="en-US" sz="1350" dirty="0"/>
          </a:p>
        </p:txBody>
      </p:sp>
      <p:sp>
        <p:nvSpPr>
          <p:cNvPr id="9" name="Shape 7"/>
          <p:cNvSpPr/>
          <p:nvPr/>
        </p:nvSpPr>
        <p:spPr>
          <a:xfrm>
            <a:off x="685800" y="4215384"/>
            <a:ext cx="10817352" cy="0"/>
          </a:xfrm>
          <a:prstGeom prst="line">
            <a:avLst/>
          </a:prstGeom>
          <a:noFill/>
          <a:ln w="9525">
            <a:solidFill>
              <a:srgbClr val="E2E6EA"/>
            </a:solidFill>
            <a:prstDash val="solid"/>
          </a:ln>
        </p:spPr>
      </p:sp>
      <p:sp>
        <p:nvSpPr>
          <p:cNvPr id="10" name="Text 8"/>
          <p:cNvSpPr/>
          <p:nvPr/>
        </p:nvSpPr>
        <p:spPr>
          <a:xfrm>
            <a:off x="685800" y="434340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68.5%</a:t>
            </a:r>
            <a:endParaRPr lang="en-US" sz="2800" dirty="0"/>
          </a:p>
        </p:txBody>
      </p:sp>
      <p:sp>
        <p:nvSpPr>
          <p:cNvPr id="11" name="Text 9"/>
          <p:cNvSpPr/>
          <p:nvPr/>
        </p:nvSpPr>
        <p:spPr>
          <a:xfrm>
            <a:off x="3794760" y="445312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of all volume comes from just ten customers — three carry 27.6%</a:t>
            </a:r>
            <a:endParaRPr lang="en-US" sz="1350" dirty="0"/>
          </a:p>
        </p:txBody>
      </p:sp>
      <p:sp>
        <p:nvSpPr>
          <p:cNvPr id="12" name="Text 10"/>
          <p:cNvSpPr/>
          <p:nvPr/>
        </p:nvSpPr>
        <p:spPr>
          <a:xfrm>
            <a:off x="685800" y="5577840"/>
            <a:ext cx="10817352" cy="59436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This finding shapes the whole approach: no single model fits such a catalogue, and the largest orders are knowable from the sales pipeline before any statistic sees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05 — WORK DONE: THE SYSTEM</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One pipeline, four steps.</a:t>
            </a:r>
            <a:endParaRPr lang="en-US" sz="3800" dirty="0"/>
          </a:p>
        </p:txBody>
      </p:sp>
      <p:sp>
        <p:nvSpPr>
          <p:cNvPr id="4" name="Text 2"/>
          <p:cNvSpPr/>
          <p:nvPr/>
        </p:nvSpPr>
        <p:spPr>
          <a:xfrm>
            <a:off x="685800"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01</a:t>
            </a:r>
            <a:endParaRPr lang="en-US" sz="3000" dirty="0"/>
          </a:p>
        </p:txBody>
      </p:sp>
      <p:sp>
        <p:nvSpPr>
          <p:cNvPr id="5" name="Text 3"/>
          <p:cNvSpPr/>
          <p:nvPr/>
        </p:nvSpPr>
        <p:spPr>
          <a:xfrm>
            <a:off x="685800"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Clean</a:t>
            </a:r>
            <a:endParaRPr lang="en-US" sz="1700" dirty="0"/>
          </a:p>
        </p:txBody>
      </p:sp>
      <p:sp>
        <p:nvSpPr>
          <p:cNvPr id="6" name="Text 4"/>
          <p:cNvSpPr/>
          <p:nvPr/>
        </p:nvSpPr>
        <p:spPr>
          <a:xfrm>
            <a:off x="685800"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272,000 lines reconciled against both master lists; every decision logged</a:t>
            </a:r>
            <a:endParaRPr lang="en-US" sz="1200" dirty="0"/>
          </a:p>
        </p:txBody>
      </p:sp>
      <p:sp>
        <p:nvSpPr>
          <p:cNvPr id="7" name="Text 5"/>
          <p:cNvSpPr/>
          <p:nvPr/>
        </p:nvSpPr>
        <p:spPr>
          <a:xfrm>
            <a:off x="3390138"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02</a:t>
            </a:r>
            <a:endParaRPr lang="en-US" sz="3000" dirty="0"/>
          </a:p>
        </p:txBody>
      </p:sp>
      <p:sp>
        <p:nvSpPr>
          <p:cNvPr id="8" name="Text 6"/>
          <p:cNvSpPr/>
          <p:nvPr/>
        </p:nvSpPr>
        <p:spPr>
          <a:xfrm>
            <a:off x="3390138"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Compete</a:t>
            </a:r>
            <a:endParaRPr lang="en-US" sz="1700" dirty="0"/>
          </a:p>
        </p:txBody>
      </p:sp>
      <p:sp>
        <p:nvSpPr>
          <p:cNvPr id="9" name="Text 7"/>
          <p:cNvSpPr/>
          <p:nvPr/>
        </p:nvSpPr>
        <p:spPr>
          <a:xfrm>
            <a:off x="3390138"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Up to 24 forecasting methods fight per product on two hidden years</a:t>
            </a:r>
            <a:endParaRPr lang="en-US" sz="1200" dirty="0"/>
          </a:p>
        </p:txBody>
      </p:sp>
      <p:sp>
        <p:nvSpPr>
          <p:cNvPr id="10" name="Text 8"/>
          <p:cNvSpPr/>
          <p:nvPr/>
        </p:nvSpPr>
        <p:spPr>
          <a:xfrm>
            <a:off x="6094476"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03</a:t>
            </a:r>
            <a:endParaRPr lang="en-US" sz="3000" dirty="0"/>
          </a:p>
        </p:txBody>
      </p:sp>
      <p:sp>
        <p:nvSpPr>
          <p:cNvPr id="11" name="Text 9"/>
          <p:cNvSpPr/>
          <p:nvPr/>
        </p:nvSpPr>
        <p:spPr>
          <a:xfrm>
            <a:off x="6094476"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Forecast</a:t>
            </a:r>
            <a:endParaRPr lang="en-US" sz="1700" dirty="0"/>
          </a:p>
        </p:txBody>
      </p:sp>
      <p:sp>
        <p:nvSpPr>
          <p:cNvPr id="12" name="Text 10"/>
          <p:cNvSpPr/>
          <p:nvPr/>
        </p:nvSpPr>
        <p:spPr>
          <a:xfrm>
            <a:off x="6094476"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FY2025 by product and month, with a measured confidence range</a:t>
            </a:r>
            <a:endParaRPr lang="en-US" sz="1200" dirty="0"/>
          </a:p>
        </p:txBody>
      </p:sp>
      <p:sp>
        <p:nvSpPr>
          <p:cNvPr id="13" name="Text 11"/>
          <p:cNvSpPr/>
          <p:nvPr/>
        </p:nvSpPr>
        <p:spPr>
          <a:xfrm>
            <a:off x="8798814"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04</a:t>
            </a:r>
            <a:endParaRPr lang="en-US" sz="3000" dirty="0"/>
          </a:p>
        </p:txBody>
      </p:sp>
      <p:sp>
        <p:nvSpPr>
          <p:cNvPr id="14" name="Text 12"/>
          <p:cNvSpPr/>
          <p:nvPr/>
        </p:nvSpPr>
        <p:spPr>
          <a:xfrm>
            <a:off x="8798814"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Decide</a:t>
            </a:r>
            <a:endParaRPr lang="en-US" sz="1700" dirty="0"/>
          </a:p>
        </p:txBody>
      </p:sp>
      <p:sp>
        <p:nvSpPr>
          <p:cNvPr id="15" name="Text 13"/>
          <p:cNvSpPr/>
          <p:nvPr/>
        </p:nvSpPr>
        <p:spPr>
          <a:xfrm>
            <a:off x="8798814"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A dashboard for non-analysts; new data re-runs everything in two minutes</a:t>
            </a:r>
            <a:endParaRPr lang="en-US" sz="1200" dirty="0"/>
          </a:p>
        </p:txBody>
      </p:sp>
      <p:sp>
        <p:nvSpPr>
          <p:cNvPr id="16" name="Text 14"/>
          <p:cNvSpPr/>
          <p:nvPr/>
        </p:nvSpPr>
        <p:spPr>
          <a:xfrm>
            <a:off x="685800" y="5623560"/>
            <a:ext cx="10817352" cy="54864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No model was assumed. Each product’s method must win a back-test against every alternative its history can support.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06 — WORK DONE: THE DASHBOARD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Built for the whole team, not analysts.</a:t>
            </a:r>
            <a:endParaRPr lang="en-US" sz="3800" dirty="0"/>
          </a:p>
        </p:txBody>
      </p:sp>
      <p:sp>
        <p:nvSpPr>
          <p:cNvPr id="4" name="Shape 2"/>
          <p:cNvSpPr/>
          <p:nvPr/>
        </p:nvSpPr>
        <p:spPr>
          <a:xfrm>
            <a:off x="685800" y="2377440"/>
            <a:ext cx="3429000" cy="2651760"/>
          </a:xfrm>
          <a:prstGeom prst="roundRect">
            <a:avLst>
              <a:gd name="adj" fmla="val 2759"/>
            </a:avLst>
          </a:prstGeom>
          <a:solidFill>
            <a:srgbClr val="1C2530"/>
          </a:solidFill>
          <a:ln w="12700">
            <a:solidFill>
              <a:srgbClr val="1C2530"/>
            </a:solidFill>
            <a:prstDash val="solid"/>
          </a:ln>
        </p:spPr>
      </p:sp>
      <p:sp>
        <p:nvSpPr>
          <p:cNvPr id="5" name="Text 3"/>
          <p:cNvSpPr/>
          <p:nvPr/>
        </p:nvSpPr>
        <p:spPr>
          <a:xfrm>
            <a:off x="1005840"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Forecast views</a:t>
            </a:r>
            <a:endParaRPr lang="en-US" sz="1900" dirty="0"/>
          </a:p>
        </p:txBody>
      </p:sp>
      <p:sp>
        <p:nvSpPr>
          <p:cNvPr id="6" name="Text 4"/>
          <p:cNvSpPr/>
          <p:nvPr/>
        </p:nvSpPr>
        <p:spPr>
          <a:xfrm>
            <a:off x="1005840"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company, category, product and customer — history and forecast on one chart</a:t>
            </a:r>
            <a:endParaRPr lang="en-US" sz="1200" dirty="0"/>
          </a:p>
        </p:txBody>
      </p:sp>
      <p:sp>
        <p:nvSpPr>
          <p:cNvPr id="7" name="Shape 5"/>
          <p:cNvSpPr/>
          <p:nvPr/>
        </p:nvSpPr>
        <p:spPr>
          <a:xfrm>
            <a:off x="4398264" y="2377440"/>
            <a:ext cx="3429000" cy="2651760"/>
          </a:xfrm>
          <a:prstGeom prst="roundRect">
            <a:avLst>
              <a:gd name="adj" fmla="val 2759"/>
            </a:avLst>
          </a:prstGeom>
          <a:solidFill>
            <a:srgbClr val="1C2530"/>
          </a:solidFill>
          <a:ln w="12700">
            <a:solidFill>
              <a:srgbClr val="1C2530"/>
            </a:solidFill>
            <a:prstDash val="solid"/>
          </a:ln>
        </p:spPr>
      </p:sp>
      <p:sp>
        <p:nvSpPr>
          <p:cNvPr id="8" name="Text 6"/>
          <p:cNvSpPr/>
          <p:nvPr/>
        </p:nvSpPr>
        <p:spPr>
          <a:xfrm>
            <a:off x="4718304"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Inventory planning</a:t>
            </a:r>
            <a:endParaRPr lang="en-US" sz="1900" dirty="0"/>
          </a:p>
        </p:txBody>
      </p:sp>
      <p:sp>
        <p:nvSpPr>
          <p:cNvPr id="9" name="Text 7"/>
          <p:cNvSpPr/>
          <p:nvPr/>
        </p:nvSpPr>
        <p:spPr>
          <a:xfrm>
            <a:off x="4718304"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service level against stock held, simulated on a withheld year</a:t>
            </a:r>
            <a:endParaRPr lang="en-US" sz="1200" dirty="0"/>
          </a:p>
        </p:txBody>
      </p:sp>
      <p:sp>
        <p:nvSpPr>
          <p:cNvPr id="10" name="Shape 8"/>
          <p:cNvSpPr/>
          <p:nvPr/>
        </p:nvSpPr>
        <p:spPr>
          <a:xfrm>
            <a:off x="8110728" y="2377440"/>
            <a:ext cx="3429000" cy="2651760"/>
          </a:xfrm>
          <a:prstGeom prst="roundRect">
            <a:avLst>
              <a:gd name="adj" fmla="val 2759"/>
            </a:avLst>
          </a:prstGeom>
          <a:solidFill>
            <a:srgbClr val="1C2530"/>
          </a:solidFill>
          <a:ln w="12700">
            <a:solidFill>
              <a:srgbClr val="1C2530"/>
            </a:solidFill>
            <a:prstDash val="solid"/>
          </a:ln>
        </p:spPr>
      </p:sp>
      <p:sp>
        <p:nvSpPr>
          <p:cNvPr id="11" name="Text 9"/>
          <p:cNvSpPr/>
          <p:nvPr/>
        </p:nvSpPr>
        <p:spPr>
          <a:xfrm>
            <a:off x="8430768"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Evidence &amp; refresh</a:t>
            </a:r>
            <a:endParaRPr lang="en-US" sz="1900" dirty="0"/>
          </a:p>
        </p:txBody>
      </p:sp>
      <p:sp>
        <p:nvSpPr>
          <p:cNvPr id="12" name="Text 10"/>
          <p:cNvSpPr/>
          <p:nvPr/>
        </p:nvSpPr>
        <p:spPr>
          <a:xfrm>
            <a:off x="8430768"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accuracy pages in plain language; upload new data and re-run in two minutes</a:t>
            </a:r>
            <a:endParaRPr lang="en-US" sz="1200" dirty="0"/>
          </a:p>
        </p:txBody>
      </p:sp>
      <p:sp>
        <p:nvSpPr>
          <p:cNvPr id="13" name="Text 11"/>
          <p:cNvSpPr/>
          <p:nvPr/>
        </p:nvSpPr>
        <p:spPr>
          <a:xfrm>
            <a:off x="685800" y="562356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Demonstrated live in a moment — on the real data.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07 — HOW WE WORK</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Nothing is adopted on plausibility.</a:t>
            </a:r>
            <a:endParaRPr lang="en-US" sz="3800" dirty="0"/>
          </a:p>
        </p:txBody>
      </p:sp>
      <p:sp>
        <p:nvSpPr>
          <p:cNvPr id="4" name="Text 2"/>
          <p:cNvSpPr/>
          <p:nvPr/>
        </p:nvSpPr>
        <p:spPr>
          <a:xfrm>
            <a:off x="685800" y="2286000"/>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01</a:t>
            </a:r>
            <a:endParaRPr lang="en-US" sz="2400" dirty="0"/>
          </a:p>
        </p:txBody>
      </p:sp>
      <p:sp>
        <p:nvSpPr>
          <p:cNvPr id="5" name="Text 3"/>
          <p:cNvSpPr/>
          <p:nvPr/>
        </p:nvSpPr>
        <p:spPr>
          <a:xfrm>
            <a:off x="1691640" y="2304288"/>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Every idea is tested on a withheld year</a:t>
            </a:r>
            <a:endParaRPr lang="en-US" sz="1550" dirty="0"/>
          </a:p>
        </p:txBody>
      </p:sp>
      <p:sp>
        <p:nvSpPr>
          <p:cNvPr id="6" name="Text 4"/>
          <p:cNvSpPr/>
          <p:nvPr/>
        </p:nvSpPr>
        <p:spPr>
          <a:xfrm>
            <a:off x="1691640" y="2743200"/>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twelve improvement ideas built and measured so far — three earned adoption</a:t>
            </a:r>
            <a:endParaRPr lang="en-US" sz="1200" dirty="0"/>
          </a:p>
        </p:txBody>
      </p:sp>
      <p:sp>
        <p:nvSpPr>
          <p:cNvPr id="7" name="Text 5"/>
          <p:cNvSpPr/>
          <p:nvPr/>
        </p:nvSpPr>
        <p:spPr>
          <a:xfrm>
            <a:off x="685800" y="3493008"/>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02</a:t>
            </a:r>
            <a:endParaRPr lang="en-US" sz="2400" dirty="0"/>
          </a:p>
        </p:txBody>
      </p:sp>
      <p:sp>
        <p:nvSpPr>
          <p:cNvPr id="8" name="Text 6"/>
          <p:cNvSpPr/>
          <p:nvPr/>
        </p:nvSpPr>
        <p:spPr>
          <a:xfrm>
            <a:off x="1691640" y="3511296"/>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Failures are kept, with their numbers</a:t>
            </a:r>
            <a:endParaRPr lang="en-US" sz="1550" dirty="0"/>
          </a:p>
        </p:txBody>
      </p:sp>
      <p:sp>
        <p:nvSpPr>
          <p:cNvPr id="9" name="Text 7"/>
          <p:cNvSpPr/>
          <p:nvPr/>
        </p:nvSpPr>
        <p:spPr>
          <a:xfrm>
            <a:off x="1691640" y="3950208"/>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rejected techniques stay documented so no one re-tests a dead end</a:t>
            </a:r>
            <a:endParaRPr lang="en-US" sz="1200" dirty="0"/>
          </a:p>
        </p:txBody>
      </p:sp>
      <p:sp>
        <p:nvSpPr>
          <p:cNvPr id="10" name="Text 8"/>
          <p:cNvSpPr/>
          <p:nvPr/>
        </p:nvSpPr>
        <p:spPr>
          <a:xfrm>
            <a:off x="685800" y="4700016"/>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03</a:t>
            </a:r>
            <a:endParaRPr lang="en-US" sz="2400" dirty="0"/>
          </a:p>
        </p:txBody>
      </p:sp>
      <p:sp>
        <p:nvSpPr>
          <p:cNvPr id="11" name="Text 9"/>
          <p:cNvSpPr/>
          <p:nvPr/>
        </p:nvSpPr>
        <p:spPr>
          <a:xfrm>
            <a:off x="1691640" y="4718304"/>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Every assumption is written down</a:t>
            </a:r>
            <a:endParaRPr lang="en-US" sz="1550" dirty="0"/>
          </a:p>
        </p:txBody>
      </p:sp>
      <p:sp>
        <p:nvSpPr>
          <p:cNvPr id="12" name="Text 10"/>
          <p:cNvSpPr/>
          <p:nvPr/>
        </p:nvSpPr>
        <p:spPr>
          <a:xfrm>
            <a:off x="1691640" y="5157216"/>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twenty-one documented decisions, each reversible by one configuration line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09 — THE ROAD AHEAD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Two milestones to the final forecast.</a:t>
            </a:r>
            <a:endParaRPr lang="en-US" sz="3800" dirty="0"/>
          </a:p>
        </p:txBody>
      </p:sp>
      <p:sp>
        <p:nvSpPr>
          <p:cNvPr id="4" name="Shape 2"/>
          <p:cNvSpPr/>
          <p:nvPr/>
        </p:nvSpPr>
        <p:spPr>
          <a:xfrm>
            <a:off x="685800" y="2331720"/>
            <a:ext cx="3429000" cy="2926080"/>
          </a:xfrm>
          <a:prstGeom prst="roundRect">
            <a:avLst>
              <a:gd name="adj" fmla="val 2500"/>
            </a:avLst>
          </a:prstGeom>
          <a:solidFill>
            <a:srgbClr val="1C2530"/>
          </a:solidFill>
          <a:ln w="12700">
            <a:solidFill>
              <a:srgbClr val="1C2530"/>
            </a:solidFill>
            <a:prstDash val="solid"/>
          </a:ln>
        </p:spPr>
      </p:sp>
      <p:sp>
        <p:nvSpPr>
          <p:cNvPr id="5" name="Text 3"/>
          <p:cNvSpPr/>
          <p:nvPr/>
        </p:nvSpPr>
        <p:spPr>
          <a:xfrm>
            <a:off x="1005840"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TODAY — 10 AUG</a:t>
            </a:r>
            <a:endParaRPr lang="en-US" sz="1050" dirty="0"/>
          </a:p>
        </p:txBody>
      </p:sp>
      <p:sp>
        <p:nvSpPr>
          <p:cNvPr id="6" name="Text 4"/>
          <p:cNvSpPr/>
          <p:nvPr/>
        </p:nvSpPr>
        <p:spPr>
          <a:xfrm>
            <a:off x="1005840"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Progress report</a:t>
            </a:r>
            <a:endParaRPr lang="en-US" sz="1900" dirty="0"/>
          </a:p>
        </p:txBody>
      </p:sp>
      <p:sp>
        <p:nvSpPr>
          <p:cNvPr id="7" name="Text 5"/>
          <p:cNvSpPr/>
          <p:nvPr/>
        </p:nvSpPr>
        <p:spPr>
          <a:xfrm>
            <a:off x="1005840"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system built and running; data understood; questions raised</a:t>
            </a:r>
            <a:endParaRPr lang="en-US" sz="1150" dirty="0"/>
          </a:p>
        </p:txBody>
      </p:sp>
      <p:sp>
        <p:nvSpPr>
          <p:cNvPr id="8" name="Shape 6"/>
          <p:cNvSpPr/>
          <p:nvPr/>
        </p:nvSpPr>
        <p:spPr>
          <a:xfrm>
            <a:off x="4398264" y="2331720"/>
            <a:ext cx="3429000" cy="2926080"/>
          </a:xfrm>
          <a:prstGeom prst="roundRect">
            <a:avLst>
              <a:gd name="adj" fmla="val 2500"/>
            </a:avLst>
          </a:prstGeom>
          <a:solidFill>
            <a:srgbClr val="C8102E"/>
          </a:solidFill>
          <a:ln w="12700">
            <a:solidFill>
              <a:srgbClr val="C8102E"/>
            </a:solidFill>
            <a:prstDash val="solid"/>
          </a:ln>
        </p:spPr>
      </p:sp>
      <p:sp>
        <p:nvSpPr>
          <p:cNvPr id="9" name="Text 7"/>
          <p:cNvSpPr/>
          <p:nvPr/>
        </p:nvSpPr>
        <p:spPr>
          <a:xfrm>
            <a:off x="4718304" y="2697480"/>
            <a:ext cx="2788920" cy="320040"/>
          </a:xfrm>
          <a:prstGeom prst="rect">
            <a:avLst/>
          </a:prstGeom>
          <a:noFill/>
          <a:ln/>
        </p:spPr>
        <p:txBody>
          <a:bodyPr wrap="square" lIns="0" tIns="0" rIns="0" bIns="0" rtlCol="0" anchor="ctr"/>
          <a:lstStyle/>
          <a:p>
            <a:pPr indent="0" marL="0">
              <a:buNone/>
            </a:pPr>
            <a:r>
              <a:rPr lang="en-US" sz="1050" b="1" spc="200" kern="0" dirty="0">
                <a:solidFill>
                  <a:srgbClr val="F3C2CB"/>
                </a:solidFill>
                <a:latin typeface="Calibri" pitchFamily="34" charset="0"/>
                <a:ea typeface="Calibri" pitchFamily="34" charset="-122"/>
                <a:cs typeface="Calibri" pitchFamily="34" charset="-120"/>
              </a:rPr>
              <a:t>SEMI-FINAL — 7 SEP</a:t>
            </a:r>
            <a:endParaRPr lang="en-US" sz="1050" dirty="0"/>
          </a:p>
        </p:txBody>
      </p:sp>
      <p:sp>
        <p:nvSpPr>
          <p:cNvPr id="10" name="Text 8"/>
          <p:cNvSpPr/>
          <p:nvPr/>
        </p:nvSpPr>
        <p:spPr>
          <a:xfrm>
            <a:off x="4718304"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Results &amp; evidence</a:t>
            </a:r>
            <a:endParaRPr lang="en-US" sz="1900" dirty="0"/>
          </a:p>
        </p:txBody>
      </p:sp>
      <p:sp>
        <p:nvSpPr>
          <p:cNvPr id="11" name="Text 9"/>
          <p:cNvSpPr/>
          <p:nvPr/>
        </p:nvSpPr>
        <p:spPr>
          <a:xfrm>
            <a:off x="4718304"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F3D9DD"/>
                </a:solidFill>
                <a:latin typeface="Calibri" pitchFamily="34" charset="0"/>
                <a:ea typeface="Calibri" pitchFamily="34" charset="-122"/>
                <a:cs typeface="Calibri" pitchFamily="34" charset="-120"/>
              </a:rPr>
              <a:t>the FY2025 numbers, accuracy against withheld years, inventory trade-off, refinements from your feedback</a:t>
            </a:r>
            <a:endParaRPr lang="en-US" sz="1150" dirty="0"/>
          </a:p>
        </p:txBody>
      </p:sp>
      <p:sp>
        <p:nvSpPr>
          <p:cNvPr id="12" name="Shape 10"/>
          <p:cNvSpPr/>
          <p:nvPr/>
        </p:nvSpPr>
        <p:spPr>
          <a:xfrm>
            <a:off x="8110728" y="2331720"/>
            <a:ext cx="3429000" cy="2926080"/>
          </a:xfrm>
          <a:prstGeom prst="roundRect">
            <a:avLst>
              <a:gd name="adj" fmla="val 2500"/>
            </a:avLst>
          </a:prstGeom>
          <a:solidFill>
            <a:srgbClr val="1C2530"/>
          </a:solidFill>
          <a:ln w="12700">
            <a:solidFill>
              <a:srgbClr val="1C2530"/>
            </a:solidFill>
            <a:prstDash val="solid"/>
          </a:ln>
        </p:spPr>
      </p:sp>
      <p:sp>
        <p:nvSpPr>
          <p:cNvPr id="13" name="Text 11"/>
          <p:cNvSpPr/>
          <p:nvPr/>
        </p:nvSpPr>
        <p:spPr>
          <a:xfrm>
            <a:off x="8430768"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FINAL — 28 SEP</a:t>
            </a:r>
            <a:endParaRPr lang="en-US" sz="1050" dirty="0"/>
          </a:p>
        </p:txBody>
      </p:sp>
      <p:sp>
        <p:nvSpPr>
          <p:cNvPr id="14" name="Text 12"/>
          <p:cNvSpPr/>
          <p:nvPr/>
        </p:nvSpPr>
        <p:spPr>
          <a:xfrm>
            <a:off x="8430768"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Final forecast &amp; handover</a:t>
            </a:r>
            <a:endParaRPr lang="en-US" sz="1900" dirty="0"/>
          </a:p>
        </p:txBody>
      </p:sp>
      <p:sp>
        <p:nvSpPr>
          <p:cNvPr id="15" name="Text 13"/>
          <p:cNvSpPr/>
          <p:nvPr/>
        </p:nvSpPr>
        <p:spPr>
          <a:xfrm>
            <a:off x="8430768"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final forecast with full written report, documented assumptions, and the dashboard handed over</a:t>
            </a:r>
            <a:endParaRPr lang="en-US" sz="1150" dirty="0"/>
          </a:p>
        </p:txBody>
      </p:sp>
      <p:sp>
        <p:nvSpPr>
          <p:cNvPr id="16" name="Text 14"/>
          <p:cNvSpPr/>
          <p:nvPr/>
        </p:nvSpPr>
        <p:spPr>
          <a:xfrm>
            <a:off x="685800" y="5760720"/>
            <a:ext cx="10817352" cy="54864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Between milestones: sales-input channel for the event-driven products, monthly re-forecast rhythm, and refinements from today’s discussion.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9601200" y="-2286000"/>
            <a:ext cx="4754880" cy="4754880"/>
          </a:xfrm>
          <a:prstGeom prst="ellipse">
            <a:avLst/>
          </a:prstGeom>
          <a:solidFill>
            <a:srgbClr val="1C2530"/>
          </a:solidFill>
          <a:ln w="15875">
            <a:solidFill>
              <a:srgbClr val="C8102E"/>
            </a:solidFill>
            <a:prstDash val="solid"/>
          </a:ln>
        </p:spPr>
      </p:sp>
      <p:sp>
        <p:nvSpPr>
          <p:cNvPr id="3" name="Text 1"/>
          <p:cNvSpPr/>
          <p:nvPr/>
        </p:nvSpPr>
        <p:spPr>
          <a:xfrm>
            <a:off x="685800" y="2103120"/>
            <a:ext cx="10817352"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THANK YOU</a:t>
            </a:r>
            <a:endParaRPr lang="en-US" sz="1100" dirty="0"/>
          </a:p>
        </p:txBody>
      </p:sp>
      <p:sp>
        <p:nvSpPr>
          <p:cNvPr id="4" name="Text 2"/>
          <p:cNvSpPr/>
          <p:nvPr/>
        </p:nvSpPr>
        <p:spPr>
          <a:xfrm>
            <a:off x="685800" y="2560320"/>
            <a:ext cx="960120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The system is built.</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The evidence comes next.</a:t>
            </a:r>
            <a:endParaRPr lang="en-US" sz="4000" dirty="0"/>
          </a:p>
        </p:txBody>
      </p:sp>
      <p:sp>
        <p:nvSpPr>
          <p:cNvPr id="5" name="Text 3"/>
          <p:cNvSpPr/>
          <p:nvPr/>
        </p:nvSpPr>
        <p:spPr>
          <a:xfrm>
            <a:off x="685800" y="4709160"/>
            <a:ext cx="8686800" cy="731520"/>
          </a:xfrm>
          <a:prstGeom prst="rect">
            <a:avLst/>
          </a:prstGeom>
          <a:noFill/>
          <a:ln/>
        </p:spPr>
        <p:txBody>
          <a:bodyPr wrap="square" lIns="0" tIns="0" rIns="0" bIns="0" rtlCol="0" anchor="ctr"/>
          <a:lstStyle/>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Results and accuracy evidence — semi-final, 7 September.</a:t>
            </a:r>
            <a:endParaRPr lang="en-US" sz="1400" dirty="0"/>
          </a:p>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Live dashboard available now; 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2026-08-05T06:16:18Z</dcterms:created>
  <dcterms:modified xsi:type="dcterms:W3CDTF">2026-08-05T06:16:18Z</dcterms:modified>
</cp:coreProperties>
</file>