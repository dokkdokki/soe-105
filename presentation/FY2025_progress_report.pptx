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our progress report on the Mitsubishi Electric forecasting project. Three parts: what we have done, what we have faced, and what we will do next. (~35s)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one: what we have done. First, the data. Four fiscal years, 272 thousand order lines, reconciled against both master lists - Mitsubishi's data is exceptionally clean. Where we found oddities we investigated rather than guessed, and every decision is written down. (~50s)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model selection. We never assumed a model. Every product runs a tournament: up to 24 candidate methods each forecast two years we hid from them, and the most accurate wins that product. The same discipline applies to our own ideas - twelve tested, three adopted, failures kept on record. (~55s)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the deliverable Mitsubishi's team actually touches: the dashboard. Plain language, built for non-analysts, and the key requirement from the brief - anyone can upload next year's file and the whole system re-runs in about two minutes. I will demo it live shortly.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what we have faced. The first challenge is the nature of the demand itself. The catalogue is extremely sparse and extremely concentrated - half a percent of order lines carry 16 percent of volume. Much of this demand is discrete events, not smooth patterns, and that is a structural limit for any statistical method. (~50s)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challenge is accuracy itself. Two of our four history years are violent turning points that nothing in the data explains, and the textbook accuracy metric, MAPE, is mathematically undefined on months that sell zero - most months here. Our response: withheld-year back-testing, honest baselines, and ranges rather than false-precision points. The full evidence pack comes at the semi-final. (~55s)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three: what we will do next. At the semi-final on 7 September we present the outcomes - the FY2025 numbers with the accuracy evidence behind them. The final on 28 September delivers the final forecast, the written report and the handover. Between milestones the system keeps improving as new information arrives.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system is built, the challenges are understood, and the evidence arrives at the semi-final. Now let me show you the dashboard live. Thank you. (~20s)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530"/>
        </a:solidFill>
      </p:bgPr>
    </p:bg>
    <p:spTree>
      <p:nvGrpSpPr>
        <p:cNvPr id="1" name=""/>
        <p:cNvGrpSpPr/>
        <p:nvPr/>
      </p:nvGrpSpPr>
      <p:grpSpPr>
        <a:xfrm>
          <a:off x="0" y="0"/>
          <a:ext cx="0" cy="0"/>
          <a:chOff x="0" y="0"/>
          <a:chExt cx="0" cy="0"/>
        </a:xfrm>
      </p:grpSpPr>
      <p:sp>
        <p:nvSpPr>
          <p:cNvPr id="2" name="Shape 0"/>
          <p:cNvSpPr/>
          <p:nvPr/>
        </p:nvSpPr>
        <p:spPr>
          <a:xfrm>
            <a:off x="8686800" y="1371600"/>
            <a:ext cx="4754880" cy="4754880"/>
          </a:xfrm>
          <a:prstGeom prst="ellipse">
            <a:avLst/>
          </a:prstGeom>
          <a:solidFill>
            <a:srgbClr val="1C2530"/>
          </a:solidFill>
          <a:ln w="15875">
            <a:solidFill>
              <a:srgbClr val="C8102E"/>
            </a:solidFill>
            <a:prstDash val="solid"/>
          </a:ln>
        </p:spPr>
      </p:sp>
      <p:sp>
        <p:nvSpPr>
          <p:cNvPr id="3" name="Shape 1"/>
          <p:cNvSpPr/>
          <p:nvPr/>
        </p:nvSpPr>
        <p:spPr>
          <a:xfrm>
            <a:off x="9692640" y="2377440"/>
            <a:ext cx="2743200" cy="2743200"/>
          </a:xfrm>
          <a:prstGeom prst="ellipse">
            <a:avLst/>
          </a:prstGeom>
          <a:solidFill>
            <a:srgbClr val="1C2530"/>
          </a:solidFill>
          <a:ln w="12700">
            <a:solidFill>
              <a:srgbClr val="3A4656"/>
            </a:solidFill>
            <a:prstDash val="solid"/>
          </a:ln>
        </p:spPr>
      </p:sp>
      <p:sp>
        <p:nvSpPr>
          <p:cNvPr id="4" name="Text 2"/>
          <p:cNvSpPr/>
          <p:nvPr/>
        </p:nvSpPr>
        <p:spPr>
          <a:xfrm>
            <a:off x="685800" y="1554480"/>
            <a:ext cx="8686800" cy="320040"/>
          </a:xfrm>
          <a:prstGeom prst="rect">
            <a:avLst/>
          </a:prstGeom>
          <a:noFill/>
          <a:ln/>
        </p:spPr>
        <p:txBody>
          <a:bodyPr wrap="square" lIns="0" tIns="0" rIns="0" bIns="0" rtlCol="0" anchor="ctr"/>
          <a:lstStyle/>
          <a:p>
            <a:pPr indent="0" marL="0">
              <a:buNone/>
            </a:pPr>
            <a:r>
              <a:rPr lang="en-US" sz="1100" b="1" spc="300" kern="0" dirty="0">
                <a:solidFill>
                  <a:srgbClr val="9AA4B0"/>
                </a:solidFill>
                <a:latin typeface="Calibri" pitchFamily="34" charset="0"/>
                <a:ea typeface="Calibri" pitchFamily="34" charset="-122"/>
                <a:cs typeface="Calibri" pitchFamily="34" charset="-120"/>
              </a:rPr>
              <a:t>MITSUBISHI ELECTRIC  —  DEMAND &amp; REVENUE FORECASTING</a:t>
            </a:r>
            <a:endParaRPr lang="en-US" sz="1100" dirty="0"/>
          </a:p>
        </p:txBody>
      </p:sp>
      <p:sp>
        <p:nvSpPr>
          <p:cNvPr id="5" name="Text 3"/>
          <p:cNvSpPr/>
          <p:nvPr/>
        </p:nvSpPr>
        <p:spPr>
          <a:xfrm>
            <a:off x="685800" y="2011680"/>
            <a:ext cx="8778240" cy="13716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Progress Report</a:t>
            </a:r>
            <a:endParaRPr lang="en-US" sz="5400" dirty="0"/>
          </a:p>
        </p:txBody>
      </p:sp>
      <p:sp>
        <p:nvSpPr>
          <p:cNvPr id="6" name="Text 4"/>
          <p:cNvSpPr/>
          <p:nvPr/>
        </p:nvSpPr>
        <p:spPr>
          <a:xfrm>
            <a:off x="685800" y="3566160"/>
            <a:ext cx="7863840" cy="548640"/>
          </a:xfrm>
          <a:prstGeom prst="rect">
            <a:avLst/>
          </a:prstGeom>
          <a:noFill/>
          <a:ln/>
        </p:spPr>
        <p:txBody>
          <a:bodyPr wrap="square" lIns="0" tIns="0" rIns="0" bIns="0" rtlCol="0" anchor="ctr"/>
          <a:lstStyle/>
          <a:p>
            <a:pPr indent="0" marL="0">
              <a:buNone/>
            </a:pPr>
            <a:r>
              <a:rPr lang="en-US" sz="1500" dirty="0">
                <a:solidFill>
                  <a:srgbClr val="A9B4C2"/>
                </a:solidFill>
                <a:latin typeface="Calibri" pitchFamily="34" charset="0"/>
                <a:ea typeface="Calibri" pitchFamily="34" charset="-122"/>
                <a:cs typeface="Calibri" pitchFamily="34" charset="-120"/>
              </a:rPr>
              <a:t>Solving stock surplus and stock shortage with a forecast the whole team can use.</a:t>
            </a:r>
            <a:endParaRPr lang="en-US" sz="1500" dirty="0"/>
          </a:p>
        </p:txBody>
      </p:sp>
      <p:sp>
        <p:nvSpPr>
          <p:cNvPr id="7" name="Text 5"/>
          <p:cNvSpPr/>
          <p:nvPr/>
        </p:nvSpPr>
        <p:spPr>
          <a:xfrm>
            <a:off x="685800" y="5989320"/>
            <a:ext cx="8686800" cy="320040"/>
          </a:xfrm>
          <a:prstGeom prst="rect">
            <a:avLst/>
          </a:prstGeom>
          <a:noFill/>
          <a:ln/>
        </p:spPr>
        <p:txBody>
          <a:bodyPr wrap="square" lIns="0" tIns="0" rIns="0" bIns="0" rtlCol="0" anchor="ctr"/>
          <a:lstStyle/>
          <a:p>
            <a:pPr indent="0" marL="0">
              <a:buNone/>
            </a:pPr>
            <a:r>
              <a:rPr lang="en-US" sz="1150" dirty="0">
                <a:solidFill>
                  <a:srgbClr val="9AA4B0"/>
                </a:solidFill>
                <a:latin typeface="Calibri" pitchFamily="34" charset="0"/>
                <a:ea typeface="Calibri" pitchFamily="34" charset="-122"/>
                <a:cs typeface="Calibri" pitchFamily="34" charset="-120"/>
              </a:rPr>
              <a:t>Element of Successful Startup   ·   Thai-Nichi Institute of Technology   ·   10 August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66928"/>
            <a:ext cx="10817352" cy="274320"/>
          </a:xfrm>
          <a:prstGeom prst="rect">
            <a:avLst/>
          </a:prstGeom>
          <a:noFill/>
          <a:ln/>
        </p:spPr>
        <p:txBody>
          <a:bodyPr wrap="square" lIns="0" tIns="0" rIns="0" bIns="0" rtlCol="0" anchor="ctr"/>
          <a:lstStyle/>
          <a:p>
            <a:pPr indent="0" marL="0">
              <a:buNone/>
            </a:pPr>
            <a:r>
              <a:rPr lang="en-US" sz="1050" b="1" spc="300" kern="0" dirty="0">
                <a:solidFill>
                  <a:srgbClr val="6B7280"/>
                </a:solidFill>
                <a:latin typeface="Calibri" pitchFamily="34" charset="0"/>
                <a:ea typeface="Calibri" pitchFamily="34" charset="-122"/>
                <a:cs typeface="Calibri" pitchFamily="34" charset="-120"/>
              </a:rPr>
              <a:t>WHAT WE HAVE DONE — 01</a:t>
            </a:r>
            <a:endParaRPr lang="en-US" sz="1050" dirty="0"/>
          </a:p>
        </p:txBody>
      </p:sp>
      <p:sp>
        <p:nvSpPr>
          <p:cNvPr id="3" name="Text 1"/>
          <p:cNvSpPr/>
          <p:nvPr/>
        </p:nvSpPr>
        <p:spPr>
          <a:xfrm>
            <a:off x="685800" y="914400"/>
            <a:ext cx="10817352" cy="1051560"/>
          </a:xfrm>
          <a:prstGeom prst="rect">
            <a:avLst/>
          </a:prstGeom>
          <a:noFill/>
          <a:ln/>
        </p:spPr>
        <p:txBody>
          <a:bodyPr wrap="square" lIns="0" tIns="0" rIns="0" bIns="0" rtlCol="0" anchor="ctr"/>
          <a:lstStyle/>
          <a:p>
            <a:pPr indent="0" marL="0">
              <a:buNone/>
            </a:pPr>
            <a:r>
              <a:rPr lang="en-US" sz="3800" b="1" dirty="0">
                <a:solidFill>
                  <a:srgbClr val="1C2530"/>
                </a:solidFill>
                <a:latin typeface="Cambria" pitchFamily="34" charset="0"/>
                <a:ea typeface="Cambria" pitchFamily="34" charset="-122"/>
                <a:cs typeface="Cambria" pitchFamily="34" charset="-120"/>
              </a:rPr>
              <a:t>Cleaned and reconciled the data.</a:t>
            </a:r>
            <a:endParaRPr lang="en-US" sz="3800" dirty="0"/>
          </a:p>
        </p:txBody>
      </p:sp>
      <p:sp>
        <p:nvSpPr>
          <p:cNvPr id="4" name="Text 2"/>
          <p:cNvSpPr/>
          <p:nvPr/>
        </p:nvSpPr>
        <p:spPr>
          <a:xfrm>
            <a:off x="685800" y="2286000"/>
            <a:ext cx="4023360" cy="548640"/>
          </a:xfrm>
          <a:prstGeom prst="rect">
            <a:avLst/>
          </a:prstGeom>
          <a:noFill/>
          <a:ln/>
        </p:spPr>
        <p:txBody>
          <a:bodyPr wrap="square" lIns="0" tIns="0" rIns="0" bIns="0" rtlCol="0" anchor="ctr"/>
          <a:lstStyle/>
          <a:p>
            <a:pPr indent="0" marL="0">
              <a:buNone/>
            </a:pPr>
            <a:r>
              <a:rPr lang="en-US" sz="1500" b="1" dirty="0">
                <a:solidFill>
                  <a:srgbClr val="1C2530"/>
                </a:solidFill>
                <a:latin typeface="Calibri" pitchFamily="34" charset="0"/>
                <a:ea typeface="Calibri" pitchFamily="34" charset="-122"/>
                <a:cs typeface="Calibri" pitchFamily="34" charset="-120"/>
              </a:rPr>
              <a:t>272,000 order lines</a:t>
            </a:r>
            <a:endParaRPr lang="en-US" sz="1500" dirty="0"/>
          </a:p>
        </p:txBody>
      </p:sp>
      <p:sp>
        <p:nvSpPr>
          <p:cNvPr id="5" name="Text 3"/>
          <p:cNvSpPr/>
          <p:nvPr/>
        </p:nvSpPr>
        <p:spPr>
          <a:xfrm>
            <a:off x="5074920" y="2313432"/>
            <a:ext cx="6428232" cy="594360"/>
          </a:xfrm>
          <a:prstGeom prst="rect">
            <a:avLst/>
          </a:prstGeom>
          <a:noFill/>
          <a:ln/>
        </p:spPr>
        <p:txBody>
          <a:bodyPr wrap="square" lIns="0" tIns="0" rIns="0" bIns="0" rtlCol="0" anchor="ctr"/>
          <a:lstStyle/>
          <a:p>
            <a:pPr indent="0" marL="0">
              <a:lnSpc>
                <a:spcPct val="110000"/>
              </a:lnSpc>
              <a:buNone/>
            </a:pPr>
            <a:r>
              <a:rPr lang="en-US" sz="1150" dirty="0">
                <a:solidFill>
                  <a:srgbClr val="6B7280"/>
                </a:solidFill>
                <a:latin typeface="Calibri" pitchFamily="34" charset="0"/>
                <a:ea typeface="Calibri" pitchFamily="34" charset="-122"/>
                <a:cs typeface="Calibri" pitchFamily="34" charset="-120"/>
              </a:rPr>
              <a:t>checked against both master lists — every product and customer reconciles, no orphans</a:t>
            </a:r>
            <a:endParaRPr lang="en-US" sz="1150" dirty="0"/>
          </a:p>
        </p:txBody>
      </p:sp>
      <p:sp>
        <p:nvSpPr>
          <p:cNvPr id="6" name="Shape 4"/>
          <p:cNvSpPr/>
          <p:nvPr/>
        </p:nvSpPr>
        <p:spPr>
          <a:xfrm>
            <a:off x="685800" y="3035808"/>
            <a:ext cx="10817352" cy="0"/>
          </a:xfrm>
          <a:prstGeom prst="line">
            <a:avLst/>
          </a:prstGeom>
          <a:noFill/>
          <a:ln w="9525">
            <a:solidFill>
              <a:srgbClr val="E2E6EA"/>
            </a:solidFill>
            <a:prstDash val="solid"/>
          </a:ln>
        </p:spPr>
      </p:sp>
      <p:sp>
        <p:nvSpPr>
          <p:cNvPr id="7" name="Text 5"/>
          <p:cNvSpPr/>
          <p:nvPr/>
        </p:nvSpPr>
        <p:spPr>
          <a:xfrm>
            <a:off x="685800" y="3182112"/>
            <a:ext cx="4023360" cy="548640"/>
          </a:xfrm>
          <a:prstGeom prst="rect">
            <a:avLst/>
          </a:prstGeom>
          <a:noFill/>
          <a:ln/>
        </p:spPr>
        <p:txBody>
          <a:bodyPr wrap="square" lIns="0" tIns="0" rIns="0" bIns="0" rtlCol="0" anchor="ctr"/>
          <a:lstStyle/>
          <a:p>
            <a:pPr indent="0" marL="0">
              <a:buNone/>
            </a:pPr>
            <a:r>
              <a:rPr lang="en-US" sz="1500" b="1" dirty="0">
                <a:solidFill>
                  <a:srgbClr val="1C2530"/>
                </a:solidFill>
                <a:latin typeface="Calibri" pitchFamily="34" charset="0"/>
                <a:ea typeface="Calibri" pitchFamily="34" charset="-122"/>
                <a:cs typeface="Calibri" pitchFamily="34" charset="-120"/>
              </a:rPr>
              <a:t>6,865 duplicate lines</a:t>
            </a:r>
            <a:endParaRPr lang="en-US" sz="1500" dirty="0"/>
          </a:p>
        </p:txBody>
      </p:sp>
      <p:sp>
        <p:nvSpPr>
          <p:cNvPr id="8" name="Text 6"/>
          <p:cNvSpPr/>
          <p:nvPr/>
        </p:nvSpPr>
        <p:spPr>
          <a:xfrm>
            <a:off x="5074920" y="3209544"/>
            <a:ext cx="6428232" cy="594360"/>
          </a:xfrm>
          <a:prstGeom prst="rect">
            <a:avLst/>
          </a:prstGeom>
          <a:noFill/>
          <a:ln/>
        </p:spPr>
        <p:txBody>
          <a:bodyPr wrap="square" lIns="0" tIns="0" rIns="0" bIns="0" rtlCol="0" anchor="ctr"/>
          <a:lstStyle/>
          <a:p>
            <a:pPr indent="0" marL="0">
              <a:lnSpc>
                <a:spcPct val="110000"/>
              </a:lnSpc>
              <a:buNone/>
            </a:pPr>
            <a:r>
              <a:rPr lang="en-US" sz="1150" dirty="0">
                <a:solidFill>
                  <a:srgbClr val="6B7280"/>
                </a:solidFill>
                <a:latin typeface="Calibri" pitchFamily="34" charset="0"/>
                <a:ea typeface="Calibri" pitchFamily="34" charset="-122"/>
                <a:cs typeface="Calibri" pitchFamily="34" charset="-120"/>
              </a:rPr>
              <a:t>forensically investigated — genuine ERP entries, kept with the evidence recorded</a:t>
            </a:r>
            <a:endParaRPr lang="en-US" sz="1150" dirty="0"/>
          </a:p>
        </p:txBody>
      </p:sp>
      <p:sp>
        <p:nvSpPr>
          <p:cNvPr id="9" name="Shape 7"/>
          <p:cNvSpPr/>
          <p:nvPr/>
        </p:nvSpPr>
        <p:spPr>
          <a:xfrm>
            <a:off x="685800" y="3931920"/>
            <a:ext cx="10817352" cy="0"/>
          </a:xfrm>
          <a:prstGeom prst="line">
            <a:avLst/>
          </a:prstGeom>
          <a:noFill/>
          <a:ln w="9525">
            <a:solidFill>
              <a:srgbClr val="E2E6EA"/>
            </a:solidFill>
            <a:prstDash val="solid"/>
          </a:ln>
        </p:spPr>
      </p:sp>
      <p:sp>
        <p:nvSpPr>
          <p:cNvPr id="10" name="Text 8"/>
          <p:cNvSpPr/>
          <p:nvPr/>
        </p:nvSpPr>
        <p:spPr>
          <a:xfrm>
            <a:off x="685800" y="4078224"/>
            <a:ext cx="4023360" cy="548640"/>
          </a:xfrm>
          <a:prstGeom prst="rect">
            <a:avLst/>
          </a:prstGeom>
          <a:noFill/>
          <a:ln/>
        </p:spPr>
        <p:txBody>
          <a:bodyPr wrap="square" lIns="0" tIns="0" rIns="0" bIns="0" rtlCol="0" anchor="ctr"/>
          <a:lstStyle/>
          <a:p>
            <a:pPr indent="0" marL="0">
              <a:buNone/>
            </a:pPr>
            <a:r>
              <a:rPr lang="en-US" sz="1500" b="1" dirty="0">
                <a:solidFill>
                  <a:srgbClr val="1C2530"/>
                </a:solidFill>
                <a:latin typeface="Calibri" pitchFamily="34" charset="0"/>
                <a:ea typeface="Calibri" pitchFamily="34" charset="-122"/>
                <a:cs typeface="Calibri" pitchFamily="34" charset="-120"/>
              </a:rPr>
              <a:t>Zero-price orders</a:t>
            </a:r>
            <a:endParaRPr lang="en-US" sz="1500" dirty="0"/>
          </a:p>
        </p:txBody>
      </p:sp>
      <p:sp>
        <p:nvSpPr>
          <p:cNvPr id="11" name="Text 9"/>
          <p:cNvSpPr/>
          <p:nvPr/>
        </p:nvSpPr>
        <p:spPr>
          <a:xfrm>
            <a:off x="5074920" y="4105656"/>
            <a:ext cx="6428232" cy="594360"/>
          </a:xfrm>
          <a:prstGeom prst="rect">
            <a:avLst/>
          </a:prstGeom>
          <a:noFill/>
          <a:ln/>
        </p:spPr>
        <p:txBody>
          <a:bodyPr wrap="square" lIns="0" tIns="0" rIns="0" bIns="0" rtlCol="0" anchor="ctr"/>
          <a:lstStyle/>
          <a:p>
            <a:pPr indent="0" marL="0">
              <a:lnSpc>
                <a:spcPct val="110000"/>
              </a:lnSpc>
              <a:buNone/>
            </a:pPr>
            <a:r>
              <a:rPr lang="en-US" sz="1150" dirty="0">
                <a:solidFill>
                  <a:srgbClr val="6B7280"/>
                </a:solidFill>
                <a:latin typeface="Calibri" pitchFamily="34" charset="0"/>
                <a:ea typeface="Calibri" pitchFamily="34" charset="-122"/>
                <a:cs typeface="Calibri" pitchFamily="34" charset="-120"/>
              </a:rPr>
              <a:t>confirmed as quoted-per-order by the Japan branch — never counted as zero revenue</a:t>
            </a:r>
            <a:endParaRPr lang="en-US" sz="1150" dirty="0"/>
          </a:p>
        </p:txBody>
      </p:sp>
      <p:sp>
        <p:nvSpPr>
          <p:cNvPr id="12" name="Shape 10"/>
          <p:cNvSpPr/>
          <p:nvPr/>
        </p:nvSpPr>
        <p:spPr>
          <a:xfrm>
            <a:off x="685800" y="4828032"/>
            <a:ext cx="10817352" cy="0"/>
          </a:xfrm>
          <a:prstGeom prst="line">
            <a:avLst/>
          </a:prstGeom>
          <a:noFill/>
          <a:ln w="9525">
            <a:solidFill>
              <a:srgbClr val="E2E6EA"/>
            </a:solidFill>
            <a:prstDash val="solid"/>
          </a:ln>
        </p:spPr>
      </p:sp>
      <p:sp>
        <p:nvSpPr>
          <p:cNvPr id="13" name="Text 11"/>
          <p:cNvSpPr/>
          <p:nvPr/>
        </p:nvSpPr>
        <p:spPr>
          <a:xfrm>
            <a:off x="685800" y="4974336"/>
            <a:ext cx="4023360" cy="548640"/>
          </a:xfrm>
          <a:prstGeom prst="rect">
            <a:avLst/>
          </a:prstGeom>
          <a:noFill/>
          <a:ln/>
        </p:spPr>
        <p:txBody>
          <a:bodyPr wrap="square" lIns="0" tIns="0" rIns="0" bIns="0" rtlCol="0" anchor="ctr"/>
          <a:lstStyle/>
          <a:p>
            <a:pPr indent="0" marL="0">
              <a:buNone/>
            </a:pPr>
            <a:r>
              <a:rPr lang="en-US" sz="1500" b="1" dirty="0">
                <a:solidFill>
                  <a:srgbClr val="1C2530"/>
                </a:solidFill>
                <a:latin typeface="Calibri" pitchFamily="34" charset="0"/>
                <a:ea typeface="Calibri" pitchFamily="34" charset="-122"/>
                <a:cs typeface="Calibri" pitchFamily="34" charset="-120"/>
              </a:rPr>
              <a:t>Fiscal year April–March</a:t>
            </a:r>
            <a:endParaRPr lang="en-US" sz="1500" dirty="0"/>
          </a:p>
        </p:txBody>
      </p:sp>
      <p:sp>
        <p:nvSpPr>
          <p:cNvPr id="14" name="Text 12"/>
          <p:cNvSpPr/>
          <p:nvPr/>
        </p:nvSpPr>
        <p:spPr>
          <a:xfrm>
            <a:off x="5074920" y="5001768"/>
            <a:ext cx="6428232" cy="594360"/>
          </a:xfrm>
          <a:prstGeom prst="rect">
            <a:avLst/>
          </a:prstGeom>
          <a:noFill/>
          <a:ln/>
        </p:spPr>
        <p:txBody>
          <a:bodyPr wrap="square" lIns="0" tIns="0" rIns="0" bIns="0" rtlCol="0" anchor="ctr"/>
          <a:lstStyle/>
          <a:p>
            <a:pPr indent="0" marL="0">
              <a:lnSpc>
                <a:spcPct val="110000"/>
              </a:lnSpc>
              <a:buNone/>
            </a:pPr>
            <a:r>
              <a:rPr lang="en-US" sz="1150" dirty="0">
                <a:solidFill>
                  <a:srgbClr val="6B7280"/>
                </a:solidFill>
                <a:latin typeface="Calibri" pitchFamily="34" charset="0"/>
                <a:ea typeface="Calibri" pitchFamily="34" charset="-122"/>
                <a:cs typeface="Calibri" pitchFamily="34" charset="-120"/>
              </a:rPr>
              <a:t>verified from the data itself, three independent ways</a:t>
            </a:r>
            <a:endParaRPr lang="en-US" sz="1150" dirty="0"/>
          </a:p>
        </p:txBody>
      </p:sp>
      <p:sp>
        <p:nvSpPr>
          <p:cNvPr id="15" name="Text 13"/>
          <p:cNvSpPr/>
          <p:nvPr/>
        </p:nvSpPr>
        <p:spPr>
          <a:xfrm>
            <a:off x="685800" y="5806440"/>
            <a:ext cx="10817352" cy="457200"/>
          </a:xfrm>
          <a:prstGeom prst="rect">
            <a:avLst/>
          </a:prstGeom>
          <a:noFill/>
          <a:ln/>
        </p:spPr>
        <p:txBody>
          <a:bodyPr wrap="square" lIns="0" tIns="0" rIns="0" bIns="0"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Every cleaning decision is documented with its evidence — the numbers can be defended line by line.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66928"/>
            <a:ext cx="10817352" cy="274320"/>
          </a:xfrm>
          <a:prstGeom prst="rect">
            <a:avLst/>
          </a:prstGeom>
          <a:noFill/>
          <a:ln/>
        </p:spPr>
        <p:txBody>
          <a:bodyPr wrap="square" lIns="0" tIns="0" rIns="0" bIns="0" rtlCol="0" anchor="ctr"/>
          <a:lstStyle/>
          <a:p>
            <a:pPr indent="0" marL="0">
              <a:buNone/>
            </a:pPr>
            <a:r>
              <a:rPr lang="en-US" sz="1050" b="1" spc="300" kern="0" dirty="0">
                <a:solidFill>
                  <a:srgbClr val="6B7280"/>
                </a:solidFill>
                <a:latin typeface="Calibri" pitchFamily="34" charset="0"/>
                <a:ea typeface="Calibri" pitchFamily="34" charset="-122"/>
                <a:cs typeface="Calibri" pitchFamily="34" charset="-120"/>
              </a:rPr>
              <a:t>WHAT WE HAVE DONE — 02</a:t>
            </a:r>
            <a:endParaRPr lang="en-US" sz="1050" dirty="0"/>
          </a:p>
        </p:txBody>
      </p:sp>
      <p:sp>
        <p:nvSpPr>
          <p:cNvPr id="3" name="Text 1"/>
          <p:cNvSpPr/>
          <p:nvPr/>
        </p:nvSpPr>
        <p:spPr>
          <a:xfrm>
            <a:off x="685800" y="914400"/>
            <a:ext cx="10817352" cy="1051560"/>
          </a:xfrm>
          <a:prstGeom prst="rect">
            <a:avLst/>
          </a:prstGeom>
          <a:noFill/>
          <a:ln/>
        </p:spPr>
        <p:txBody>
          <a:bodyPr wrap="square" lIns="0" tIns="0" rIns="0" bIns="0" rtlCol="0" anchor="ctr"/>
          <a:lstStyle/>
          <a:p>
            <a:pPr indent="0" marL="0">
              <a:buNone/>
            </a:pPr>
            <a:r>
              <a:rPr lang="en-US" sz="3800" b="1" dirty="0">
                <a:solidFill>
                  <a:srgbClr val="1C2530"/>
                </a:solidFill>
                <a:latin typeface="Cambria" pitchFamily="34" charset="0"/>
                <a:ea typeface="Cambria" pitchFamily="34" charset="-122"/>
                <a:cs typeface="Cambria" pitchFamily="34" charset="-120"/>
              </a:rPr>
              <a:t>Selected models by competition, not opinion.</a:t>
            </a:r>
            <a:endParaRPr lang="en-US" sz="3800" dirty="0"/>
          </a:p>
        </p:txBody>
      </p:sp>
      <p:sp>
        <p:nvSpPr>
          <p:cNvPr id="4" name="Text 2"/>
          <p:cNvSpPr/>
          <p:nvPr/>
        </p:nvSpPr>
        <p:spPr>
          <a:xfrm>
            <a:off x="685800" y="2286000"/>
            <a:ext cx="2384298" cy="685800"/>
          </a:xfrm>
          <a:prstGeom prst="rect">
            <a:avLst/>
          </a:prstGeom>
          <a:noFill/>
          <a:ln/>
        </p:spPr>
        <p:txBody>
          <a:bodyPr wrap="square" lIns="0" tIns="0" rIns="0" bIns="0" rtlCol="0" anchor="ctr"/>
          <a:lstStyle/>
          <a:p>
            <a:pPr indent="0" marL="0">
              <a:buNone/>
            </a:pPr>
            <a:r>
              <a:rPr lang="en-US" sz="3000" i="1" dirty="0">
                <a:solidFill>
                  <a:srgbClr val="C8102E"/>
                </a:solidFill>
                <a:latin typeface="Cambria" pitchFamily="34" charset="0"/>
                <a:ea typeface="Cambria" pitchFamily="34" charset="-122"/>
                <a:cs typeface="Cambria" pitchFamily="34" charset="-120"/>
              </a:rPr>
              <a:t>01</a:t>
            </a:r>
            <a:endParaRPr lang="en-US" sz="3000" dirty="0"/>
          </a:p>
        </p:txBody>
      </p:sp>
      <p:sp>
        <p:nvSpPr>
          <p:cNvPr id="5" name="Text 3"/>
          <p:cNvSpPr/>
          <p:nvPr/>
        </p:nvSpPr>
        <p:spPr>
          <a:xfrm>
            <a:off x="685800" y="3017520"/>
            <a:ext cx="2384298" cy="411480"/>
          </a:xfrm>
          <a:prstGeom prst="rect">
            <a:avLst/>
          </a:prstGeom>
          <a:noFill/>
          <a:ln/>
        </p:spPr>
        <p:txBody>
          <a:bodyPr wrap="square" lIns="0" tIns="0" rIns="0" bIns="0" rtlCol="0" anchor="ctr"/>
          <a:lstStyle/>
          <a:p>
            <a:pPr indent="0" marL="0">
              <a:buNone/>
            </a:pPr>
            <a:r>
              <a:rPr lang="en-US" sz="1600" b="1" dirty="0">
                <a:solidFill>
                  <a:srgbClr val="1C2530"/>
                </a:solidFill>
                <a:latin typeface="Calibri" pitchFamily="34" charset="0"/>
                <a:ea typeface="Calibri" pitchFamily="34" charset="-122"/>
                <a:cs typeface="Calibri" pitchFamily="34" charset="-120"/>
              </a:rPr>
              <a:t>Candidates</a:t>
            </a:r>
            <a:endParaRPr lang="en-US" sz="1600" dirty="0"/>
          </a:p>
        </p:txBody>
      </p:sp>
      <p:sp>
        <p:nvSpPr>
          <p:cNvPr id="6" name="Text 4"/>
          <p:cNvSpPr/>
          <p:nvPr/>
        </p:nvSpPr>
        <p:spPr>
          <a:xfrm>
            <a:off x="685800" y="3474720"/>
            <a:ext cx="2384298" cy="1554480"/>
          </a:xfrm>
          <a:prstGeom prst="rect">
            <a:avLst/>
          </a:prstGeom>
          <a:noFill/>
          <a:ln/>
        </p:spPr>
        <p:txBody>
          <a:bodyPr wrap="square" lIns="0" tIns="0" rIns="0" bIns="0" rtlCol="0" anchor="ctr"/>
          <a:lstStyle/>
          <a:p>
            <a:pPr indent="0" marL="0">
              <a:lnSpc>
                <a:spcPct val="115000"/>
              </a:lnSpc>
              <a:buNone/>
            </a:pPr>
            <a:r>
              <a:rPr lang="en-US" sz="1200" dirty="0">
                <a:solidFill>
                  <a:srgbClr val="6B7280"/>
                </a:solidFill>
                <a:latin typeface="Calibri" pitchFamily="34" charset="0"/>
                <a:ea typeface="Calibri" pitchFamily="34" charset="-122"/>
                <a:cs typeface="Calibri" pitchFamily="34" charset="-120"/>
              </a:rPr>
              <a:t>up to 24 methods per product — statistical, intermittent-demand and machine learning</a:t>
            </a:r>
            <a:endParaRPr lang="en-US" sz="1200" dirty="0"/>
          </a:p>
        </p:txBody>
      </p:sp>
      <p:sp>
        <p:nvSpPr>
          <p:cNvPr id="7" name="Text 5"/>
          <p:cNvSpPr/>
          <p:nvPr/>
        </p:nvSpPr>
        <p:spPr>
          <a:xfrm>
            <a:off x="3390138" y="2286000"/>
            <a:ext cx="2384298" cy="685800"/>
          </a:xfrm>
          <a:prstGeom prst="rect">
            <a:avLst/>
          </a:prstGeom>
          <a:noFill/>
          <a:ln/>
        </p:spPr>
        <p:txBody>
          <a:bodyPr wrap="square" lIns="0" tIns="0" rIns="0" bIns="0" rtlCol="0" anchor="ctr"/>
          <a:lstStyle/>
          <a:p>
            <a:pPr indent="0" marL="0">
              <a:buNone/>
            </a:pPr>
            <a:r>
              <a:rPr lang="en-US" sz="3000" i="1" dirty="0">
                <a:solidFill>
                  <a:srgbClr val="C8102E"/>
                </a:solidFill>
                <a:latin typeface="Cambria" pitchFamily="34" charset="0"/>
                <a:ea typeface="Cambria" pitchFamily="34" charset="-122"/>
                <a:cs typeface="Cambria" pitchFamily="34" charset="-120"/>
              </a:rPr>
              <a:t>02</a:t>
            </a:r>
            <a:endParaRPr lang="en-US" sz="3000" dirty="0"/>
          </a:p>
        </p:txBody>
      </p:sp>
      <p:sp>
        <p:nvSpPr>
          <p:cNvPr id="8" name="Text 6"/>
          <p:cNvSpPr/>
          <p:nvPr/>
        </p:nvSpPr>
        <p:spPr>
          <a:xfrm>
            <a:off x="3390138" y="3017520"/>
            <a:ext cx="2384298" cy="411480"/>
          </a:xfrm>
          <a:prstGeom prst="rect">
            <a:avLst/>
          </a:prstGeom>
          <a:noFill/>
          <a:ln/>
        </p:spPr>
        <p:txBody>
          <a:bodyPr wrap="square" lIns="0" tIns="0" rIns="0" bIns="0" rtlCol="0" anchor="ctr"/>
          <a:lstStyle/>
          <a:p>
            <a:pPr indent="0" marL="0">
              <a:buNone/>
            </a:pPr>
            <a:r>
              <a:rPr lang="en-US" sz="1600" b="1" dirty="0">
                <a:solidFill>
                  <a:srgbClr val="1C2530"/>
                </a:solidFill>
                <a:latin typeface="Calibri" pitchFamily="34" charset="0"/>
                <a:ea typeface="Calibri" pitchFamily="34" charset="-122"/>
                <a:cs typeface="Calibri" pitchFamily="34" charset="-120"/>
              </a:rPr>
              <a:t>Hidden years</a:t>
            </a:r>
            <a:endParaRPr lang="en-US" sz="1600" dirty="0"/>
          </a:p>
        </p:txBody>
      </p:sp>
      <p:sp>
        <p:nvSpPr>
          <p:cNvPr id="9" name="Text 7"/>
          <p:cNvSpPr/>
          <p:nvPr/>
        </p:nvSpPr>
        <p:spPr>
          <a:xfrm>
            <a:off x="3390138" y="3474720"/>
            <a:ext cx="2384298" cy="1554480"/>
          </a:xfrm>
          <a:prstGeom prst="rect">
            <a:avLst/>
          </a:prstGeom>
          <a:noFill/>
          <a:ln/>
        </p:spPr>
        <p:txBody>
          <a:bodyPr wrap="square" lIns="0" tIns="0" rIns="0" bIns="0" rtlCol="0" anchor="ctr"/>
          <a:lstStyle/>
          <a:p>
            <a:pPr indent="0" marL="0">
              <a:lnSpc>
                <a:spcPct val="115000"/>
              </a:lnSpc>
              <a:buNone/>
            </a:pPr>
            <a:r>
              <a:rPr lang="en-US" sz="1200" dirty="0">
                <a:solidFill>
                  <a:srgbClr val="6B7280"/>
                </a:solidFill>
                <a:latin typeface="Calibri" pitchFamily="34" charset="0"/>
                <a:ea typeface="Calibri" pitchFamily="34" charset="-122"/>
                <a:cs typeface="Calibri" pitchFamily="34" charset="-120"/>
              </a:rPr>
              <a:t>every method forecasts two withheld fiscal years it has never seen</a:t>
            </a:r>
            <a:endParaRPr lang="en-US" sz="1200" dirty="0"/>
          </a:p>
        </p:txBody>
      </p:sp>
      <p:sp>
        <p:nvSpPr>
          <p:cNvPr id="10" name="Text 8"/>
          <p:cNvSpPr/>
          <p:nvPr/>
        </p:nvSpPr>
        <p:spPr>
          <a:xfrm>
            <a:off x="6094476" y="2286000"/>
            <a:ext cx="2384298" cy="685800"/>
          </a:xfrm>
          <a:prstGeom prst="rect">
            <a:avLst/>
          </a:prstGeom>
          <a:noFill/>
          <a:ln/>
        </p:spPr>
        <p:txBody>
          <a:bodyPr wrap="square" lIns="0" tIns="0" rIns="0" bIns="0" rtlCol="0" anchor="ctr"/>
          <a:lstStyle/>
          <a:p>
            <a:pPr indent="0" marL="0">
              <a:buNone/>
            </a:pPr>
            <a:r>
              <a:rPr lang="en-US" sz="3000" i="1" dirty="0">
                <a:solidFill>
                  <a:srgbClr val="C8102E"/>
                </a:solidFill>
                <a:latin typeface="Cambria" pitchFamily="34" charset="0"/>
                <a:ea typeface="Cambria" pitchFamily="34" charset="-122"/>
                <a:cs typeface="Cambria" pitchFamily="34" charset="-120"/>
              </a:rPr>
              <a:t>03</a:t>
            </a:r>
            <a:endParaRPr lang="en-US" sz="3000" dirty="0"/>
          </a:p>
        </p:txBody>
      </p:sp>
      <p:sp>
        <p:nvSpPr>
          <p:cNvPr id="11" name="Text 9"/>
          <p:cNvSpPr/>
          <p:nvPr/>
        </p:nvSpPr>
        <p:spPr>
          <a:xfrm>
            <a:off x="6094476" y="3017520"/>
            <a:ext cx="2384298" cy="411480"/>
          </a:xfrm>
          <a:prstGeom prst="rect">
            <a:avLst/>
          </a:prstGeom>
          <a:noFill/>
          <a:ln/>
        </p:spPr>
        <p:txBody>
          <a:bodyPr wrap="square" lIns="0" tIns="0" rIns="0" bIns="0" rtlCol="0" anchor="ctr"/>
          <a:lstStyle/>
          <a:p>
            <a:pPr indent="0" marL="0">
              <a:buNone/>
            </a:pPr>
            <a:r>
              <a:rPr lang="en-US" sz="1600" b="1" dirty="0">
                <a:solidFill>
                  <a:srgbClr val="1C2530"/>
                </a:solidFill>
                <a:latin typeface="Calibri" pitchFamily="34" charset="0"/>
                <a:ea typeface="Calibri" pitchFamily="34" charset="-122"/>
                <a:cs typeface="Calibri" pitchFamily="34" charset="-120"/>
              </a:rPr>
              <a:t>Winner kept</a:t>
            </a:r>
            <a:endParaRPr lang="en-US" sz="1600" dirty="0"/>
          </a:p>
        </p:txBody>
      </p:sp>
      <p:sp>
        <p:nvSpPr>
          <p:cNvPr id="12" name="Text 10"/>
          <p:cNvSpPr/>
          <p:nvPr/>
        </p:nvSpPr>
        <p:spPr>
          <a:xfrm>
            <a:off x="6094476" y="3474720"/>
            <a:ext cx="2384298" cy="1554480"/>
          </a:xfrm>
          <a:prstGeom prst="rect">
            <a:avLst/>
          </a:prstGeom>
          <a:noFill/>
          <a:ln/>
        </p:spPr>
        <p:txBody>
          <a:bodyPr wrap="square" lIns="0" tIns="0" rIns="0" bIns="0" rtlCol="0" anchor="ctr"/>
          <a:lstStyle/>
          <a:p>
            <a:pPr indent="0" marL="0">
              <a:lnSpc>
                <a:spcPct val="115000"/>
              </a:lnSpc>
              <a:buNone/>
            </a:pPr>
            <a:r>
              <a:rPr lang="en-US" sz="1200" dirty="0">
                <a:solidFill>
                  <a:srgbClr val="6B7280"/>
                </a:solidFill>
                <a:latin typeface="Calibri" pitchFamily="34" charset="0"/>
                <a:ea typeface="Calibri" pitchFamily="34" charset="-122"/>
                <a:cs typeface="Calibri" pitchFamily="34" charset="-120"/>
              </a:rPr>
              <a:t>the most accurate method wins that product — 17 different methods currently earn a place</a:t>
            </a:r>
            <a:endParaRPr lang="en-US" sz="1200" dirty="0"/>
          </a:p>
        </p:txBody>
      </p:sp>
      <p:sp>
        <p:nvSpPr>
          <p:cNvPr id="13" name="Text 11"/>
          <p:cNvSpPr/>
          <p:nvPr/>
        </p:nvSpPr>
        <p:spPr>
          <a:xfrm>
            <a:off x="8798814" y="2286000"/>
            <a:ext cx="2384298" cy="685800"/>
          </a:xfrm>
          <a:prstGeom prst="rect">
            <a:avLst/>
          </a:prstGeom>
          <a:noFill/>
          <a:ln/>
        </p:spPr>
        <p:txBody>
          <a:bodyPr wrap="square" lIns="0" tIns="0" rIns="0" bIns="0" rtlCol="0" anchor="ctr"/>
          <a:lstStyle/>
          <a:p>
            <a:pPr indent="0" marL="0">
              <a:buNone/>
            </a:pPr>
            <a:r>
              <a:rPr lang="en-US" sz="3000" i="1" dirty="0">
                <a:solidFill>
                  <a:srgbClr val="C8102E"/>
                </a:solidFill>
                <a:latin typeface="Cambria" pitchFamily="34" charset="0"/>
                <a:ea typeface="Cambria" pitchFamily="34" charset="-122"/>
                <a:cs typeface="Cambria" pitchFamily="34" charset="-120"/>
              </a:rPr>
              <a:t>04</a:t>
            </a:r>
            <a:endParaRPr lang="en-US" sz="3000" dirty="0"/>
          </a:p>
        </p:txBody>
      </p:sp>
      <p:sp>
        <p:nvSpPr>
          <p:cNvPr id="14" name="Text 12"/>
          <p:cNvSpPr/>
          <p:nvPr/>
        </p:nvSpPr>
        <p:spPr>
          <a:xfrm>
            <a:off x="8798814" y="3017520"/>
            <a:ext cx="2384298" cy="411480"/>
          </a:xfrm>
          <a:prstGeom prst="rect">
            <a:avLst/>
          </a:prstGeom>
          <a:noFill/>
          <a:ln/>
        </p:spPr>
        <p:txBody>
          <a:bodyPr wrap="square" lIns="0" tIns="0" rIns="0" bIns="0" rtlCol="0" anchor="ctr"/>
          <a:lstStyle/>
          <a:p>
            <a:pPr indent="0" marL="0">
              <a:buNone/>
            </a:pPr>
            <a:r>
              <a:rPr lang="en-US" sz="1600" b="1" dirty="0">
                <a:solidFill>
                  <a:srgbClr val="1C2530"/>
                </a:solidFill>
                <a:latin typeface="Calibri" pitchFamily="34" charset="0"/>
                <a:ea typeface="Calibri" pitchFamily="34" charset="-122"/>
                <a:cs typeface="Calibri" pitchFamily="34" charset="-120"/>
              </a:rPr>
              <a:t>Discipline</a:t>
            </a:r>
            <a:endParaRPr lang="en-US" sz="1600" dirty="0"/>
          </a:p>
        </p:txBody>
      </p:sp>
      <p:sp>
        <p:nvSpPr>
          <p:cNvPr id="15" name="Text 13"/>
          <p:cNvSpPr/>
          <p:nvPr/>
        </p:nvSpPr>
        <p:spPr>
          <a:xfrm>
            <a:off x="8798814" y="3474720"/>
            <a:ext cx="2384298" cy="1554480"/>
          </a:xfrm>
          <a:prstGeom prst="rect">
            <a:avLst/>
          </a:prstGeom>
          <a:noFill/>
          <a:ln/>
        </p:spPr>
        <p:txBody>
          <a:bodyPr wrap="square" lIns="0" tIns="0" rIns="0" bIns="0" rtlCol="0" anchor="ctr"/>
          <a:lstStyle/>
          <a:p>
            <a:pPr indent="0" marL="0">
              <a:lnSpc>
                <a:spcPct val="115000"/>
              </a:lnSpc>
              <a:buNone/>
            </a:pPr>
            <a:r>
              <a:rPr lang="en-US" sz="1200" dirty="0">
                <a:solidFill>
                  <a:srgbClr val="6B7280"/>
                </a:solidFill>
                <a:latin typeface="Calibri" pitchFamily="34" charset="0"/>
                <a:ea typeface="Calibri" pitchFamily="34" charset="-122"/>
                <a:cs typeface="Calibri" pitchFamily="34" charset="-120"/>
              </a:rPr>
              <a:t>twelve improvement ideas tested the same way; three survived, failures documented</a:t>
            </a:r>
            <a:endParaRPr lang="en-US" sz="1200" dirty="0"/>
          </a:p>
        </p:txBody>
      </p:sp>
      <p:sp>
        <p:nvSpPr>
          <p:cNvPr id="16" name="Text 14"/>
          <p:cNvSpPr/>
          <p:nvPr/>
        </p:nvSpPr>
        <p:spPr>
          <a:xfrm>
            <a:off x="685800" y="5623560"/>
            <a:ext cx="10817352" cy="457200"/>
          </a:xfrm>
          <a:prstGeom prst="rect">
            <a:avLst/>
          </a:prstGeom>
          <a:noFill/>
          <a:ln/>
        </p:spPr>
        <p:txBody>
          <a:bodyPr wrap="square" lIns="0" tIns="0" rIns="0" bIns="0"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No single model fits 5,706 products — the competition decides, per product, on evidence.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66928"/>
            <a:ext cx="10817352" cy="274320"/>
          </a:xfrm>
          <a:prstGeom prst="rect">
            <a:avLst/>
          </a:prstGeom>
          <a:noFill/>
          <a:ln/>
        </p:spPr>
        <p:txBody>
          <a:bodyPr wrap="square" lIns="0" tIns="0" rIns="0" bIns="0" rtlCol="0" anchor="ctr"/>
          <a:lstStyle/>
          <a:p>
            <a:pPr indent="0" marL="0">
              <a:buNone/>
            </a:pPr>
            <a:r>
              <a:rPr lang="en-US" sz="1050" b="1" spc="300" kern="0" dirty="0">
                <a:solidFill>
                  <a:srgbClr val="6B7280"/>
                </a:solidFill>
                <a:latin typeface="Calibri" pitchFamily="34" charset="0"/>
                <a:ea typeface="Calibri" pitchFamily="34" charset="-122"/>
                <a:cs typeface="Calibri" pitchFamily="34" charset="-120"/>
              </a:rPr>
              <a:t>WHAT WE HAVE DONE — 03</a:t>
            </a:r>
            <a:endParaRPr lang="en-US" sz="1050" dirty="0"/>
          </a:p>
        </p:txBody>
      </p:sp>
      <p:sp>
        <p:nvSpPr>
          <p:cNvPr id="3" name="Text 1"/>
          <p:cNvSpPr/>
          <p:nvPr/>
        </p:nvSpPr>
        <p:spPr>
          <a:xfrm>
            <a:off x="685800" y="914400"/>
            <a:ext cx="10817352" cy="1051560"/>
          </a:xfrm>
          <a:prstGeom prst="rect">
            <a:avLst/>
          </a:prstGeom>
          <a:noFill/>
          <a:ln/>
        </p:spPr>
        <p:txBody>
          <a:bodyPr wrap="square" lIns="0" tIns="0" rIns="0" bIns="0" rtlCol="0" anchor="ctr"/>
          <a:lstStyle/>
          <a:p>
            <a:pPr indent="0" marL="0">
              <a:buNone/>
            </a:pPr>
            <a:r>
              <a:rPr lang="en-US" sz="3800" b="1" dirty="0">
                <a:solidFill>
                  <a:srgbClr val="1C2530"/>
                </a:solidFill>
                <a:latin typeface="Cambria" pitchFamily="34" charset="0"/>
                <a:ea typeface="Cambria" pitchFamily="34" charset="-122"/>
                <a:cs typeface="Cambria" pitchFamily="34" charset="-120"/>
              </a:rPr>
              <a:t>A system the whole team can run.</a:t>
            </a:r>
            <a:endParaRPr lang="en-US" sz="3800" dirty="0"/>
          </a:p>
        </p:txBody>
      </p:sp>
      <p:sp>
        <p:nvSpPr>
          <p:cNvPr id="4" name="Shape 2"/>
          <p:cNvSpPr/>
          <p:nvPr/>
        </p:nvSpPr>
        <p:spPr>
          <a:xfrm>
            <a:off x="685800" y="2377440"/>
            <a:ext cx="3429000" cy="2651760"/>
          </a:xfrm>
          <a:prstGeom prst="roundRect">
            <a:avLst>
              <a:gd name="adj" fmla="val 2759"/>
            </a:avLst>
          </a:prstGeom>
          <a:solidFill>
            <a:srgbClr val="1C2530"/>
          </a:solidFill>
          <a:ln w="12700">
            <a:solidFill>
              <a:srgbClr val="1C2530"/>
            </a:solidFill>
            <a:prstDash val="solid"/>
          </a:ln>
        </p:spPr>
      </p:sp>
      <p:sp>
        <p:nvSpPr>
          <p:cNvPr id="5" name="Text 3"/>
          <p:cNvSpPr/>
          <p:nvPr/>
        </p:nvSpPr>
        <p:spPr>
          <a:xfrm>
            <a:off x="1005840" y="2788920"/>
            <a:ext cx="2788920" cy="777240"/>
          </a:xfrm>
          <a:prstGeom prst="rect">
            <a:avLst/>
          </a:prstGeom>
          <a:noFill/>
          <a:ln/>
        </p:spPr>
        <p:txBody>
          <a:bodyPr wrap="square" lIns="0" tIns="0" rIns="0" bIns="0" rtlCol="0" anchor="ctr"/>
          <a:lstStyle/>
          <a:p>
            <a:pPr indent="0" marL="0">
              <a:buNone/>
            </a:pPr>
            <a:r>
              <a:rPr lang="en-US" sz="1900" b="1" dirty="0">
                <a:solidFill>
                  <a:srgbClr val="F5F7FA"/>
                </a:solidFill>
                <a:latin typeface="Cambria" pitchFamily="34" charset="0"/>
                <a:ea typeface="Cambria" pitchFamily="34" charset="-122"/>
                <a:cs typeface="Cambria" pitchFamily="34" charset="-120"/>
              </a:rPr>
              <a:t>Forecast views</a:t>
            </a:r>
            <a:endParaRPr lang="en-US" sz="1900" dirty="0"/>
          </a:p>
        </p:txBody>
      </p:sp>
      <p:sp>
        <p:nvSpPr>
          <p:cNvPr id="6" name="Text 4"/>
          <p:cNvSpPr/>
          <p:nvPr/>
        </p:nvSpPr>
        <p:spPr>
          <a:xfrm>
            <a:off x="1005840" y="3611880"/>
            <a:ext cx="2788920" cy="1188720"/>
          </a:xfrm>
          <a:prstGeom prst="rect">
            <a:avLst/>
          </a:prstGeom>
          <a:noFill/>
          <a:ln/>
        </p:spPr>
        <p:txBody>
          <a:bodyPr wrap="square" lIns="0" tIns="0" rIns="0" bIns="0" rtlCol="0" anchor="ctr"/>
          <a:lstStyle/>
          <a:p>
            <a:pPr indent="0" marL="0">
              <a:lnSpc>
                <a:spcPct val="120000"/>
              </a:lnSpc>
              <a:buNone/>
            </a:pPr>
            <a:r>
              <a:rPr lang="en-US" sz="1200" dirty="0">
                <a:solidFill>
                  <a:srgbClr val="C9D2DB"/>
                </a:solidFill>
                <a:latin typeface="Calibri" pitchFamily="34" charset="0"/>
                <a:ea typeface="Calibri" pitchFamily="34" charset="-122"/>
                <a:cs typeface="Calibri" pitchFamily="34" charset="-120"/>
              </a:rPr>
              <a:t>company, category, product and customer — history and forecast on one chart</a:t>
            </a:r>
            <a:endParaRPr lang="en-US" sz="1200" dirty="0"/>
          </a:p>
        </p:txBody>
      </p:sp>
      <p:sp>
        <p:nvSpPr>
          <p:cNvPr id="7" name="Shape 5"/>
          <p:cNvSpPr/>
          <p:nvPr/>
        </p:nvSpPr>
        <p:spPr>
          <a:xfrm>
            <a:off x="4398264" y="2377440"/>
            <a:ext cx="3429000" cy="2651760"/>
          </a:xfrm>
          <a:prstGeom prst="roundRect">
            <a:avLst>
              <a:gd name="adj" fmla="val 2759"/>
            </a:avLst>
          </a:prstGeom>
          <a:solidFill>
            <a:srgbClr val="1C2530"/>
          </a:solidFill>
          <a:ln w="12700">
            <a:solidFill>
              <a:srgbClr val="1C2530"/>
            </a:solidFill>
            <a:prstDash val="solid"/>
          </a:ln>
        </p:spPr>
      </p:sp>
      <p:sp>
        <p:nvSpPr>
          <p:cNvPr id="8" name="Text 6"/>
          <p:cNvSpPr/>
          <p:nvPr/>
        </p:nvSpPr>
        <p:spPr>
          <a:xfrm>
            <a:off x="4718304" y="2788920"/>
            <a:ext cx="2788920" cy="777240"/>
          </a:xfrm>
          <a:prstGeom prst="rect">
            <a:avLst/>
          </a:prstGeom>
          <a:noFill/>
          <a:ln/>
        </p:spPr>
        <p:txBody>
          <a:bodyPr wrap="square" lIns="0" tIns="0" rIns="0" bIns="0" rtlCol="0" anchor="ctr"/>
          <a:lstStyle/>
          <a:p>
            <a:pPr indent="0" marL="0">
              <a:buNone/>
            </a:pPr>
            <a:r>
              <a:rPr lang="en-US" sz="1900" b="1" dirty="0">
                <a:solidFill>
                  <a:srgbClr val="F5F7FA"/>
                </a:solidFill>
                <a:latin typeface="Cambria" pitchFamily="34" charset="0"/>
                <a:ea typeface="Cambria" pitchFamily="34" charset="-122"/>
                <a:cs typeface="Cambria" pitchFamily="34" charset="-120"/>
              </a:rPr>
              <a:t>Inventory planning</a:t>
            </a:r>
            <a:endParaRPr lang="en-US" sz="1900" dirty="0"/>
          </a:p>
        </p:txBody>
      </p:sp>
      <p:sp>
        <p:nvSpPr>
          <p:cNvPr id="9" name="Text 7"/>
          <p:cNvSpPr/>
          <p:nvPr/>
        </p:nvSpPr>
        <p:spPr>
          <a:xfrm>
            <a:off x="4718304" y="3611880"/>
            <a:ext cx="2788920" cy="1188720"/>
          </a:xfrm>
          <a:prstGeom prst="rect">
            <a:avLst/>
          </a:prstGeom>
          <a:noFill/>
          <a:ln/>
        </p:spPr>
        <p:txBody>
          <a:bodyPr wrap="square" lIns="0" tIns="0" rIns="0" bIns="0" rtlCol="0" anchor="ctr"/>
          <a:lstStyle/>
          <a:p>
            <a:pPr indent="0" marL="0">
              <a:lnSpc>
                <a:spcPct val="120000"/>
              </a:lnSpc>
              <a:buNone/>
            </a:pPr>
            <a:r>
              <a:rPr lang="en-US" sz="1200" dirty="0">
                <a:solidFill>
                  <a:srgbClr val="C9D2DB"/>
                </a:solidFill>
                <a:latin typeface="Calibri" pitchFamily="34" charset="0"/>
                <a:ea typeface="Calibri" pitchFamily="34" charset="-122"/>
                <a:cs typeface="Calibri" pitchFamily="34" charset="-120"/>
              </a:rPr>
              <a:t>service level against stock held, simulated on a withheld year</a:t>
            </a:r>
            <a:endParaRPr lang="en-US" sz="1200" dirty="0"/>
          </a:p>
        </p:txBody>
      </p:sp>
      <p:sp>
        <p:nvSpPr>
          <p:cNvPr id="10" name="Shape 8"/>
          <p:cNvSpPr/>
          <p:nvPr/>
        </p:nvSpPr>
        <p:spPr>
          <a:xfrm>
            <a:off x="8110728" y="2377440"/>
            <a:ext cx="3429000" cy="2651760"/>
          </a:xfrm>
          <a:prstGeom prst="roundRect">
            <a:avLst>
              <a:gd name="adj" fmla="val 2759"/>
            </a:avLst>
          </a:prstGeom>
          <a:solidFill>
            <a:srgbClr val="1C2530"/>
          </a:solidFill>
          <a:ln w="12700">
            <a:solidFill>
              <a:srgbClr val="1C2530"/>
            </a:solidFill>
            <a:prstDash val="solid"/>
          </a:ln>
        </p:spPr>
      </p:sp>
      <p:sp>
        <p:nvSpPr>
          <p:cNvPr id="11" name="Text 9"/>
          <p:cNvSpPr/>
          <p:nvPr/>
        </p:nvSpPr>
        <p:spPr>
          <a:xfrm>
            <a:off x="8430768" y="2788920"/>
            <a:ext cx="2788920" cy="777240"/>
          </a:xfrm>
          <a:prstGeom prst="rect">
            <a:avLst/>
          </a:prstGeom>
          <a:noFill/>
          <a:ln/>
        </p:spPr>
        <p:txBody>
          <a:bodyPr wrap="square" lIns="0" tIns="0" rIns="0" bIns="0" rtlCol="0" anchor="ctr"/>
          <a:lstStyle/>
          <a:p>
            <a:pPr indent="0" marL="0">
              <a:buNone/>
            </a:pPr>
            <a:r>
              <a:rPr lang="en-US" sz="1900" b="1" dirty="0">
                <a:solidFill>
                  <a:srgbClr val="F5F7FA"/>
                </a:solidFill>
                <a:latin typeface="Cambria" pitchFamily="34" charset="0"/>
                <a:ea typeface="Cambria" pitchFamily="34" charset="-122"/>
                <a:cs typeface="Cambria" pitchFamily="34" charset="-120"/>
              </a:rPr>
              <a:t>Upload &amp; re-run</a:t>
            </a:r>
            <a:endParaRPr lang="en-US" sz="1900" dirty="0"/>
          </a:p>
        </p:txBody>
      </p:sp>
      <p:sp>
        <p:nvSpPr>
          <p:cNvPr id="12" name="Text 10"/>
          <p:cNvSpPr/>
          <p:nvPr/>
        </p:nvSpPr>
        <p:spPr>
          <a:xfrm>
            <a:off x="8430768" y="3611880"/>
            <a:ext cx="2788920" cy="1188720"/>
          </a:xfrm>
          <a:prstGeom prst="rect">
            <a:avLst/>
          </a:prstGeom>
          <a:noFill/>
          <a:ln/>
        </p:spPr>
        <p:txBody>
          <a:bodyPr wrap="square" lIns="0" tIns="0" rIns="0" bIns="0" rtlCol="0" anchor="ctr"/>
          <a:lstStyle/>
          <a:p>
            <a:pPr indent="0" marL="0">
              <a:lnSpc>
                <a:spcPct val="120000"/>
              </a:lnSpc>
              <a:buNone/>
            </a:pPr>
            <a:r>
              <a:rPr lang="en-US" sz="1200" dirty="0">
                <a:solidFill>
                  <a:srgbClr val="C9D2DB"/>
                </a:solidFill>
                <a:latin typeface="Calibri" pitchFamily="34" charset="0"/>
                <a:ea typeface="Calibri" pitchFamily="34" charset="-122"/>
                <a:cs typeface="Calibri" pitchFamily="34" charset="-120"/>
              </a:rPr>
              <a:t>new data file in, complete re-run in about two minutes — no code, no analyst</a:t>
            </a:r>
            <a:endParaRPr lang="en-US" sz="1200" dirty="0"/>
          </a:p>
        </p:txBody>
      </p:sp>
      <p:sp>
        <p:nvSpPr>
          <p:cNvPr id="13" name="Text 11"/>
          <p:cNvSpPr/>
          <p:nvPr/>
        </p:nvSpPr>
        <p:spPr>
          <a:xfrm>
            <a:off x="685800" y="5623560"/>
            <a:ext cx="10817352" cy="457200"/>
          </a:xfrm>
          <a:prstGeom prst="rect">
            <a:avLst/>
          </a:prstGeom>
          <a:noFill/>
          <a:ln/>
        </p:spPr>
        <p:txBody>
          <a:bodyPr wrap="square" lIns="0" tIns="0" rIns="0" bIns="0"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Demonstrated live in a moment — on the real data.</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66928"/>
            <a:ext cx="10817352" cy="274320"/>
          </a:xfrm>
          <a:prstGeom prst="rect">
            <a:avLst/>
          </a:prstGeom>
          <a:noFill/>
          <a:ln/>
        </p:spPr>
        <p:txBody>
          <a:bodyPr wrap="square" lIns="0" tIns="0" rIns="0" bIns="0" rtlCol="0" anchor="ctr"/>
          <a:lstStyle/>
          <a:p>
            <a:pPr indent="0" marL="0">
              <a:buNone/>
            </a:pPr>
            <a:r>
              <a:rPr lang="en-US" sz="1050" b="1" spc="300" kern="0" dirty="0">
                <a:solidFill>
                  <a:srgbClr val="6B7280"/>
                </a:solidFill>
                <a:latin typeface="Calibri" pitchFamily="34" charset="0"/>
                <a:ea typeface="Calibri" pitchFamily="34" charset="-122"/>
                <a:cs typeface="Calibri" pitchFamily="34" charset="-120"/>
              </a:rPr>
              <a:t>WHAT WE HAVE FACED — 01</a:t>
            </a:r>
            <a:endParaRPr lang="en-US" sz="1050" dirty="0"/>
          </a:p>
        </p:txBody>
      </p:sp>
      <p:sp>
        <p:nvSpPr>
          <p:cNvPr id="3" name="Text 1"/>
          <p:cNvSpPr/>
          <p:nvPr/>
        </p:nvSpPr>
        <p:spPr>
          <a:xfrm>
            <a:off x="685800" y="914400"/>
            <a:ext cx="10817352" cy="1051560"/>
          </a:xfrm>
          <a:prstGeom prst="rect">
            <a:avLst/>
          </a:prstGeom>
          <a:noFill/>
          <a:ln/>
        </p:spPr>
        <p:txBody>
          <a:bodyPr wrap="square" lIns="0" tIns="0" rIns="0" bIns="0" rtlCol="0" anchor="ctr"/>
          <a:lstStyle/>
          <a:p>
            <a:pPr indent="0" marL="0">
              <a:buNone/>
            </a:pPr>
            <a:r>
              <a:rPr lang="en-US" sz="3800" b="1" dirty="0">
                <a:solidFill>
                  <a:srgbClr val="1C2530"/>
                </a:solidFill>
                <a:latin typeface="Cambria" pitchFamily="34" charset="0"/>
                <a:ea typeface="Cambria" pitchFamily="34" charset="-122"/>
                <a:cs typeface="Cambria" pitchFamily="34" charset="-120"/>
              </a:rPr>
              <a:t>Demand that behaves like events, not patterns.</a:t>
            </a:r>
            <a:endParaRPr lang="en-US" sz="3800" dirty="0"/>
          </a:p>
        </p:txBody>
      </p:sp>
      <p:sp>
        <p:nvSpPr>
          <p:cNvPr id="4" name="Text 2"/>
          <p:cNvSpPr/>
          <p:nvPr/>
        </p:nvSpPr>
        <p:spPr>
          <a:xfrm>
            <a:off x="685800" y="2423160"/>
            <a:ext cx="2834640" cy="777240"/>
          </a:xfrm>
          <a:prstGeom prst="rect">
            <a:avLst/>
          </a:prstGeom>
          <a:noFill/>
          <a:ln/>
        </p:spPr>
        <p:txBody>
          <a:bodyPr wrap="square" lIns="0" tIns="0" rIns="0" bIns="0" rtlCol="0" anchor="ctr"/>
          <a:lstStyle/>
          <a:p>
            <a:pPr indent="0" marL="0">
              <a:buNone/>
            </a:pPr>
            <a:r>
              <a:rPr lang="en-US" sz="2800" b="1" dirty="0">
                <a:solidFill>
                  <a:srgbClr val="1C2530"/>
                </a:solidFill>
                <a:latin typeface="Cambria" pitchFamily="34" charset="0"/>
                <a:ea typeface="Cambria" pitchFamily="34" charset="-122"/>
                <a:cs typeface="Cambria" pitchFamily="34" charset="-120"/>
              </a:rPr>
              <a:t>3 of 48</a:t>
            </a:r>
            <a:endParaRPr lang="en-US" sz="2800" dirty="0"/>
          </a:p>
        </p:txBody>
      </p:sp>
      <p:sp>
        <p:nvSpPr>
          <p:cNvPr id="5" name="Text 3"/>
          <p:cNvSpPr/>
          <p:nvPr/>
        </p:nvSpPr>
        <p:spPr>
          <a:xfrm>
            <a:off x="3794760" y="2532888"/>
            <a:ext cx="7708392" cy="640080"/>
          </a:xfrm>
          <a:prstGeom prst="rect">
            <a:avLst/>
          </a:prstGeom>
          <a:noFill/>
          <a:ln/>
        </p:spPr>
        <p:txBody>
          <a:bodyPr wrap="square" lIns="0" tIns="0" rIns="0" bIns="0" rtlCol="0" anchor="ctr"/>
          <a:lstStyle/>
          <a:p>
            <a:pPr indent="0" marL="0">
              <a:buNone/>
            </a:pPr>
            <a:r>
              <a:rPr lang="en-US" sz="1350" dirty="0">
                <a:solidFill>
                  <a:srgbClr val="6B7280"/>
                </a:solidFill>
                <a:latin typeface="Calibri" pitchFamily="34" charset="0"/>
                <a:ea typeface="Calibri" pitchFamily="34" charset="-122"/>
                <a:cs typeface="Calibri" pitchFamily="34" charset="-120"/>
              </a:rPr>
              <a:t>months in which the median product records any sale at all</a:t>
            </a:r>
            <a:endParaRPr lang="en-US" sz="1350" dirty="0"/>
          </a:p>
        </p:txBody>
      </p:sp>
      <p:sp>
        <p:nvSpPr>
          <p:cNvPr id="6" name="Shape 4"/>
          <p:cNvSpPr/>
          <p:nvPr/>
        </p:nvSpPr>
        <p:spPr>
          <a:xfrm>
            <a:off x="685800" y="3255264"/>
            <a:ext cx="10817352" cy="0"/>
          </a:xfrm>
          <a:prstGeom prst="line">
            <a:avLst/>
          </a:prstGeom>
          <a:noFill/>
          <a:ln w="9525">
            <a:solidFill>
              <a:srgbClr val="E2E6EA"/>
            </a:solidFill>
            <a:prstDash val="solid"/>
          </a:ln>
        </p:spPr>
      </p:sp>
      <p:sp>
        <p:nvSpPr>
          <p:cNvPr id="7" name="Text 5"/>
          <p:cNvSpPr/>
          <p:nvPr/>
        </p:nvSpPr>
        <p:spPr>
          <a:xfrm>
            <a:off x="685800" y="3383280"/>
            <a:ext cx="2834640" cy="777240"/>
          </a:xfrm>
          <a:prstGeom prst="rect">
            <a:avLst/>
          </a:prstGeom>
          <a:noFill/>
          <a:ln/>
        </p:spPr>
        <p:txBody>
          <a:bodyPr wrap="square" lIns="0" tIns="0" rIns="0" bIns="0" rtlCol="0" anchor="ctr"/>
          <a:lstStyle/>
          <a:p>
            <a:pPr indent="0" marL="0">
              <a:buNone/>
            </a:pPr>
            <a:r>
              <a:rPr lang="en-US" sz="2800" b="1" dirty="0">
                <a:solidFill>
                  <a:srgbClr val="1C2530"/>
                </a:solidFill>
                <a:latin typeface="Cambria" pitchFamily="34" charset="0"/>
                <a:ea typeface="Cambria" pitchFamily="34" charset="-122"/>
                <a:cs typeface="Cambria" pitchFamily="34" charset="-120"/>
              </a:rPr>
              <a:t>0.4% → 16%</a:t>
            </a:r>
            <a:endParaRPr lang="en-US" sz="2800" dirty="0"/>
          </a:p>
        </p:txBody>
      </p:sp>
      <p:sp>
        <p:nvSpPr>
          <p:cNvPr id="8" name="Text 6"/>
          <p:cNvSpPr/>
          <p:nvPr/>
        </p:nvSpPr>
        <p:spPr>
          <a:xfrm>
            <a:off x="3794760" y="3493008"/>
            <a:ext cx="7708392" cy="640080"/>
          </a:xfrm>
          <a:prstGeom prst="rect">
            <a:avLst/>
          </a:prstGeom>
          <a:noFill/>
          <a:ln/>
        </p:spPr>
        <p:txBody>
          <a:bodyPr wrap="square" lIns="0" tIns="0" rIns="0" bIns="0" rtlCol="0" anchor="ctr"/>
          <a:lstStyle/>
          <a:p>
            <a:pPr indent="0" marL="0">
              <a:buNone/>
            </a:pPr>
            <a:r>
              <a:rPr lang="en-US" sz="1350" dirty="0">
                <a:solidFill>
                  <a:srgbClr val="6B7280"/>
                </a:solidFill>
                <a:latin typeface="Calibri" pitchFamily="34" charset="0"/>
                <a:ea typeface="Calibri" pitchFamily="34" charset="-122"/>
                <a:cs typeface="Calibri" pitchFamily="34" charset="-120"/>
              </a:rPr>
              <a:t>share of total volume carried by the largest half-percent of order lines</a:t>
            </a:r>
            <a:endParaRPr lang="en-US" sz="1350" dirty="0"/>
          </a:p>
        </p:txBody>
      </p:sp>
      <p:sp>
        <p:nvSpPr>
          <p:cNvPr id="9" name="Shape 7"/>
          <p:cNvSpPr/>
          <p:nvPr/>
        </p:nvSpPr>
        <p:spPr>
          <a:xfrm>
            <a:off x="685800" y="4215384"/>
            <a:ext cx="10817352" cy="0"/>
          </a:xfrm>
          <a:prstGeom prst="line">
            <a:avLst/>
          </a:prstGeom>
          <a:noFill/>
          <a:ln w="9525">
            <a:solidFill>
              <a:srgbClr val="E2E6EA"/>
            </a:solidFill>
            <a:prstDash val="solid"/>
          </a:ln>
        </p:spPr>
      </p:sp>
      <p:sp>
        <p:nvSpPr>
          <p:cNvPr id="10" name="Text 8"/>
          <p:cNvSpPr/>
          <p:nvPr/>
        </p:nvSpPr>
        <p:spPr>
          <a:xfrm>
            <a:off x="685800" y="4343400"/>
            <a:ext cx="2834640" cy="777240"/>
          </a:xfrm>
          <a:prstGeom prst="rect">
            <a:avLst/>
          </a:prstGeom>
          <a:noFill/>
          <a:ln/>
        </p:spPr>
        <p:txBody>
          <a:bodyPr wrap="square" lIns="0" tIns="0" rIns="0" bIns="0" rtlCol="0" anchor="ctr"/>
          <a:lstStyle/>
          <a:p>
            <a:pPr indent="0" marL="0">
              <a:buNone/>
            </a:pPr>
            <a:r>
              <a:rPr lang="en-US" sz="2800" b="1" dirty="0">
                <a:solidFill>
                  <a:srgbClr val="1C2530"/>
                </a:solidFill>
                <a:latin typeface="Cambria" pitchFamily="34" charset="0"/>
                <a:ea typeface="Cambria" pitchFamily="34" charset="-122"/>
                <a:cs typeface="Cambria" pitchFamily="34" charset="-120"/>
              </a:rPr>
              <a:t>68.5%</a:t>
            </a:r>
            <a:endParaRPr lang="en-US" sz="2800" dirty="0"/>
          </a:p>
        </p:txBody>
      </p:sp>
      <p:sp>
        <p:nvSpPr>
          <p:cNvPr id="11" name="Text 9"/>
          <p:cNvSpPr/>
          <p:nvPr/>
        </p:nvSpPr>
        <p:spPr>
          <a:xfrm>
            <a:off x="3794760" y="4453128"/>
            <a:ext cx="7708392" cy="640080"/>
          </a:xfrm>
          <a:prstGeom prst="rect">
            <a:avLst/>
          </a:prstGeom>
          <a:noFill/>
          <a:ln/>
        </p:spPr>
        <p:txBody>
          <a:bodyPr wrap="square" lIns="0" tIns="0" rIns="0" bIns="0" rtlCol="0" anchor="ctr"/>
          <a:lstStyle/>
          <a:p>
            <a:pPr indent="0" marL="0">
              <a:buNone/>
            </a:pPr>
            <a:r>
              <a:rPr lang="en-US" sz="1350" dirty="0">
                <a:solidFill>
                  <a:srgbClr val="6B7280"/>
                </a:solidFill>
                <a:latin typeface="Calibri" pitchFamily="34" charset="0"/>
                <a:ea typeface="Calibri" pitchFamily="34" charset="-122"/>
                <a:cs typeface="Calibri" pitchFamily="34" charset="-120"/>
              </a:rPr>
              <a:t>of all volume comes from just ten customers — three carry 27.6%</a:t>
            </a:r>
            <a:endParaRPr lang="en-US" sz="1350" dirty="0"/>
          </a:p>
        </p:txBody>
      </p:sp>
      <p:sp>
        <p:nvSpPr>
          <p:cNvPr id="12" name="Text 10"/>
          <p:cNvSpPr/>
          <p:nvPr/>
        </p:nvSpPr>
        <p:spPr>
          <a:xfrm>
            <a:off x="685800" y="5577840"/>
            <a:ext cx="10817352" cy="594360"/>
          </a:xfrm>
          <a:prstGeom prst="rect">
            <a:avLst/>
          </a:prstGeom>
          <a:noFill/>
          <a:ln/>
        </p:spPr>
        <p:txBody>
          <a:bodyPr wrap="square" lIns="0" tIns="0" rIns="0" bIns="0"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Statistical methods forecast patterns. Much of this demand is single large orders from a few accounts — a structural challenge every method must face.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66928"/>
            <a:ext cx="10817352" cy="274320"/>
          </a:xfrm>
          <a:prstGeom prst="rect">
            <a:avLst/>
          </a:prstGeom>
          <a:noFill/>
          <a:ln/>
        </p:spPr>
        <p:txBody>
          <a:bodyPr wrap="square" lIns="0" tIns="0" rIns="0" bIns="0" rtlCol="0" anchor="ctr"/>
          <a:lstStyle/>
          <a:p>
            <a:pPr indent="0" marL="0">
              <a:buNone/>
            </a:pPr>
            <a:r>
              <a:rPr lang="en-US" sz="1050" b="1" spc="300" kern="0" dirty="0">
                <a:solidFill>
                  <a:srgbClr val="6B7280"/>
                </a:solidFill>
                <a:latin typeface="Calibri" pitchFamily="34" charset="0"/>
                <a:ea typeface="Calibri" pitchFamily="34" charset="-122"/>
                <a:cs typeface="Calibri" pitchFamily="34" charset="-120"/>
              </a:rPr>
              <a:t>WHAT WE HAVE FACED — 02</a:t>
            </a:r>
            <a:endParaRPr lang="en-US" sz="1050" dirty="0"/>
          </a:p>
        </p:txBody>
      </p:sp>
      <p:sp>
        <p:nvSpPr>
          <p:cNvPr id="3" name="Text 1"/>
          <p:cNvSpPr/>
          <p:nvPr/>
        </p:nvSpPr>
        <p:spPr>
          <a:xfrm>
            <a:off x="685800" y="914400"/>
            <a:ext cx="10817352" cy="1051560"/>
          </a:xfrm>
          <a:prstGeom prst="rect">
            <a:avLst/>
          </a:prstGeom>
          <a:noFill/>
          <a:ln/>
        </p:spPr>
        <p:txBody>
          <a:bodyPr wrap="square" lIns="0" tIns="0" rIns="0" bIns="0" rtlCol="0" anchor="ctr"/>
          <a:lstStyle/>
          <a:p>
            <a:pPr indent="0" marL="0">
              <a:buNone/>
            </a:pPr>
            <a:r>
              <a:rPr lang="en-US" sz="3800" b="1" dirty="0">
                <a:solidFill>
                  <a:srgbClr val="1C2530"/>
                </a:solidFill>
                <a:latin typeface="Cambria" pitchFamily="34" charset="0"/>
                <a:ea typeface="Cambria" pitchFamily="34" charset="-122"/>
                <a:cs typeface="Cambria" pitchFamily="34" charset="-120"/>
              </a:rPr>
              <a:t>Accuracy is hard to earn — and to measure.</a:t>
            </a:r>
            <a:endParaRPr lang="en-US" sz="3800" dirty="0"/>
          </a:p>
        </p:txBody>
      </p:sp>
      <p:sp>
        <p:nvSpPr>
          <p:cNvPr id="4" name="Text 2"/>
          <p:cNvSpPr/>
          <p:nvPr/>
        </p:nvSpPr>
        <p:spPr>
          <a:xfrm>
            <a:off x="685800" y="2322576"/>
            <a:ext cx="777240" cy="548640"/>
          </a:xfrm>
          <a:prstGeom prst="rect">
            <a:avLst/>
          </a:prstGeom>
          <a:noFill/>
          <a:ln/>
        </p:spPr>
        <p:txBody>
          <a:bodyPr wrap="square" lIns="0" tIns="0" rIns="0" bIns="0" rtlCol="0" anchor="ctr"/>
          <a:lstStyle/>
          <a:p>
            <a:pPr indent="0" marL="0">
              <a:buNone/>
            </a:pPr>
            <a:r>
              <a:rPr lang="en-US" sz="2400" i="1" dirty="0">
                <a:solidFill>
                  <a:srgbClr val="C8102E"/>
                </a:solidFill>
                <a:latin typeface="Cambria" pitchFamily="34" charset="0"/>
                <a:ea typeface="Cambria" pitchFamily="34" charset="-122"/>
                <a:cs typeface="Cambria" pitchFamily="34" charset="-120"/>
              </a:rPr>
              <a:t>01</a:t>
            </a:r>
            <a:endParaRPr lang="en-US" sz="2400" dirty="0"/>
          </a:p>
        </p:txBody>
      </p:sp>
      <p:sp>
        <p:nvSpPr>
          <p:cNvPr id="5" name="Text 3"/>
          <p:cNvSpPr/>
          <p:nvPr/>
        </p:nvSpPr>
        <p:spPr>
          <a:xfrm>
            <a:off x="1691640" y="2286000"/>
            <a:ext cx="9418320" cy="411480"/>
          </a:xfrm>
          <a:prstGeom prst="rect">
            <a:avLst/>
          </a:prstGeom>
          <a:noFill/>
          <a:ln/>
        </p:spPr>
        <p:txBody>
          <a:bodyPr wrap="square" lIns="0" tIns="0" rIns="0" bIns="0" rtlCol="0" anchor="ctr"/>
          <a:lstStyle/>
          <a:p>
            <a:pPr indent="0" marL="0">
              <a:buNone/>
            </a:pPr>
            <a:r>
              <a:rPr lang="en-US" sz="1550" b="1" dirty="0">
                <a:solidFill>
                  <a:srgbClr val="1C2530"/>
                </a:solidFill>
                <a:latin typeface="Calibri" pitchFamily="34" charset="0"/>
                <a:ea typeface="Calibri" pitchFamily="34" charset="-122"/>
                <a:cs typeface="Calibri" pitchFamily="34" charset="-120"/>
              </a:rPr>
              <a:t>Two turning-point years</a:t>
            </a:r>
            <a:endParaRPr lang="en-US" sz="1550" dirty="0"/>
          </a:p>
        </p:txBody>
      </p:sp>
      <p:sp>
        <p:nvSpPr>
          <p:cNvPr id="6" name="Text 4"/>
          <p:cNvSpPr/>
          <p:nvPr/>
        </p:nvSpPr>
        <p:spPr>
          <a:xfrm>
            <a:off x="1691640" y="2724912"/>
            <a:ext cx="9418320" cy="685800"/>
          </a:xfrm>
          <a:prstGeom prst="rect">
            <a:avLst/>
          </a:prstGeom>
          <a:noFill/>
          <a:ln/>
        </p:spPr>
        <p:txBody>
          <a:bodyPr wrap="square" lIns="0" tIns="0" rIns="0" bIns="0" rtlCol="0" anchor="ctr"/>
          <a:lstStyle/>
          <a:p>
            <a:pPr indent="0" marL="0">
              <a:lnSpc>
                <a:spcPct val="115000"/>
              </a:lnSpc>
              <a:buNone/>
            </a:pPr>
            <a:r>
              <a:rPr lang="en-US" sz="1200" dirty="0">
                <a:solidFill>
                  <a:srgbClr val="6B7280"/>
                </a:solidFill>
                <a:latin typeface="Calibri" pitchFamily="34" charset="0"/>
                <a:ea typeface="Calibri" pitchFamily="34" charset="-122"/>
                <a:cs typeface="Calibri" pitchFamily="34" charset="-120"/>
              </a:rPr>
              <a:t>FY2023 fell 43%, FY2024 recovered 25% — neither was predictable from the data before it, and nothing in the files explains why</a:t>
            </a:r>
            <a:endParaRPr lang="en-US" sz="1200" dirty="0"/>
          </a:p>
        </p:txBody>
      </p:sp>
      <p:sp>
        <p:nvSpPr>
          <p:cNvPr id="7" name="Text 5"/>
          <p:cNvSpPr/>
          <p:nvPr/>
        </p:nvSpPr>
        <p:spPr>
          <a:xfrm>
            <a:off x="685800" y="3584448"/>
            <a:ext cx="777240" cy="548640"/>
          </a:xfrm>
          <a:prstGeom prst="rect">
            <a:avLst/>
          </a:prstGeom>
          <a:noFill/>
          <a:ln/>
        </p:spPr>
        <p:txBody>
          <a:bodyPr wrap="square" lIns="0" tIns="0" rIns="0" bIns="0" rtlCol="0" anchor="ctr"/>
          <a:lstStyle/>
          <a:p>
            <a:pPr indent="0" marL="0">
              <a:buNone/>
            </a:pPr>
            <a:r>
              <a:rPr lang="en-US" sz="2400" i="1" dirty="0">
                <a:solidFill>
                  <a:srgbClr val="C8102E"/>
                </a:solidFill>
                <a:latin typeface="Cambria" pitchFamily="34" charset="0"/>
                <a:ea typeface="Cambria" pitchFamily="34" charset="-122"/>
                <a:cs typeface="Cambria" pitchFamily="34" charset="-120"/>
              </a:rPr>
              <a:t>02</a:t>
            </a:r>
            <a:endParaRPr lang="en-US" sz="2400" dirty="0"/>
          </a:p>
        </p:txBody>
      </p:sp>
      <p:sp>
        <p:nvSpPr>
          <p:cNvPr id="8" name="Text 6"/>
          <p:cNvSpPr/>
          <p:nvPr/>
        </p:nvSpPr>
        <p:spPr>
          <a:xfrm>
            <a:off x="1691640" y="3547872"/>
            <a:ext cx="9418320" cy="411480"/>
          </a:xfrm>
          <a:prstGeom prst="rect">
            <a:avLst/>
          </a:prstGeom>
          <a:noFill/>
          <a:ln/>
        </p:spPr>
        <p:txBody>
          <a:bodyPr wrap="square" lIns="0" tIns="0" rIns="0" bIns="0" rtlCol="0" anchor="ctr"/>
          <a:lstStyle/>
          <a:p>
            <a:pPr indent="0" marL="0">
              <a:buNone/>
            </a:pPr>
            <a:r>
              <a:rPr lang="en-US" sz="1550" b="1" dirty="0">
                <a:solidFill>
                  <a:srgbClr val="1C2530"/>
                </a:solidFill>
                <a:latin typeface="Calibri" pitchFamily="34" charset="0"/>
                <a:ea typeface="Calibri" pitchFamily="34" charset="-122"/>
                <a:cs typeface="Calibri" pitchFamily="34" charset="-120"/>
              </a:rPr>
              <a:t>Standard metrics break</a:t>
            </a:r>
            <a:endParaRPr lang="en-US" sz="1550" dirty="0"/>
          </a:p>
        </p:txBody>
      </p:sp>
      <p:sp>
        <p:nvSpPr>
          <p:cNvPr id="9" name="Text 7"/>
          <p:cNvSpPr/>
          <p:nvPr/>
        </p:nvSpPr>
        <p:spPr>
          <a:xfrm>
            <a:off x="1691640" y="3986784"/>
            <a:ext cx="9418320" cy="685800"/>
          </a:xfrm>
          <a:prstGeom prst="rect">
            <a:avLst/>
          </a:prstGeom>
          <a:noFill/>
          <a:ln/>
        </p:spPr>
        <p:txBody>
          <a:bodyPr wrap="square" lIns="0" tIns="0" rIns="0" bIns="0" rtlCol="0" anchor="ctr"/>
          <a:lstStyle/>
          <a:p>
            <a:pPr indent="0" marL="0">
              <a:lnSpc>
                <a:spcPct val="115000"/>
              </a:lnSpc>
              <a:buNone/>
            </a:pPr>
            <a:r>
              <a:rPr lang="en-US" sz="1200" dirty="0">
                <a:solidFill>
                  <a:srgbClr val="6B7280"/>
                </a:solidFill>
                <a:latin typeface="Calibri" pitchFamily="34" charset="0"/>
                <a:ea typeface="Calibri" pitchFamily="34" charset="-122"/>
                <a:cs typeface="Calibri" pitchFamily="34" charset="-120"/>
              </a:rPr>
              <a:t>MAPE is undefined whenever a month sells zero — which is most product-months here — so we measure with WAPE and MASE instead</a:t>
            </a:r>
            <a:endParaRPr lang="en-US" sz="1200" dirty="0"/>
          </a:p>
        </p:txBody>
      </p:sp>
      <p:sp>
        <p:nvSpPr>
          <p:cNvPr id="10" name="Text 8"/>
          <p:cNvSpPr/>
          <p:nvPr/>
        </p:nvSpPr>
        <p:spPr>
          <a:xfrm>
            <a:off x="685800" y="4846320"/>
            <a:ext cx="777240" cy="548640"/>
          </a:xfrm>
          <a:prstGeom prst="rect">
            <a:avLst/>
          </a:prstGeom>
          <a:noFill/>
          <a:ln/>
        </p:spPr>
        <p:txBody>
          <a:bodyPr wrap="square" lIns="0" tIns="0" rIns="0" bIns="0" rtlCol="0" anchor="ctr"/>
          <a:lstStyle/>
          <a:p>
            <a:pPr indent="0" marL="0">
              <a:buNone/>
            </a:pPr>
            <a:r>
              <a:rPr lang="en-US" sz="2400" i="1" dirty="0">
                <a:solidFill>
                  <a:srgbClr val="C8102E"/>
                </a:solidFill>
                <a:latin typeface="Cambria" pitchFamily="34" charset="0"/>
                <a:ea typeface="Cambria" pitchFamily="34" charset="-122"/>
                <a:cs typeface="Cambria" pitchFamily="34" charset="-120"/>
              </a:rPr>
              <a:t>03</a:t>
            </a:r>
            <a:endParaRPr lang="en-US" sz="2400" dirty="0"/>
          </a:p>
        </p:txBody>
      </p:sp>
      <p:sp>
        <p:nvSpPr>
          <p:cNvPr id="11" name="Text 9"/>
          <p:cNvSpPr/>
          <p:nvPr/>
        </p:nvSpPr>
        <p:spPr>
          <a:xfrm>
            <a:off x="1691640" y="4809744"/>
            <a:ext cx="9418320" cy="411480"/>
          </a:xfrm>
          <a:prstGeom prst="rect">
            <a:avLst/>
          </a:prstGeom>
          <a:noFill/>
          <a:ln/>
        </p:spPr>
        <p:txBody>
          <a:bodyPr wrap="square" lIns="0" tIns="0" rIns="0" bIns="0" rtlCol="0" anchor="ctr"/>
          <a:lstStyle/>
          <a:p>
            <a:pPr indent="0" marL="0">
              <a:buNone/>
            </a:pPr>
            <a:r>
              <a:rPr lang="en-US" sz="1550" b="1" dirty="0">
                <a:solidFill>
                  <a:srgbClr val="1C2530"/>
                </a:solidFill>
                <a:latin typeface="Calibri" pitchFamily="34" charset="0"/>
                <a:ea typeface="Calibri" pitchFamily="34" charset="-122"/>
                <a:cs typeface="Calibri" pitchFamily="34" charset="-120"/>
              </a:rPr>
              <a:t>Our response</a:t>
            </a:r>
            <a:endParaRPr lang="en-US" sz="1550" dirty="0"/>
          </a:p>
        </p:txBody>
      </p:sp>
      <p:sp>
        <p:nvSpPr>
          <p:cNvPr id="12" name="Text 10"/>
          <p:cNvSpPr/>
          <p:nvPr/>
        </p:nvSpPr>
        <p:spPr>
          <a:xfrm>
            <a:off x="1691640" y="5248656"/>
            <a:ext cx="9418320" cy="685800"/>
          </a:xfrm>
          <a:prstGeom prst="rect">
            <a:avLst/>
          </a:prstGeom>
          <a:noFill/>
          <a:ln/>
        </p:spPr>
        <p:txBody>
          <a:bodyPr wrap="square" lIns="0" tIns="0" rIns="0" bIns="0" rtlCol="0" anchor="ctr"/>
          <a:lstStyle/>
          <a:p>
            <a:pPr indent="0" marL="0">
              <a:lnSpc>
                <a:spcPct val="115000"/>
              </a:lnSpc>
              <a:buNone/>
            </a:pPr>
            <a:r>
              <a:rPr lang="en-US" sz="1200" dirty="0">
                <a:solidFill>
                  <a:srgbClr val="6B7280"/>
                </a:solidFill>
                <a:latin typeface="Calibri" pitchFamily="34" charset="0"/>
                <a:ea typeface="Calibri" pitchFamily="34" charset="-122"/>
                <a:cs typeface="Calibri" pitchFamily="34" charset="-120"/>
              </a:rPr>
              <a:t>back-testing on withheld years, honest comparison against simple baselines, and ranges instead of single numbers — full evidence at the semi-final</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66928"/>
            <a:ext cx="10817352" cy="274320"/>
          </a:xfrm>
          <a:prstGeom prst="rect">
            <a:avLst/>
          </a:prstGeom>
          <a:noFill/>
          <a:ln/>
        </p:spPr>
        <p:txBody>
          <a:bodyPr wrap="square" lIns="0" tIns="0" rIns="0" bIns="0" rtlCol="0" anchor="ctr"/>
          <a:lstStyle/>
          <a:p>
            <a:pPr indent="0" marL="0">
              <a:buNone/>
            </a:pPr>
            <a:r>
              <a:rPr lang="en-US" sz="1050" b="1" spc="300" kern="0" dirty="0">
                <a:solidFill>
                  <a:srgbClr val="6B7280"/>
                </a:solidFill>
                <a:latin typeface="Calibri" pitchFamily="34" charset="0"/>
                <a:ea typeface="Calibri" pitchFamily="34" charset="-122"/>
                <a:cs typeface="Calibri" pitchFamily="34" charset="-120"/>
              </a:rPr>
              <a:t>WHAT WE WILL DO NEXT</a:t>
            </a:r>
            <a:endParaRPr lang="en-US" sz="1050" dirty="0"/>
          </a:p>
        </p:txBody>
      </p:sp>
      <p:sp>
        <p:nvSpPr>
          <p:cNvPr id="3" name="Text 1"/>
          <p:cNvSpPr/>
          <p:nvPr/>
        </p:nvSpPr>
        <p:spPr>
          <a:xfrm>
            <a:off x="685800" y="914400"/>
            <a:ext cx="10817352" cy="1051560"/>
          </a:xfrm>
          <a:prstGeom prst="rect">
            <a:avLst/>
          </a:prstGeom>
          <a:noFill/>
          <a:ln/>
        </p:spPr>
        <p:txBody>
          <a:bodyPr wrap="square" lIns="0" tIns="0" rIns="0" bIns="0" rtlCol="0" anchor="ctr"/>
          <a:lstStyle/>
          <a:p>
            <a:pPr indent="0" marL="0">
              <a:buNone/>
            </a:pPr>
            <a:r>
              <a:rPr lang="en-US" sz="3800" b="1" dirty="0">
                <a:solidFill>
                  <a:srgbClr val="1C2530"/>
                </a:solidFill>
                <a:latin typeface="Cambria" pitchFamily="34" charset="0"/>
                <a:ea typeface="Cambria" pitchFamily="34" charset="-122"/>
                <a:cs typeface="Cambria" pitchFamily="34" charset="-120"/>
              </a:rPr>
              <a:t>Two milestones to the final forecast.</a:t>
            </a:r>
            <a:endParaRPr lang="en-US" sz="3800" dirty="0"/>
          </a:p>
        </p:txBody>
      </p:sp>
      <p:sp>
        <p:nvSpPr>
          <p:cNvPr id="4" name="Shape 2"/>
          <p:cNvSpPr/>
          <p:nvPr/>
        </p:nvSpPr>
        <p:spPr>
          <a:xfrm>
            <a:off x="685800" y="2331720"/>
            <a:ext cx="3429000" cy="2926080"/>
          </a:xfrm>
          <a:prstGeom prst="roundRect">
            <a:avLst>
              <a:gd name="adj" fmla="val 2500"/>
            </a:avLst>
          </a:prstGeom>
          <a:solidFill>
            <a:srgbClr val="C8102E"/>
          </a:solidFill>
          <a:ln w="12700">
            <a:solidFill>
              <a:srgbClr val="C8102E"/>
            </a:solidFill>
            <a:prstDash val="solid"/>
          </a:ln>
        </p:spPr>
      </p:sp>
      <p:sp>
        <p:nvSpPr>
          <p:cNvPr id="5" name="Text 3"/>
          <p:cNvSpPr/>
          <p:nvPr/>
        </p:nvSpPr>
        <p:spPr>
          <a:xfrm>
            <a:off x="1005840" y="2697480"/>
            <a:ext cx="2788920" cy="320040"/>
          </a:xfrm>
          <a:prstGeom prst="rect">
            <a:avLst/>
          </a:prstGeom>
          <a:noFill/>
          <a:ln/>
        </p:spPr>
        <p:txBody>
          <a:bodyPr wrap="square" lIns="0" tIns="0" rIns="0" bIns="0" rtlCol="0" anchor="ctr"/>
          <a:lstStyle/>
          <a:p>
            <a:pPr indent="0" marL="0">
              <a:buNone/>
            </a:pPr>
            <a:r>
              <a:rPr lang="en-US" sz="1050" b="1" spc="200" kern="0" dirty="0">
                <a:solidFill>
                  <a:srgbClr val="F3C2CB"/>
                </a:solidFill>
                <a:latin typeface="Calibri" pitchFamily="34" charset="0"/>
                <a:ea typeface="Calibri" pitchFamily="34" charset="-122"/>
                <a:cs typeface="Calibri" pitchFamily="34" charset="-120"/>
              </a:rPr>
              <a:t>SEMI-FINAL — 7 SEP</a:t>
            </a:r>
            <a:endParaRPr lang="en-US" sz="1050" dirty="0"/>
          </a:p>
        </p:txBody>
      </p:sp>
      <p:sp>
        <p:nvSpPr>
          <p:cNvPr id="6" name="Text 4"/>
          <p:cNvSpPr/>
          <p:nvPr/>
        </p:nvSpPr>
        <p:spPr>
          <a:xfrm>
            <a:off x="1005840" y="3063240"/>
            <a:ext cx="2788920" cy="777240"/>
          </a:xfrm>
          <a:prstGeom prst="rect">
            <a:avLst/>
          </a:prstGeom>
          <a:noFill/>
          <a:ln/>
        </p:spPr>
        <p:txBody>
          <a:bodyPr wrap="square" lIns="0" tIns="0" rIns="0" bIns="0" rtlCol="0" anchor="ctr"/>
          <a:lstStyle/>
          <a:p>
            <a:pPr indent="0" marL="0">
              <a:buNone/>
            </a:pPr>
            <a:r>
              <a:rPr lang="en-US" sz="1900" b="1" dirty="0">
                <a:solidFill>
                  <a:srgbClr val="F5F7FA"/>
                </a:solidFill>
                <a:latin typeface="Cambria" pitchFamily="34" charset="0"/>
                <a:ea typeface="Cambria" pitchFamily="34" charset="-122"/>
                <a:cs typeface="Cambria" pitchFamily="34" charset="-120"/>
              </a:rPr>
              <a:t>Results &amp; evidence</a:t>
            </a:r>
            <a:endParaRPr lang="en-US" sz="1900" dirty="0"/>
          </a:p>
        </p:txBody>
      </p:sp>
      <p:sp>
        <p:nvSpPr>
          <p:cNvPr id="7" name="Text 5"/>
          <p:cNvSpPr/>
          <p:nvPr/>
        </p:nvSpPr>
        <p:spPr>
          <a:xfrm>
            <a:off x="1005840" y="3886200"/>
            <a:ext cx="2788920" cy="1280160"/>
          </a:xfrm>
          <a:prstGeom prst="rect">
            <a:avLst/>
          </a:prstGeom>
          <a:noFill/>
          <a:ln/>
        </p:spPr>
        <p:txBody>
          <a:bodyPr wrap="square" lIns="0" tIns="0" rIns="0" bIns="0" rtlCol="0" anchor="ctr"/>
          <a:lstStyle/>
          <a:p>
            <a:pPr indent="0" marL="0">
              <a:lnSpc>
                <a:spcPct val="120000"/>
              </a:lnSpc>
              <a:buNone/>
            </a:pPr>
            <a:r>
              <a:rPr lang="en-US" sz="1150" dirty="0">
                <a:solidFill>
                  <a:srgbClr val="F3D9DD"/>
                </a:solidFill>
                <a:latin typeface="Calibri" pitchFamily="34" charset="0"/>
                <a:ea typeface="Calibri" pitchFamily="34" charset="-122"/>
                <a:cs typeface="Calibri" pitchFamily="34" charset="-120"/>
              </a:rPr>
              <a:t>the FY2025 numbers with accuracy evidence, the inventory trade-off, and refinements from today’s feedback</a:t>
            </a:r>
            <a:endParaRPr lang="en-US" sz="1150" dirty="0"/>
          </a:p>
        </p:txBody>
      </p:sp>
      <p:sp>
        <p:nvSpPr>
          <p:cNvPr id="8" name="Shape 6"/>
          <p:cNvSpPr/>
          <p:nvPr/>
        </p:nvSpPr>
        <p:spPr>
          <a:xfrm>
            <a:off x="4398264" y="2331720"/>
            <a:ext cx="3429000" cy="2926080"/>
          </a:xfrm>
          <a:prstGeom prst="roundRect">
            <a:avLst>
              <a:gd name="adj" fmla="val 2500"/>
            </a:avLst>
          </a:prstGeom>
          <a:solidFill>
            <a:srgbClr val="1C2530"/>
          </a:solidFill>
          <a:ln w="12700">
            <a:solidFill>
              <a:srgbClr val="1C2530"/>
            </a:solidFill>
            <a:prstDash val="solid"/>
          </a:ln>
        </p:spPr>
      </p:sp>
      <p:sp>
        <p:nvSpPr>
          <p:cNvPr id="9" name="Text 7"/>
          <p:cNvSpPr/>
          <p:nvPr/>
        </p:nvSpPr>
        <p:spPr>
          <a:xfrm>
            <a:off x="4718304" y="2697480"/>
            <a:ext cx="2788920" cy="320040"/>
          </a:xfrm>
          <a:prstGeom prst="rect">
            <a:avLst/>
          </a:prstGeom>
          <a:noFill/>
          <a:ln/>
        </p:spPr>
        <p:txBody>
          <a:bodyPr wrap="square" lIns="0" tIns="0" rIns="0" bIns="0" rtlCol="0" anchor="ctr"/>
          <a:lstStyle/>
          <a:p>
            <a:pPr indent="0" marL="0">
              <a:buNone/>
            </a:pPr>
            <a:r>
              <a:rPr lang="en-US" sz="1050" b="1" spc="200" kern="0" dirty="0">
                <a:solidFill>
                  <a:srgbClr val="9AA4B0"/>
                </a:solidFill>
                <a:latin typeface="Calibri" pitchFamily="34" charset="0"/>
                <a:ea typeface="Calibri" pitchFamily="34" charset="-122"/>
                <a:cs typeface="Calibri" pitchFamily="34" charset="-120"/>
              </a:rPr>
              <a:t>FINAL — 28 SEP</a:t>
            </a:r>
            <a:endParaRPr lang="en-US" sz="1050" dirty="0"/>
          </a:p>
        </p:txBody>
      </p:sp>
      <p:sp>
        <p:nvSpPr>
          <p:cNvPr id="10" name="Text 8"/>
          <p:cNvSpPr/>
          <p:nvPr/>
        </p:nvSpPr>
        <p:spPr>
          <a:xfrm>
            <a:off x="4718304" y="3063240"/>
            <a:ext cx="2788920" cy="777240"/>
          </a:xfrm>
          <a:prstGeom prst="rect">
            <a:avLst/>
          </a:prstGeom>
          <a:noFill/>
          <a:ln/>
        </p:spPr>
        <p:txBody>
          <a:bodyPr wrap="square" lIns="0" tIns="0" rIns="0" bIns="0" rtlCol="0" anchor="ctr"/>
          <a:lstStyle/>
          <a:p>
            <a:pPr indent="0" marL="0">
              <a:buNone/>
            </a:pPr>
            <a:r>
              <a:rPr lang="en-US" sz="1900" b="1" dirty="0">
                <a:solidFill>
                  <a:srgbClr val="F5F7FA"/>
                </a:solidFill>
                <a:latin typeface="Cambria" pitchFamily="34" charset="0"/>
                <a:ea typeface="Cambria" pitchFamily="34" charset="-122"/>
                <a:cs typeface="Cambria" pitchFamily="34" charset="-120"/>
              </a:rPr>
              <a:t>Final forecast &amp; handover</a:t>
            </a:r>
            <a:endParaRPr lang="en-US" sz="1900" dirty="0"/>
          </a:p>
        </p:txBody>
      </p:sp>
      <p:sp>
        <p:nvSpPr>
          <p:cNvPr id="11" name="Text 9"/>
          <p:cNvSpPr/>
          <p:nvPr/>
        </p:nvSpPr>
        <p:spPr>
          <a:xfrm>
            <a:off x="4718304" y="3886200"/>
            <a:ext cx="2788920" cy="1280160"/>
          </a:xfrm>
          <a:prstGeom prst="rect">
            <a:avLst/>
          </a:prstGeom>
          <a:noFill/>
          <a:ln/>
        </p:spPr>
        <p:txBody>
          <a:bodyPr wrap="square" lIns="0" tIns="0" rIns="0" bIns="0" rtlCol="0" anchor="ctr"/>
          <a:lstStyle/>
          <a:p>
            <a:pPr indent="0" marL="0">
              <a:lnSpc>
                <a:spcPct val="120000"/>
              </a:lnSpc>
              <a:buNone/>
            </a:pPr>
            <a:r>
              <a:rPr lang="en-US" sz="1150" dirty="0">
                <a:solidFill>
                  <a:srgbClr val="C9D2DB"/>
                </a:solidFill>
                <a:latin typeface="Calibri" pitchFamily="34" charset="0"/>
                <a:ea typeface="Calibri" pitchFamily="34" charset="-122"/>
                <a:cs typeface="Calibri" pitchFamily="34" charset="-120"/>
              </a:rPr>
              <a:t>final forecast, full written report, documented assumptions, dashboard handed over</a:t>
            </a:r>
            <a:endParaRPr lang="en-US" sz="1150" dirty="0"/>
          </a:p>
        </p:txBody>
      </p:sp>
      <p:sp>
        <p:nvSpPr>
          <p:cNvPr id="12" name="Shape 10"/>
          <p:cNvSpPr/>
          <p:nvPr/>
        </p:nvSpPr>
        <p:spPr>
          <a:xfrm>
            <a:off x="8110728" y="2331720"/>
            <a:ext cx="3429000" cy="2926080"/>
          </a:xfrm>
          <a:prstGeom prst="roundRect">
            <a:avLst>
              <a:gd name="adj" fmla="val 2500"/>
            </a:avLst>
          </a:prstGeom>
          <a:solidFill>
            <a:srgbClr val="1C2530"/>
          </a:solidFill>
          <a:ln w="12700">
            <a:solidFill>
              <a:srgbClr val="1C2530"/>
            </a:solidFill>
            <a:prstDash val="solid"/>
          </a:ln>
        </p:spPr>
      </p:sp>
      <p:sp>
        <p:nvSpPr>
          <p:cNvPr id="13" name="Text 11"/>
          <p:cNvSpPr/>
          <p:nvPr/>
        </p:nvSpPr>
        <p:spPr>
          <a:xfrm>
            <a:off x="8430768" y="2697480"/>
            <a:ext cx="2788920" cy="320040"/>
          </a:xfrm>
          <a:prstGeom prst="rect">
            <a:avLst/>
          </a:prstGeom>
          <a:noFill/>
          <a:ln/>
        </p:spPr>
        <p:txBody>
          <a:bodyPr wrap="square" lIns="0" tIns="0" rIns="0" bIns="0" rtlCol="0" anchor="ctr"/>
          <a:lstStyle/>
          <a:p>
            <a:pPr indent="0" marL="0">
              <a:buNone/>
            </a:pPr>
            <a:r>
              <a:rPr lang="en-US" sz="1050" b="1" spc="200" kern="0" dirty="0">
                <a:solidFill>
                  <a:srgbClr val="9AA4B0"/>
                </a:solidFill>
                <a:latin typeface="Calibri" pitchFamily="34" charset="0"/>
                <a:ea typeface="Calibri" pitchFamily="34" charset="-122"/>
                <a:cs typeface="Calibri" pitchFamily="34" charset="-120"/>
              </a:rPr>
              <a:t>IN BETWEEN</a:t>
            </a:r>
            <a:endParaRPr lang="en-US" sz="1050" dirty="0"/>
          </a:p>
        </p:txBody>
      </p:sp>
      <p:sp>
        <p:nvSpPr>
          <p:cNvPr id="14" name="Text 12"/>
          <p:cNvSpPr/>
          <p:nvPr/>
        </p:nvSpPr>
        <p:spPr>
          <a:xfrm>
            <a:off x="8430768" y="3063240"/>
            <a:ext cx="2788920" cy="777240"/>
          </a:xfrm>
          <a:prstGeom prst="rect">
            <a:avLst/>
          </a:prstGeom>
          <a:noFill/>
          <a:ln/>
        </p:spPr>
        <p:txBody>
          <a:bodyPr wrap="square" lIns="0" tIns="0" rIns="0" bIns="0" rtlCol="0" anchor="ctr"/>
          <a:lstStyle/>
          <a:p>
            <a:pPr indent="0" marL="0">
              <a:buNone/>
            </a:pPr>
            <a:r>
              <a:rPr lang="en-US" sz="1900" b="1" dirty="0">
                <a:solidFill>
                  <a:srgbClr val="F5F7FA"/>
                </a:solidFill>
                <a:latin typeface="Cambria" pitchFamily="34" charset="0"/>
                <a:ea typeface="Cambria" pitchFamily="34" charset="-122"/>
                <a:cs typeface="Cambria" pitchFamily="34" charset="-120"/>
              </a:rPr>
              <a:t>Continuous improvement</a:t>
            </a:r>
            <a:endParaRPr lang="en-US" sz="1900" dirty="0"/>
          </a:p>
        </p:txBody>
      </p:sp>
      <p:sp>
        <p:nvSpPr>
          <p:cNvPr id="15" name="Text 13"/>
          <p:cNvSpPr/>
          <p:nvPr/>
        </p:nvSpPr>
        <p:spPr>
          <a:xfrm>
            <a:off x="8430768" y="3886200"/>
            <a:ext cx="2788920" cy="1280160"/>
          </a:xfrm>
          <a:prstGeom prst="rect">
            <a:avLst/>
          </a:prstGeom>
          <a:noFill/>
          <a:ln/>
        </p:spPr>
        <p:txBody>
          <a:bodyPr wrap="square" lIns="0" tIns="0" rIns="0" bIns="0" rtlCol="0" anchor="ctr"/>
          <a:lstStyle/>
          <a:p>
            <a:pPr indent="0" marL="0">
              <a:lnSpc>
                <a:spcPct val="120000"/>
              </a:lnSpc>
              <a:buNone/>
            </a:pPr>
            <a:r>
              <a:rPr lang="en-US" sz="1150" dirty="0">
                <a:solidFill>
                  <a:srgbClr val="C9D2DB"/>
                </a:solidFill>
                <a:latin typeface="Calibri" pitchFamily="34" charset="0"/>
                <a:ea typeface="Calibri" pitchFamily="34" charset="-122"/>
                <a:cs typeface="Calibri" pitchFamily="34" charset="-120"/>
              </a:rPr>
              <a:t>monthly re-forecasts, a sales-input channel for event-driven products, refinements as new information arrives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C2530"/>
        </a:solidFill>
      </p:bgPr>
    </p:bg>
    <p:spTree>
      <p:nvGrpSpPr>
        <p:cNvPr id="1" name=""/>
        <p:cNvGrpSpPr/>
        <p:nvPr/>
      </p:nvGrpSpPr>
      <p:grpSpPr>
        <a:xfrm>
          <a:off x="0" y="0"/>
          <a:ext cx="0" cy="0"/>
          <a:chOff x="0" y="0"/>
          <a:chExt cx="0" cy="0"/>
        </a:xfrm>
      </p:grpSpPr>
      <p:sp>
        <p:nvSpPr>
          <p:cNvPr id="2" name="Shape 0"/>
          <p:cNvSpPr/>
          <p:nvPr/>
        </p:nvSpPr>
        <p:spPr>
          <a:xfrm>
            <a:off x="9601200" y="-2286000"/>
            <a:ext cx="4754880" cy="4754880"/>
          </a:xfrm>
          <a:prstGeom prst="ellipse">
            <a:avLst/>
          </a:prstGeom>
          <a:solidFill>
            <a:srgbClr val="1C2530"/>
          </a:solidFill>
          <a:ln w="15875">
            <a:solidFill>
              <a:srgbClr val="C8102E"/>
            </a:solidFill>
            <a:prstDash val="solid"/>
          </a:ln>
        </p:spPr>
      </p:sp>
      <p:sp>
        <p:nvSpPr>
          <p:cNvPr id="3" name="Text 1"/>
          <p:cNvSpPr/>
          <p:nvPr/>
        </p:nvSpPr>
        <p:spPr>
          <a:xfrm>
            <a:off x="685800" y="2103120"/>
            <a:ext cx="10817352" cy="320040"/>
          </a:xfrm>
          <a:prstGeom prst="rect">
            <a:avLst/>
          </a:prstGeom>
          <a:noFill/>
          <a:ln/>
        </p:spPr>
        <p:txBody>
          <a:bodyPr wrap="square" lIns="0" tIns="0" rIns="0" bIns="0" rtlCol="0" anchor="ctr"/>
          <a:lstStyle/>
          <a:p>
            <a:pPr indent="0" marL="0">
              <a:buNone/>
            </a:pPr>
            <a:r>
              <a:rPr lang="en-US" sz="1100" b="1" spc="300" kern="0" dirty="0">
                <a:solidFill>
                  <a:srgbClr val="9AA4B0"/>
                </a:solidFill>
                <a:latin typeface="Calibri" pitchFamily="34" charset="0"/>
                <a:ea typeface="Calibri" pitchFamily="34" charset="-122"/>
                <a:cs typeface="Calibri" pitchFamily="34" charset="-120"/>
              </a:rPr>
              <a:t>THANK YOU</a:t>
            </a:r>
            <a:endParaRPr lang="en-US" sz="1100" dirty="0"/>
          </a:p>
        </p:txBody>
      </p:sp>
      <p:sp>
        <p:nvSpPr>
          <p:cNvPr id="4" name="Text 2"/>
          <p:cNvSpPr/>
          <p:nvPr/>
        </p:nvSpPr>
        <p:spPr>
          <a:xfrm>
            <a:off x="685800" y="2560320"/>
            <a:ext cx="9601200" cy="109728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Built. Tested. Improving.</a:t>
            </a:r>
            <a:endParaRPr lang="en-US" sz="4400" dirty="0"/>
          </a:p>
        </p:txBody>
      </p:sp>
      <p:sp>
        <p:nvSpPr>
          <p:cNvPr id="5" name="Text 3"/>
          <p:cNvSpPr/>
          <p:nvPr/>
        </p:nvSpPr>
        <p:spPr>
          <a:xfrm>
            <a:off x="685800" y="3977640"/>
            <a:ext cx="8686800" cy="731520"/>
          </a:xfrm>
          <a:prstGeom prst="rect">
            <a:avLst/>
          </a:prstGeom>
          <a:noFill/>
          <a:ln/>
        </p:spPr>
        <p:txBody>
          <a:bodyPr wrap="square" lIns="0" tIns="0" rIns="0" bIns="0" rtlCol="0" anchor="ctr"/>
          <a:lstStyle/>
          <a:p>
            <a:pPr indent="0" marL="0">
              <a:lnSpc>
                <a:spcPct val="125000"/>
              </a:lnSpc>
              <a:buNone/>
            </a:pPr>
            <a:r>
              <a:rPr lang="en-US" sz="1400" dirty="0">
                <a:solidFill>
                  <a:srgbClr val="A9B4C2"/>
                </a:solidFill>
                <a:latin typeface="Calibri" pitchFamily="34" charset="0"/>
                <a:ea typeface="Calibri" pitchFamily="34" charset="-122"/>
                <a:cs typeface="Calibri" pitchFamily="34" charset="-120"/>
              </a:rPr>
              <a:t>Results and accuracy evidence — semi-final, 7 September.</a:t>
            </a:r>
            <a:endParaRPr lang="en-US" sz="1400" dirty="0"/>
          </a:p>
          <a:p>
            <a:pPr indent="0" marL="0">
              <a:lnSpc>
                <a:spcPct val="125000"/>
              </a:lnSpc>
              <a:buNone/>
            </a:pPr>
            <a:r>
              <a:rPr lang="en-US" sz="1400" dirty="0">
                <a:solidFill>
                  <a:srgbClr val="A9B4C2"/>
                </a:solidFill>
                <a:latin typeface="Calibri" pitchFamily="34" charset="0"/>
                <a:ea typeface="Calibri" pitchFamily="34" charset="-122"/>
                <a:cs typeface="Calibri" pitchFamily="34" charset="-120"/>
              </a:rPr>
              <a:t>Next: a live demonstration of the dashboard.</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2026-08-05T07:27:58Z</dcterms:created>
  <dcterms:modified xsi:type="dcterms:W3CDTF">2026-08-05T07:27:58Z</dcterms:modified>
</cp:coreProperties>
</file>