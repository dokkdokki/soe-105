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a progress report on the Mitsubishi Electric forecasting project: the problem we were given, the work completed so far, and the plan to the semi-final and final presentations.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from Mitsubishi: both surplus and shortage at once, so no just-in-time supply. Our task: a monthly demand forecast for every product, a revenue forecast, and a system their whole team can use. They gave us four fiscal years of order history plus the item and customer masters. (~50s)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project stands today. The heavy engineering is done: data pipeline, the forecasting system itself, and a dashboard Mitsubishi's team can operate without us. A first FY2025 forecast exists end-to-end; we are holding the numbers for the semi-final, once the evidence pack is final. (~55s)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one was the data itself. The good news: Mitsubishi's data is exceptionally clean - the master lists reconcile perfectly. Where we found oddities, we investigated rather than guessed: the duplicate lines turned out to be genuine ERP behaviour, and zero prices are a business convention, not missing data. Everything is documented. (~55s)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analytical finding so far. This catalogue is extremely sparse and extremely concentrated - half a percent of order lines carry 16 percent of volume, and ten customers carry two-thirds of it. Much of this demand is discrete events, not smooth patterns. That diagnosis drives the system design you are about to see, and the roadmap after it. (~55s)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in one slide. We did not pick a model - every product runs a tournament of up to 24 methods, judged on two years we hid from them. Because demand behaviour varies so much across the catalogue, seventeen different methods currently earn their place somewhere. (~50s)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deliverable Mitsubishi's team actually touches. Plain language throughout, every forecast shown next to the evidence behind it, and the key requirement from the brief: anyone can upload a new data file and the entire system re-runs in about two minutes - no code, no analyst. Happy to demo it live afterwards. (~50s)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working method, because for a graded forecast the process is the product. Every improvement idea is scored against a year we hid before any adoption - twelve tested so far, three survived. The failures are documented with their numbers, which is exactly what makes the successes credible.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read every sheet of the supplied documentation, and it paid off twice. First, the status question resolved itself: Closed means cancelled, and our treatment matches. Second, a genuine open item: the dictionary grants VIP customers 37 percent off, but on identical products VIP and End User pay exactly the same Base Price - so the discount is applied somewhere outside this file. That single answer from Mitsubishi is worth 461 million baht of revenue interpretation. (~55s)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from here. Today: the build is done. At the semi-final on 7 September we present the outcomes - the FY2025 numbers with the accuracy evidence behind them, improved by whatever we take from today's discussion. The final on 28 September delivers the final forecast, the written report, and the handover. (~50s)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build phase is complete, the data is understood, and the open questions are on the table. The numbers and their evidence arrive at the semi-final. The dashboard is live if anyone would like to see it now. Thank you. (~30s)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530"/>
        </a:solidFill>
      </p:bgPr>
    </p:bg>
    <p:spTree>
      <p:nvGrpSpPr>
        <p:cNvPr id="1" name=""/>
        <p:cNvGrpSpPr/>
        <p:nvPr/>
      </p:nvGrpSpPr>
      <p:grpSpPr>
        <a:xfrm>
          <a:off x="0" y="0"/>
          <a:ext cx="0" cy="0"/>
          <a:chOff x="0" y="0"/>
          <a:chExt cx="0" cy="0"/>
        </a:xfrm>
      </p:grpSpPr>
      <p:sp>
        <p:nvSpPr>
          <p:cNvPr id="2" name="Shape 0"/>
          <p:cNvSpPr/>
          <p:nvPr/>
        </p:nvSpPr>
        <p:spPr>
          <a:xfrm>
            <a:off x="8686800" y="1371600"/>
            <a:ext cx="4754880" cy="4754880"/>
          </a:xfrm>
          <a:prstGeom prst="ellipse">
            <a:avLst/>
          </a:prstGeom>
          <a:solidFill>
            <a:srgbClr val="1C2530"/>
          </a:solidFill>
          <a:ln w="15875">
            <a:solidFill>
              <a:srgbClr val="C8102E"/>
            </a:solidFill>
            <a:prstDash val="solid"/>
          </a:ln>
        </p:spPr>
      </p:sp>
      <p:sp>
        <p:nvSpPr>
          <p:cNvPr id="3" name="Shape 1"/>
          <p:cNvSpPr/>
          <p:nvPr/>
        </p:nvSpPr>
        <p:spPr>
          <a:xfrm>
            <a:off x="9692640" y="2377440"/>
            <a:ext cx="2743200" cy="2743200"/>
          </a:xfrm>
          <a:prstGeom prst="ellipse">
            <a:avLst/>
          </a:prstGeom>
          <a:solidFill>
            <a:srgbClr val="1C2530"/>
          </a:solidFill>
          <a:ln w="12700">
            <a:solidFill>
              <a:srgbClr val="3A4656"/>
            </a:solidFill>
            <a:prstDash val="solid"/>
          </a:ln>
        </p:spPr>
      </p:sp>
      <p:sp>
        <p:nvSpPr>
          <p:cNvPr id="4" name="Text 2"/>
          <p:cNvSpPr/>
          <p:nvPr/>
        </p:nvSpPr>
        <p:spPr>
          <a:xfrm>
            <a:off x="685800" y="1417320"/>
            <a:ext cx="8229600" cy="320040"/>
          </a:xfrm>
          <a:prstGeom prst="rect">
            <a:avLst/>
          </a:prstGeom>
          <a:noFill/>
          <a:ln/>
        </p:spPr>
        <p:txBody>
          <a:bodyPr wrap="square" lIns="0" tIns="0" rIns="0" bIns="0" rtlCol="0" anchor="ctr"/>
          <a:lstStyle/>
          <a:p>
            <a:pPr indent="0" marL="0">
              <a:buNone/>
            </a:pPr>
            <a:r>
              <a:rPr lang="en-US" sz="1100" b="1" spc="300" kern="0" dirty="0">
                <a:solidFill>
                  <a:srgbClr val="9AA4B0"/>
                </a:solidFill>
                <a:latin typeface="Calibri" pitchFamily="34" charset="0"/>
                <a:ea typeface="Calibri" pitchFamily="34" charset="-122"/>
                <a:cs typeface="Calibri" pitchFamily="34" charset="-120"/>
              </a:rPr>
              <a:t>PROGRESS REPORT  —  ELEMENT OF SUCCESSFUL STARTUP</a:t>
            </a:r>
            <a:endParaRPr lang="en-US" sz="1100" dirty="0"/>
          </a:p>
        </p:txBody>
      </p:sp>
      <p:sp>
        <p:nvSpPr>
          <p:cNvPr id="5" name="Text 3"/>
          <p:cNvSpPr/>
          <p:nvPr/>
        </p:nvSpPr>
        <p:spPr>
          <a:xfrm>
            <a:off x="685800" y="1874520"/>
            <a:ext cx="8778240" cy="2103120"/>
          </a:xfrm>
          <a:prstGeom prst="rect">
            <a:avLst/>
          </a:prstGeom>
          <a:noFill/>
          <a:ln/>
        </p:spPr>
        <p:txBody>
          <a:bodyPr wrap="square" lIns="0" tIns="0" rIns="0" bIns="0" rtlCol="0" anchor="ctr"/>
          <a:lstStyle/>
          <a:p>
            <a:pPr indent="0" marL="0">
              <a:lnSpc>
                <a:spcPct val="105000"/>
              </a:lnSpc>
              <a:buNone/>
            </a:pPr>
            <a:r>
              <a:rPr lang="en-US" sz="4800" b="1" dirty="0">
                <a:solidFill>
                  <a:srgbClr val="FFFFFF"/>
                </a:solidFill>
                <a:latin typeface="Cambria" pitchFamily="34" charset="0"/>
                <a:ea typeface="Cambria" pitchFamily="34" charset="-122"/>
                <a:cs typeface="Cambria" pitchFamily="34" charset="-120"/>
              </a:rPr>
              <a:t>Forecasting demand for</a:t>
            </a:r>
            <a:endParaRPr lang="en-US" sz="4800" dirty="0"/>
          </a:p>
          <a:p>
            <a:pPr indent="0" marL="0">
              <a:lnSpc>
                <a:spcPct val="105000"/>
              </a:lnSpc>
              <a:buNone/>
            </a:pPr>
            <a:r>
              <a:rPr lang="en-US" sz="4800" b="1" dirty="0">
                <a:solidFill>
                  <a:srgbClr val="FFFFFF"/>
                </a:solidFill>
                <a:latin typeface="Cambria" pitchFamily="34" charset="0"/>
                <a:ea typeface="Cambria" pitchFamily="34" charset="-122"/>
                <a:cs typeface="Cambria" pitchFamily="34" charset="-120"/>
              </a:rPr>
              <a:t>Mitsubishi Electric</a:t>
            </a:r>
            <a:endParaRPr lang="en-US" sz="4800" dirty="0"/>
          </a:p>
        </p:txBody>
      </p:sp>
      <p:sp>
        <p:nvSpPr>
          <p:cNvPr id="6" name="Text 4"/>
          <p:cNvSpPr/>
          <p:nvPr/>
        </p:nvSpPr>
        <p:spPr>
          <a:xfrm>
            <a:off x="685800" y="4069080"/>
            <a:ext cx="7772400" cy="777240"/>
          </a:xfrm>
          <a:prstGeom prst="rect">
            <a:avLst/>
          </a:prstGeom>
          <a:noFill/>
          <a:ln/>
        </p:spPr>
        <p:txBody>
          <a:bodyPr wrap="square" lIns="0" tIns="0" rIns="0" bIns="0" rtlCol="0" anchor="ctr"/>
          <a:lstStyle/>
          <a:p>
            <a:pPr indent="0" marL="0">
              <a:lnSpc>
                <a:spcPct val="115000"/>
              </a:lnSpc>
              <a:buNone/>
            </a:pPr>
            <a:r>
              <a:rPr lang="en-US" sz="1500" dirty="0">
                <a:solidFill>
                  <a:srgbClr val="A9B4C2"/>
                </a:solidFill>
                <a:latin typeface="Calibri" pitchFamily="34" charset="0"/>
                <a:ea typeface="Calibri" pitchFamily="34" charset="-122"/>
                <a:cs typeface="Calibri" pitchFamily="34" charset="-120"/>
              </a:rPr>
              <a:t>Where the project stands, what we found in the data,</a:t>
            </a:r>
            <a:endParaRPr lang="en-US" sz="1500" dirty="0"/>
          </a:p>
          <a:p>
            <a:pPr indent="0" marL="0">
              <a:lnSpc>
                <a:spcPct val="115000"/>
              </a:lnSpc>
              <a:buNone/>
            </a:pPr>
            <a:r>
              <a:rPr lang="en-US" sz="1500" dirty="0">
                <a:solidFill>
                  <a:srgbClr val="A9B4C2"/>
                </a:solidFill>
                <a:latin typeface="Calibri" pitchFamily="34" charset="0"/>
                <a:ea typeface="Calibri" pitchFamily="34" charset="-122"/>
                <a:cs typeface="Calibri" pitchFamily="34" charset="-120"/>
              </a:rPr>
              <a:t>and the road to the final forecast.</a:t>
            </a:r>
            <a:endParaRPr lang="en-US" sz="1500" dirty="0"/>
          </a:p>
        </p:txBody>
      </p:sp>
      <p:sp>
        <p:nvSpPr>
          <p:cNvPr id="7" name="Text 5"/>
          <p:cNvSpPr/>
          <p:nvPr/>
        </p:nvSpPr>
        <p:spPr>
          <a:xfrm>
            <a:off x="685800" y="5989320"/>
            <a:ext cx="7315200" cy="320040"/>
          </a:xfrm>
          <a:prstGeom prst="rect">
            <a:avLst/>
          </a:prstGeom>
          <a:noFill/>
          <a:ln/>
        </p:spPr>
        <p:txBody>
          <a:bodyPr wrap="square" lIns="0" tIns="0" rIns="0" bIns="0" rtlCol="0" anchor="ctr"/>
          <a:lstStyle/>
          <a:p>
            <a:pPr indent="0" marL="0">
              <a:buNone/>
            </a:pPr>
            <a:r>
              <a:rPr lang="en-US" sz="1150" dirty="0">
                <a:solidFill>
                  <a:srgbClr val="9AA4B0"/>
                </a:solidFill>
                <a:latin typeface="Calibri" pitchFamily="34" charset="0"/>
                <a:ea typeface="Calibri" pitchFamily="34" charset="-122"/>
                <a:cs typeface="Calibri" pitchFamily="34" charset="-120"/>
              </a:rPr>
              <a:t>Thai-Nichi Institute of Technology   ·   10 August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algn="l" indent="0" marL="0">
              <a:buNone/>
            </a:pPr>
            <a:r>
              <a:rPr lang="en-US" sz="1050" b="1" spc="300" kern="0" dirty="0">
                <a:solidFill>
                  <a:srgbClr val="6B7280"/>
                </a:solidFill>
                <a:latin typeface="Calibri" pitchFamily="34" charset="0"/>
                <a:ea typeface="Calibri" pitchFamily="34" charset="-122"/>
                <a:cs typeface="Calibri" pitchFamily="34" charset="-120"/>
              </a:rPr>
              <a:t>01 — THE PROBLEM</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algn="l" indent="0" marL="0">
              <a:buNone/>
            </a:pPr>
            <a:r>
              <a:rPr lang="en-US" sz="3800" b="1" dirty="0">
                <a:solidFill>
                  <a:srgbClr val="1C2530"/>
                </a:solidFill>
                <a:latin typeface="Cambria" pitchFamily="34" charset="0"/>
                <a:ea typeface="Cambria" pitchFamily="34" charset="-122"/>
                <a:cs typeface="Cambria" pitchFamily="34" charset="-120"/>
              </a:rPr>
              <a:t>Stock surplus and stock shortage, at once.</a:t>
            </a:r>
            <a:endParaRPr lang="en-US" sz="3800" dirty="0"/>
          </a:p>
        </p:txBody>
      </p:sp>
      <p:sp>
        <p:nvSpPr>
          <p:cNvPr id="4" name="Text 2"/>
          <p:cNvSpPr/>
          <p:nvPr/>
        </p:nvSpPr>
        <p:spPr>
          <a:xfrm>
            <a:off x="685800" y="2057400"/>
            <a:ext cx="8778240" cy="868680"/>
          </a:xfrm>
          <a:prstGeom prst="rect">
            <a:avLst/>
          </a:prstGeom>
          <a:noFill/>
          <a:ln/>
        </p:spPr>
        <p:txBody>
          <a:bodyPr wrap="square" lIns="0" tIns="0" rIns="0" bIns="0" rtlCol="0" anchor="ctr"/>
          <a:lstStyle/>
          <a:p>
            <a:pPr indent="0" marL="0">
              <a:lnSpc>
                <a:spcPct val="120000"/>
              </a:lnSpc>
              <a:buNone/>
            </a:pPr>
            <a:r>
              <a:rPr lang="en-US" sz="1500" dirty="0">
                <a:solidFill>
                  <a:srgbClr val="6B7280"/>
                </a:solidFill>
                <a:latin typeface="Calibri" pitchFamily="34" charset="0"/>
                <a:ea typeface="Calibri" pitchFamily="34" charset="-122"/>
                <a:cs typeface="Calibri" pitchFamily="34" charset="-120"/>
              </a:rPr>
              <a:t>Mitsubishi Electric Thailand cannot supply customers just-in-time: some products sit overstocked while others run out. Planning needs forward demand numbers it can trust.</a:t>
            </a:r>
            <a:endParaRPr lang="en-US" sz="1500" dirty="0"/>
          </a:p>
        </p:txBody>
      </p:sp>
      <p:sp>
        <p:nvSpPr>
          <p:cNvPr id="5" name="Text 3"/>
          <p:cNvSpPr/>
          <p:nvPr/>
        </p:nvSpPr>
        <p:spPr>
          <a:xfrm>
            <a:off x="685800" y="3794760"/>
            <a:ext cx="3285744" cy="914400"/>
          </a:xfrm>
          <a:prstGeom prst="rect">
            <a:avLst/>
          </a:prstGeom>
          <a:noFill/>
          <a:ln/>
        </p:spPr>
        <p:txBody>
          <a:bodyPr wrap="square" lIns="0" tIns="0" rIns="0" bIns="0" rtlCol="0" anchor="ctr"/>
          <a:lstStyle/>
          <a:p>
            <a:pPr indent="0" marL="0">
              <a:buNone/>
            </a:pPr>
            <a:r>
              <a:rPr lang="en-US" sz="4000" b="1" dirty="0">
                <a:solidFill>
                  <a:srgbClr val="1C2530"/>
                </a:solidFill>
                <a:latin typeface="Cambria" pitchFamily="34" charset="0"/>
                <a:ea typeface="Cambria" pitchFamily="34" charset="-122"/>
                <a:cs typeface="Cambria" pitchFamily="34" charset="-120"/>
              </a:rPr>
              <a:t>5,706</a:t>
            </a:r>
            <a:endParaRPr lang="en-US" sz="4000" dirty="0"/>
          </a:p>
        </p:txBody>
      </p:sp>
      <p:sp>
        <p:nvSpPr>
          <p:cNvPr id="6" name="Text 4"/>
          <p:cNvSpPr/>
          <p:nvPr/>
        </p:nvSpPr>
        <p:spPr>
          <a:xfrm>
            <a:off x="685800" y="4709160"/>
            <a:ext cx="3285744"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products in the catalogue</a:t>
            </a:r>
            <a:endParaRPr lang="en-US" sz="1200" dirty="0"/>
          </a:p>
        </p:txBody>
      </p:sp>
      <p:sp>
        <p:nvSpPr>
          <p:cNvPr id="7" name="Text 5"/>
          <p:cNvSpPr/>
          <p:nvPr/>
        </p:nvSpPr>
        <p:spPr>
          <a:xfrm>
            <a:off x="4291584" y="3794760"/>
            <a:ext cx="3285744" cy="914400"/>
          </a:xfrm>
          <a:prstGeom prst="rect">
            <a:avLst/>
          </a:prstGeom>
          <a:noFill/>
          <a:ln/>
        </p:spPr>
        <p:txBody>
          <a:bodyPr wrap="square" lIns="0" tIns="0" rIns="0" bIns="0" rtlCol="0" anchor="ctr"/>
          <a:lstStyle/>
          <a:p>
            <a:pPr indent="0" marL="0">
              <a:buNone/>
            </a:pPr>
            <a:r>
              <a:rPr lang="en-US" sz="4000" b="1" dirty="0">
                <a:solidFill>
                  <a:srgbClr val="1C2530"/>
                </a:solidFill>
                <a:latin typeface="Cambria" pitchFamily="34" charset="0"/>
                <a:ea typeface="Cambria" pitchFamily="34" charset="-122"/>
                <a:cs typeface="Cambria" pitchFamily="34" charset="-120"/>
              </a:rPr>
              <a:t>272,000</a:t>
            </a:r>
            <a:endParaRPr lang="en-US" sz="4000" dirty="0"/>
          </a:p>
        </p:txBody>
      </p:sp>
      <p:sp>
        <p:nvSpPr>
          <p:cNvPr id="8" name="Text 6"/>
          <p:cNvSpPr/>
          <p:nvPr/>
        </p:nvSpPr>
        <p:spPr>
          <a:xfrm>
            <a:off x="4291584" y="4709160"/>
            <a:ext cx="3285744"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order lines, four fiscal years</a:t>
            </a:r>
            <a:endParaRPr lang="en-US" sz="1200" dirty="0"/>
          </a:p>
        </p:txBody>
      </p:sp>
      <p:sp>
        <p:nvSpPr>
          <p:cNvPr id="9" name="Text 7"/>
          <p:cNvSpPr/>
          <p:nvPr/>
        </p:nvSpPr>
        <p:spPr>
          <a:xfrm>
            <a:off x="7897368" y="3794760"/>
            <a:ext cx="3285744" cy="914400"/>
          </a:xfrm>
          <a:prstGeom prst="rect">
            <a:avLst/>
          </a:prstGeom>
          <a:noFill/>
          <a:ln/>
        </p:spPr>
        <p:txBody>
          <a:bodyPr wrap="square" lIns="0" tIns="0" rIns="0" bIns="0" rtlCol="0" anchor="ctr"/>
          <a:lstStyle/>
          <a:p>
            <a:pPr indent="0" marL="0">
              <a:buNone/>
            </a:pPr>
            <a:r>
              <a:rPr lang="en-US" sz="4000" b="1" dirty="0">
                <a:solidFill>
                  <a:srgbClr val="1C2530"/>
                </a:solidFill>
                <a:latin typeface="Cambria" pitchFamily="34" charset="0"/>
                <a:ea typeface="Cambria" pitchFamily="34" charset="-122"/>
                <a:cs typeface="Cambria" pitchFamily="34" charset="-120"/>
              </a:rPr>
              <a:t>48</a:t>
            </a:r>
            <a:endParaRPr lang="en-US" sz="4000" dirty="0"/>
          </a:p>
        </p:txBody>
      </p:sp>
      <p:sp>
        <p:nvSpPr>
          <p:cNvPr id="10" name="Text 8"/>
          <p:cNvSpPr/>
          <p:nvPr/>
        </p:nvSpPr>
        <p:spPr>
          <a:xfrm>
            <a:off x="7897368" y="4709160"/>
            <a:ext cx="3285744"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months of history — FY2021 to FY2024</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algn="l" indent="0" marL="0">
              <a:buNone/>
            </a:pPr>
            <a:r>
              <a:rPr lang="en-US" sz="1050" b="1" spc="300" kern="0" dirty="0">
                <a:solidFill>
                  <a:srgbClr val="6B7280"/>
                </a:solidFill>
                <a:latin typeface="Calibri" pitchFamily="34" charset="0"/>
                <a:ea typeface="Calibri" pitchFamily="34" charset="-122"/>
                <a:cs typeface="Calibri" pitchFamily="34" charset="-120"/>
              </a:rPr>
              <a:t>02 — WHERE WE STAND</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algn="l" indent="0" marL="0">
              <a:buNone/>
            </a:pPr>
            <a:r>
              <a:rPr lang="en-US" sz="3800" b="1" dirty="0">
                <a:solidFill>
                  <a:srgbClr val="1C2530"/>
                </a:solidFill>
                <a:latin typeface="Cambria" pitchFamily="34" charset="0"/>
                <a:ea typeface="Cambria" pitchFamily="34" charset="-122"/>
                <a:cs typeface="Cambria" pitchFamily="34" charset="-120"/>
              </a:rPr>
              <a:t>The build phase is complete.</a:t>
            </a:r>
            <a:endParaRPr lang="en-US" sz="3800" dirty="0"/>
          </a:p>
        </p:txBody>
      </p:sp>
      <p:sp>
        <p:nvSpPr>
          <p:cNvPr id="4" name="Text 2"/>
          <p:cNvSpPr/>
          <p:nvPr/>
        </p:nvSpPr>
        <p:spPr>
          <a:xfrm>
            <a:off x="685800" y="2313432"/>
            <a:ext cx="777240" cy="548640"/>
          </a:xfrm>
          <a:prstGeom prst="rect">
            <a:avLst/>
          </a:prstGeom>
          <a:noFill/>
          <a:ln/>
        </p:spPr>
        <p:txBody>
          <a:bodyPr wrap="square" lIns="0" tIns="0" rIns="0" bIns="0" rtlCol="0" anchor="ctr"/>
          <a:lstStyle/>
          <a:p>
            <a:pPr indent="0" marL="0">
              <a:buNone/>
            </a:pPr>
            <a:r>
              <a:rPr lang="en-US" sz="2200" i="1" dirty="0">
                <a:solidFill>
                  <a:srgbClr val="C8102E"/>
                </a:solidFill>
                <a:latin typeface="Cambria" pitchFamily="34" charset="0"/>
                <a:ea typeface="Cambria" pitchFamily="34" charset="-122"/>
                <a:cs typeface="Cambria" pitchFamily="34" charset="-120"/>
              </a:rPr>
              <a:t>01</a:t>
            </a:r>
            <a:endParaRPr lang="en-US" sz="2200" dirty="0"/>
          </a:p>
        </p:txBody>
      </p:sp>
      <p:sp>
        <p:nvSpPr>
          <p:cNvPr id="5" name="Text 3"/>
          <p:cNvSpPr/>
          <p:nvPr/>
        </p:nvSpPr>
        <p:spPr>
          <a:xfrm>
            <a:off x="1645920" y="2286000"/>
            <a:ext cx="4480560" cy="548640"/>
          </a:xfrm>
          <a:prstGeom prst="rect">
            <a:avLst/>
          </a:prstGeom>
          <a:noFill/>
          <a:ln/>
        </p:spPr>
        <p:txBody>
          <a:bodyPr wrap="square" lIns="0" tIns="0" rIns="0" bIns="0" rtlCol="0" anchor="ctr"/>
          <a:lstStyle/>
          <a:p>
            <a:pPr indent="0" marL="0">
              <a:buNone/>
            </a:pPr>
            <a:r>
              <a:rPr lang="en-US" sz="1550" b="1" dirty="0">
                <a:solidFill>
                  <a:srgbClr val="1C2530"/>
                </a:solidFill>
                <a:latin typeface="Calibri" pitchFamily="34" charset="0"/>
                <a:ea typeface="Calibri" pitchFamily="34" charset="-122"/>
                <a:cs typeface="Calibri" pitchFamily="34" charset="-120"/>
              </a:rPr>
              <a:t>Data cleaned and reconciled</a:t>
            </a:r>
            <a:endParaRPr lang="en-US" sz="1550" dirty="0"/>
          </a:p>
        </p:txBody>
      </p:sp>
      <p:sp>
        <p:nvSpPr>
          <p:cNvPr id="6" name="Text 4"/>
          <p:cNvSpPr/>
          <p:nvPr/>
        </p:nvSpPr>
        <p:spPr>
          <a:xfrm>
            <a:off x="6355080" y="2322576"/>
            <a:ext cx="5148072" cy="594360"/>
          </a:xfrm>
          <a:prstGeom prst="rect">
            <a:avLst/>
          </a:prstGeom>
          <a:noFill/>
          <a:ln/>
        </p:spPr>
        <p:txBody>
          <a:bodyPr wrap="square" lIns="0" tIns="0" rIns="0" bIns="0" rtlCol="0" anchor="ctr"/>
          <a:lstStyle/>
          <a:p>
            <a:pPr indent="0" marL="0">
              <a:lnSpc>
                <a:spcPct val="110000"/>
              </a:lnSpc>
              <a:buNone/>
            </a:pPr>
            <a:r>
              <a:rPr lang="en-US" sz="1150" dirty="0">
                <a:solidFill>
                  <a:srgbClr val="6B7280"/>
                </a:solidFill>
                <a:latin typeface="Calibri" pitchFamily="34" charset="0"/>
                <a:ea typeface="Calibri" pitchFamily="34" charset="-122"/>
                <a:cs typeface="Calibri" pitchFamily="34" charset="-120"/>
              </a:rPr>
              <a:t>every order line checked against both master lists; every decision documented</a:t>
            </a:r>
            <a:endParaRPr lang="en-US" sz="1150" dirty="0"/>
          </a:p>
        </p:txBody>
      </p:sp>
      <p:sp>
        <p:nvSpPr>
          <p:cNvPr id="7" name="Shape 5"/>
          <p:cNvSpPr/>
          <p:nvPr/>
        </p:nvSpPr>
        <p:spPr>
          <a:xfrm>
            <a:off x="685800" y="3035808"/>
            <a:ext cx="10817352" cy="0"/>
          </a:xfrm>
          <a:prstGeom prst="line">
            <a:avLst/>
          </a:prstGeom>
          <a:noFill/>
          <a:ln w="9525">
            <a:solidFill>
              <a:srgbClr val="E2E6EA"/>
            </a:solidFill>
            <a:prstDash val="solid"/>
          </a:ln>
        </p:spPr>
      </p:sp>
      <p:sp>
        <p:nvSpPr>
          <p:cNvPr id="8" name="Text 6"/>
          <p:cNvSpPr/>
          <p:nvPr/>
        </p:nvSpPr>
        <p:spPr>
          <a:xfrm>
            <a:off x="685800" y="3209544"/>
            <a:ext cx="777240" cy="548640"/>
          </a:xfrm>
          <a:prstGeom prst="rect">
            <a:avLst/>
          </a:prstGeom>
          <a:noFill/>
          <a:ln/>
        </p:spPr>
        <p:txBody>
          <a:bodyPr wrap="square" lIns="0" tIns="0" rIns="0" bIns="0" rtlCol="0" anchor="ctr"/>
          <a:lstStyle/>
          <a:p>
            <a:pPr indent="0" marL="0">
              <a:buNone/>
            </a:pPr>
            <a:r>
              <a:rPr lang="en-US" sz="2200" i="1" dirty="0">
                <a:solidFill>
                  <a:srgbClr val="C8102E"/>
                </a:solidFill>
                <a:latin typeface="Cambria" pitchFamily="34" charset="0"/>
                <a:ea typeface="Cambria" pitchFamily="34" charset="-122"/>
                <a:cs typeface="Cambria" pitchFamily="34" charset="-120"/>
              </a:rPr>
              <a:t>02</a:t>
            </a:r>
            <a:endParaRPr lang="en-US" sz="2200" dirty="0"/>
          </a:p>
        </p:txBody>
      </p:sp>
      <p:sp>
        <p:nvSpPr>
          <p:cNvPr id="9" name="Text 7"/>
          <p:cNvSpPr/>
          <p:nvPr/>
        </p:nvSpPr>
        <p:spPr>
          <a:xfrm>
            <a:off x="1645920" y="3182112"/>
            <a:ext cx="4480560" cy="548640"/>
          </a:xfrm>
          <a:prstGeom prst="rect">
            <a:avLst/>
          </a:prstGeom>
          <a:noFill/>
          <a:ln/>
        </p:spPr>
        <p:txBody>
          <a:bodyPr wrap="square" lIns="0" tIns="0" rIns="0" bIns="0" rtlCol="0" anchor="ctr"/>
          <a:lstStyle/>
          <a:p>
            <a:pPr indent="0" marL="0">
              <a:buNone/>
            </a:pPr>
            <a:r>
              <a:rPr lang="en-US" sz="1550" b="1" dirty="0">
                <a:solidFill>
                  <a:srgbClr val="1C2530"/>
                </a:solidFill>
                <a:latin typeface="Calibri" pitchFamily="34" charset="0"/>
                <a:ea typeface="Calibri" pitchFamily="34" charset="-122"/>
                <a:cs typeface="Calibri" pitchFamily="34" charset="-120"/>
              </a:rPr>
              <a:t>Forecasting system built</a:t>
            </a:r>
            <a:endParaRPr lang="en-US" sz="1550" dirty="0"/>
          </a:p>
        </p:txBody>
      </p:sp>
      <p:sp>
        <p:nvSpPr>
          <p:cNvPr id="10" name="Text 8"/>
          <p:cNvSpPr/>
          <p:nvPr/>
        </p:nvSpPr>
        <p:spPr>
          <a:xfrm>
            <a:off x="6355080" y="3218688"/>
            <a:ext cx="5148072" cy="594360"/>
          </a:xfrm>
          <a:prstGeom prst="rect">
            <a:avLst/>
          </a:prstGeom>
          <a:noFill/>
          <a:ln/>
        </p:spPr>
        <p:txBody>
          <a:bodyPr wrap="square" lIns="0" tIns="0" rIns="0" bIns="0" rtlCol="0" anchor="ctr"/>
          <a:lstStyle/>
          <a:p>
            <a:pPr indent="0" marL="0">
              <a:lnSpc>
                <a:spcPct val="110000"/>
              </a:lnSpc>
              <a:buNone/>
            </a:pPr>
            <a:r>
              <a:rPr lang="en-US" sz="1150" dirty="0">
                <a:solidFill>
                  <a:srgbClr val="6B7280"/>
                </a:solidFill>
                <a:latin typeface="Calibri" pitchFamily="34" charset="0"/>
                <a:ea typeface="Calibri" pitchFamily="34" charset="-122"/>
                <a:cs typeface="Calibri" pitchFamily="34" charset="-120"/>
              </a:rPr>
              <a:t>per-product method competition, validated by back-testing on withheld years</a:t>
            </a:r>
            <a:endParaRPr lang="en-US" sz="1150" dirty="0"/>
          </a:p>
        </p:txBody>
      </p:sp>
      <p:sp>
        <p:nvSpPr>
          <p:cNvPr id="11" name="Shape 9"/>
          <p:cNvSpPr/>
          <p:nvPr/>
        </p:nvSpPr>
        <p:spPr>
          <a:xfrm>
            <a:off x="685800" y="3931920"/>
            <a:ext cx="10817352" cy="0"/>
          </a:xfrm>
          <a:prstGeom prst="line">
            <a:avLst/>
          </a:prstGeom>
          <a:noFill/>
          <a:ln w="9525">
            <a:solidFill>
              <a:srgbClr val="E2E6EA"/>
            </a:solidFill>
            <a:prstDash val="solid"/>
          </a:ln>
        </p:spPr>
      </p:sp>
      <p:sp>
        <p:nvSpPr>
          <p:cNvPr id="12" name="Text 10"/>
          <p:cNvSpPr/>
          <p:nvPr/>
        </p:nvSpPr>
        <p:spPr>
          <a:xfrm>
            <a:off x="685800" y="4105656"/>
            <a:ext cx="777240" cy="548640"/>
          </a:xfrm>
          <a:prstGeom prst="rect">
            <a:avLst/>
          </a:prstGeom>
          <a:noFill/>
          <a:ln/>
        </p:spPr>
        <p:txBody>
          <a:bodyPr wrap="square" lIns="0" tIns="0" rIns="0" bIns="0" rtlCol="0" anchor="ctr"/>
          <a:lstStyle/>
          <a:p>
            <a:pPr indent="0" marL="0">
              <a:buNone/>
            </a:pPr>
            <a:r>
              <a:rPr lang="en-US" sz="2200" i="1" dirty="0">
                <a:solidFill>
                  <a:srgbClr val="C8102E"/>
                </a:solidFill>
                <a:latin typeface="Cambria" pitchFamily="34" charset="0"/>
                <a:ea typeface="Cambria" pitchFamily="34" charset="-122"/>
                <a:cs typeface="Cambria" pitchFamily="34" charset="-120"/>
              </a:rPr>
              <a:t>03</a:t>
            </a:r>
            <a:endParaRPr lang="en-US" sz="2200" dirty="0"/>
          </a:p>
        </p:txBody>
      </p:sp>
      <p:sp>
        <p:nvSpPr>
          <p:cNvPr id="13" name="Text 11"/>
          <p:cNvSpPr/>
          <p:nvPr/>
        </p:nvSpPr>
        <p:spPr>
          <a:xfrm>
            <a:off x="1645920" y="4078224"/>
            <a:ext cx="4480560" cy="548640"/>
          </a:xfrm>
          <a:prstGeom prst="rect">
            <a:avLst/>
          </a:prstGeom>
          <a:noFill/>
          <a:ln/>
        </p:spPr>
        <p:txBody>
          <a:bodyPr wrap="square" lIns="0" tIns="0" rIns="0" bIns="0" rtlCol="0" anchor="ctr"/>
          <a:lstStyle/>
          <a:p>
            <a:pPr indent="0" marL="0">
              <a:buNone/>
            </a:pPr>
            <a:r>
              <a:rPr lang="en-US" sz="1550" b="1" dirty="0">
                <a:solidFill>
                  <a:srgbClr val="1C2530"/>
                </a:solidFill>
                <a:latin typeface="Calibri" pitchFamily="34" charset="0"/>
                <a:ea typeface="Calibri" pitchFamily="34" charset="-122"/>
                <a:cs typeface="Calibri" pitchFamily="34" charset="-120"/>
              </a:rPr>
              <a:t>Planning dashboard live</a:t>
            </a:r>
            <a:endParaRPr lang="en-US" sz="1550" dirty="0"/>
          </a:p>
        </p:txBody>
      </p:sp>
      <p:sp>
        <p:nvSpPr>
          <p:cNvPr id="14" name="Text 12"/>
          <p:cNvSpPr/>
          <p:nvPr/>
        </p:nvSpPr>
        <p:spPr>
          <a:xfrm>
            <a:off x="6355080" y="4114800"/>
            <a:ext cx="5148072" cy="594360"/>
          </a:xfrm>
          <a:prstGeom prst="rect">
            <a:avLst/>
          </a:prstGeom>
          <a:noFill/>
          <a:ln/>
        </p:spPr>
        <p:txBody>
          <a:bodyPr wrap="square" lIns="0" tIns="0" rIns="0" bIns="0" rtlCol="0" anchor="ctr"/>
          <a:lstStyle/>
          <a:p>
            <a:pPr indent="0" marL="0">
              <a:lnSpc>
                <a:spcPct val="110000"/>
              </a:lnSpc>
              <a:buNone/>
            </a:pPr>
            <a:r>
              <a:rPr lang="en-US" sz="1150" dirty="0">
                <a:solidFill>
                  <a:srgbClr val="6B7280"/>
                </a:solidFill>
                <a:latin typeface="Calibri" pitchFamily="34" charset="0"/>
                <a:ea typeface="Calibri" pitchFamily="34" charset="-122"/>
                <a:cs typeface="Calibri" pitchFamily="34" charset="-120"/>
              </a:rPr>
              <a:t>eight pages, written for non-analysts; new data re-runs everything in two minutes</a:t>
            </a:r>
            <a:endParaRPr lang="en-US" sz="1150" dirty="0"/>
          </a:p>
        </p:txBody>
      </p:sp>
      <p:sp>
        <p:nvSpPr>
          <p:cNvPr id="15" name="Shape 13"/>
          <p:cNvSpPr/>
          <p:nvPr/>
        </p:nvSpPr>
        <p:spPr>
          <a:xfrm>
            <a:off x="685800" y="4828032"/>
            <a:ext cx="10817352" cy="0"/>
          </a:xfrm>
          <a:prstGeom prst="line">
            <a:avLst/>
          </a:prstGeom>
          <a:noFill/>
          <a:ln w="9525">
            <a:solidFill>
              <a:srgbClr val="E2E6EA"/>
            </a:solidFill>
            <a:prstDash val="solid"/>
          </a:ln>
        </p:spPr>
      </p:sp>
      <p:sp>
        <p:nvSpPr>
          <p:cNvPr id="16" name="Text 14"/>
          <p:cNvSpPr/>
          <p:nvPr/>
        </p:nvSpPr>
        <p:spPr>
          <a:xfrm>
            <a:off x="685800" y="5001768"/>
            <a:ext cx="777240" cy="548640"/>
          </a:xfrm>
          <a:prstGeom prst="rect">
            <a:avLst/>
          </a:prstGeom>
          <a:noFill/>
          <a:ln/>
        </p:spPr>
        <p:txBody>
          <a:bodyPr wrap="square" lIns="0" tIns="0" rIns="0" bIns="0" rtlCol="0" anchor="ctr"/>
          <a:lstStyle/>
          <a:p>
            <a:pPr indent="0" marL="0">
              <a:buNone/>
            </a:pPr>
            <a:r>
              <a:rPr lang="en-US" sz="2200" i="1" dirty="0">
                <a:solidFill>
                  <a:srgbClr val="C8102E"/>
                </a:solidFill>
                <a:latin typeface="Cambria" pitchFamily="34" charset="0"/>
                <a:ea typeface="Cambria" pitchFamily="34" charset="-122"/>
                <a:cs typeface="Cambria" pitchFamily="34" charset="-120"/>
              </a:rPr>
              <a:t>04</a:t>
            </a:r>
            <a:endParaRPr lang="en-US" sz="2200" dirty="0"/>
          </a:p>
        </p:txBody>
      </p:sp>
      <p:sp>
        <p:nvSpPr>
          <p:cNvPr id="17" name="Text 15"/>
          <p:cNvSpPr/>
          <p:nvPr/>
        </p:nvSpPr>
        <p:spPr>
          <a:xfrm>
            <a:off x="1645920" y="4974336"/>
            <a:ext cx="4480560" cy="548640"/>
          </a:xfrm>
          <a:prstGeom prst="rect">
            <a:avLst/>
          </a:prstGeom>
          <a:noFill/>
          <a:ln/>
        </p:spPr>
        <p:txBody>
          <a:bodyPr wrap="square" lIns="0" tIns="0" rIns="0" bIns="0" rtlCol="0" anchor="ctr"/>
          <a:lstStyle/>
          <a:p>
            <a:pPr indent="0" marL="0">
              <a:buNone/>
            </a:pPr>
            <a:r>
              <a:rPr lang="en-US" sz="1550" b="1" dirty="0">
                <a:solidFill>
                  <a:srgbClr val="1C2530"/>
                </a:solidFill>
                <a:latin typeface="Calibri" pitchFamily="34" charset="0"/>
                <a:ea typeface="Calibri" pitchFamily="34" charset="-122"/>
                <a:cs typeface="Calibri" pitchFamily="34" charset="-120"/>
              </a:rPr>
              <a:t>FY2025 forecast produced</a:t>
            </a:r>
            <a:endParaRPr lang="en-US" sz="1550" dirty="0"/>
          </a:p>
        </p:txBody>
      </p:sp>
      <p:sp>
        <p:nvSpPr>
          <p:cNvPr id="18" name="Text 16"/>
          <p:cNvSpPr/>
          <p:nvPr/>
        </p:nvSpPr>
        <p:spPr>
          <a:xfrm>
            <a:off x="6355080" y="5010912"/>
            <a:ext cx="5148072" cy="594360"/>
          </a:xfrm>
          <a:prstGeom prst="rect">
            <a:avLst/>
          </a:prstGeom>
          <a:noFill/>
          <a:ln/>
        </p:spPr>
        <p:txBody>
          <a:bodyPr wrap="square" lIns="0" tIns="0" rIns="0" bIns="0" rtlCol="0" anchor="ctr"/>
          <a:lstStyle/>
          <a:p>
            <a:pPr indent="0" marL="0">
              <a:lnSpc>
                <a:spcPct val="110000"/>
              </a:lnSpc>
              <a:buNone/>
            </a:pPr>
            <a:r>
              <a:rPr lang="en-US" sz="1150" dirty="0">
                <a:solidFill>
                  <a:srgbClr val="6B7280"/>
                </a:solidFill>
                <a:latin typeface="Calibri" pitchFamily="34" charset="0"/>
                <a:ea typeface="Calibri" pitchFamily="34" charset="-122"/>
                <a:cs typeface="Calibri" pitchFamily="34" charset="-120"/>
              </a:rPr>
              <a:t>first full run complete — results and accuracy evidence presented at the semi-final</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algn="l" indent="0" marL="0">
              <a:buNone/>
            </a:pPr>
            <a:r>
              <a:rPr lang="en-US" sz="1050" b="1" spc="300" kern="0" dirty="0">
                <a:solidFill>
                  <a:srgbClr val="6B7280"/>
                </a:solidFill>
                <a:latin typeface="Calibri" pitchFamily="34" charset="0"/>
                <a:ea typeface="Calibri" pitchFamily="34" charset="-122"/>
                <a:cs typeface="Calibri" pitchFamily="34" charset="-120"/>
              </a:rPr>
              <a:t>03 — WORK DONE: THE DATA</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algn="l" indent="0" marL="0">
              <a:buNone/>
            </a:pPr>
            <a:r>
              <a:rPr lang="en-US" sz="3800" b="1" dirty="0">
                <a:solidFill>
                  <a:srgbClr val="1C2530"/>
                </a:solidFill>
                <a:latin typeface="Cambria" pitchFamily="34" charset="0"/>
                <a:ea typeface="Cambria" pitchFamily="34" charset="-122"/>
                <a:cs typeface="Cambria" pitchFamily="34" charset="-120"/>
              </a:rPr>
              <a:t>Cleaned, reconciled, understood.</a:t>
            </a:r>
            <a:endParaRPr lang="en-US" sz="3800" dirty="0"/>
          </a:p>
        </p:txBody>
      </p:sp>
      <p:sp>
        <p:nvSpPr>
          <p:cNvPr id="4" name="Text 2"/>
          <p:cNvSpPr/>
          <p:nvPr/>
        </p:nvSpPr>
        <p:spPr>
          <a:xfrm>
            <a:off x="685800" y="2286000"/>
            <a:ext cx="4023360" cy="548640"/>
          </a:xfrm>
          <a:prstGeom prst="rect">
            <a:avLst/>
          </a:prstGeom>
          <a:noFill/>
          <a:ln/>
        </p:spPr>
        <p:txBody>
          <a:bodyPr wrap="square" lIns="0" tIns="0" rIns="0" bIns="0" rtlCol="0" anchor="ctr"/>
          <a:lstStyle/>
          <a:p>
            <a:pPr indent="0" marL="0">
              <a:buNone/>
            </a:pPr>
            <a:r>
              <a:rPr lang="en-US" sz="1500" b="1" dirty="0">
                <a:solidFill>
                  <a:srgbClr val="1C2530"/>
                </a:solidFill>
                <a:latin typeface="Calibri" pitchFamily="34" charset="0"/>
                <a:ea typeface="Calibri" pitchFamily="34" charset="-122"/>
                <a:cs typeface="Calibri" pitchFamily="34" charset="-120"/>
              </a:rPr>
              <a:t>Perfect reconciliation</a:t>
            </a:r>
            <a:endParaRPr lang="en-US" sz="1500" dirty="0"/>
          </a:p>
        </p:txBody>
      </p:sp>
      <p:sp>
        <p:nvSpPr>
          <p:cNvPr id="5" name="Text 3"/>
          <p:cNvSpPr/>
          <p:nvPr/>
        </p:nvSpPr>
        <p:spPr>
          <a:xfrm>
            <a:off x="5074920" y="2313432"/>
            <a:ext cx="6428232" cy="594360"/>
          </a:xfrm>
          <a:prstGeom prst="rect">
            <a:avLst/>
          </a:prstGeom>
          <a:noFill/>
          <a:ln/>
        </p:spPr>
        <p:txBody>
          <a:bodyPr wrap="square" lIns="0" tIns="0" rIns="0" bIns="0" rtlCol="0" anchor="ctr"/>
          <a:lstStyle/>
          <a:p>
            <a:pPr indent="0" marL="0">
              <a:lnSpc>
                <a:spcPct val="110000"/>
              </a:lnSpc>
              <a:buNone/>
            </a:pPr>
            <a:r>
              <a:rPr lang="en-US" sz="1150" dirty="0">
                <a:solidFill>
                  <a:srgbClr val="6B7280"/>
                </a:solidFill>
                <a:latin typeface="Calibri" pitchFamily="34" charset="0"/>
                <a:ea typeface="Calibri" pitchFamily="34" charset="-122"/>
                <a:cs typeface="Calibri" pitchFamily="34" charset="-120"/>
              </a:rPr>
              <a:t>every product and customer in the sales history exists in the master lists — no orphans</a:t>
            </a:r>
            <a:endParaRPr lang="en-US" sz="1150" dirty="0"/>
          </a:p>
        </p:txBody>
      </p:sp>
      <p:sp>
        <p:nvSpPr>
          <p:cNvPr id="6" name="Shape 4"/>
          <p:cNvSpPr/>
          <p:nvPr/>
        </p:nvSpPr>
        <p:spPr>
          <a:xfrm>
            <a:off x="685800" y="3035808"/>
            <a:ext cx="10817352" cy="0"/>
          </a:xfrm>
          <a:prstGeom prst="line">
            <a:avLst/>
          </a:prstGeom>
          <a:noFill/>
          <a:ln w="9525">
            <a:solidFill>
              <a:srgbClr val="E2E6EA"/>
            </a:solidFill>
            <a:prstDash val="solid"/>
          </a:ln>
        </p:spPr>
      </p:sp>
      <p:sp>
        <p:nvSpPr>
          <p:cNvPr id="7" name="Text 5"/>
          <p:cNvSpPr/>
          <p:nvPr/>
        </p:nvSpPr>
        <p:spPr>
          <a:xfrm>
            <a:off x="685800" y="3182112"/>
            <a:ext cx="4023360" cy="548640"/>
          </a:xfrm>
          <a:prstGeom prst="rect">
            <a:avLst/>
          </a:prstGeom>
          <a:noFill/>
          <a:ln/>
        </p:spPr>
        <p:txBody>
          <a:bodyPr wrap="square" lIns="0" tIns="0" rIns="0" bIns="0" rtlCol="0" anchor="ctr"/>
          <a:lstStyle/>
          <a:p>
            <a:pPr indent="0" marL="0">
              <a:buNone/>
            </a:pPr>
            <a:r>
              <a:rPr lang="en-US" sz="1500" b="1" dirty="0">
                <a:solidFill>
                  <a:srgbClr val="1C2530"/>
                </a:solidFill>
                <a:latin typeface="Calibri" pitchFamily="34" charset="0"/>
                <a:ea typeface="Calibri" pitchFamily="34" charset="-122"/>
                <a:cs typeface="Calibri" pitchFamily="34" charset="-120"/>
              </a:rPr>
              <a:t>Duplicates investigated</a:t>
            </a:r>
            <a:endParaRPr lang="en-US" sz="1500" dirty="0"/>
          </a:p>
        </p:txBody>
      </p:sp>
      <p:sp>
        <p:nvSpPr>
          <p:cNvPr id="8" name="Text 6"/>
          <p:cNvSpPr/>
          <p:nvPr/>
        </p:nvSpPr>
        <p:spPr>
          <a:xfrm>
            <a:off x="5074920" y="3209544"/>
            <a:ext cx="6428232" cy="594360"/>
          </a:xfrm>
          <a:prstGeom prst="rect">
            <a:avLst/>
          </a:prstGeom>
          <a:noFill/>
          <a:ln/>
        </p:spPr>
        <p:txBody>
          <a:bodyPr wrap="square" lIns="0" tIns="0" rIns="0" bIns="0" rtlCol="0" anchor="ctr"/>
          <a:lstStyle/>
          <a:p>
            <a:pPr indent="0" marL="0">
              <a:lnSpc>
                <a:spcPct val="110000"/>
              </a:lnSpc>
              <a:buNone/>
            </a:pPr>
            <a:r>
              <a:rPr lang="en-US" sz="1150" dirty="0">
                <a:solidFill>
                  <a:srgbClr val="6B7280"/>
                </a:solidFill>
                <a:latin typeface="Calibri" pitchFamily="34" charset="0"/>
                <a:ea typeface="Calibri" pitchFamily="34" charset="-122"/>
                <a:cs typeface="Calibri" pitchFamily="34" charset="-120"/>
              </a:rPr>
              <a:t>6,865 identical lines forensically tested — genuine ERP entries, kept with evidence</a:t>
            </a:r>
            <a:endParaRPr lang="en-US" sz="1150" dirty="0"/>
          </a:p>
        </p:txBody>
      </p:sp>
      <p:sp>
        <p:nvSpPr>
          <p:cNvPr id="9" name="Shape 7"/>
          <p:cNvSpPr/>
          <p:nvPr/>
        </p:nvSpPr>
        <p:spPr>
          <a:xfrm>
            <a:off x="685800" y="3931920"/>
            <a:ext cx="10817352" cy="0"/>
          </a:xfrm>
          <a:prstGeom prst="line">
            <a:avLst/>
          </a:prstGeom>
          <a:noFill/>
          <a:ln w="9525">
            <a:solidFill>
              <a:srgbClr val="E2E6EA"/>
            </a:solidFill>
            <a:prstDash val="solid"/>
          </a:ln>
        </p:spPr>
      </p:sp>
      <p:sp>
        <p:nvSpPr>
          <p:cNvPr id="10" name="Text 8"/>
          <p:cNvSpPr/>
          <p:nvPr/>
        </p:nvSpPr>
        <p:spPr>
          <a:xfrm>
            <a:off x="685800" y="4078224"/>
            <a:ext cx="4023360" cy="548640"/>
          </a:xfrm>
          <a:prstGeom prst="rect">
            <a:avLst/>
          </a:prstGeom>
          <a:noFill/>
          <a:ln/>
        </p:spPr>
        <p:txBody>
          <a:bodyPr wrap="square" lIns="0" tIns="0" rIns="0" bIns="0" rtlCol="0" anchor="ctr"/>
          <a:lstStyle/>
          <a:p>
            <a:pPr indent="0" marL="0">
              <a:buNone/>
            </a:pPr>
            <a:r>
              <a:rPr lang="en-US" sz="1500" b="1" dirty="0">
                <a:solidFill>
                  <a:srgbClr val="1C2530"/>
                </a:solidFill>
                <a:latin typeface="Calibri" pitchFamily="34" charset="0"/>
                <a:ea typeface="Calibri" pitchFamily="34" charset="-122"/>
                <a:cs typeface="Calibri" pitchFamily="34" charset="-120"/>
              </a:rPr>
              <a:t>Variable pricing handled</a:t>
            </a:r>
            <a:endParaRPr lang="en-US" sz="1500" dirty="0"/>
          </a:p>
        </p:txBody>
      </p:sp>
      <p:sp>
        <p:nvSpPr>
          <p:cNvPr id="11" name="Text 9"/>
          <p:cNvSpPr/>
          <p:nvPr/>
        </p:nvSpPr>
        <p:spPr>
          <a:xfrm>
            <a:off x="5074920" y="4105656"/>
            <a:ext cx="6428232" cy="594360"/>
          </a:xfrm>
          <a:prstGeom prst="rect">
            <a:avLst/>
          </a:prstGeom>
          <a:noFill/>
          <a:ln/>
        </p:spPr>
        <p:txBody>
          <a:bodyPr wrap="square" lIns="0" tIns="0" rIns="0" bIns="0" rtlCol="0" anchor="ctr"/>
          <a:lstStyle/>
          <a:p>
            <a:pPr indent="0" marL="0">
              <a:lnSpc>
                <a:spcPct val="110000"/>
              </a:lnSpc>
              <a:buNone/>
            </a:pPr>
            <a:r>
              <a:rPr lang="en-US" sz="1150" dirty="0">
                <a:solidFill>
                  <a:srgbClr val="6B7280"/>
                </a:solidFill>
                <a:latin typeface="Calibri" pitchFamily="34" charset="0"/>
                <a:ea typeface="Calibri" pitchFamily="34" charset="-122"/>
                <a:cs typeface="Calibri" pitchFamily="34" charset="-120"/>
              </a:rPr>
              <a:t>price-0 means quoted per order by Japan — never counted as zero revenue</a:t>
            </a:r>
            <a:endParaRPr lang="en-US" sz="1150" dirty="0"/>
          </a:p>
        </p:txBody>
      </p:sp>
      <p:sp>
        <p:nvSpPr>
          <p:cNvPr id="12" name="Shape 10"/>
          <p:cNvSpPr/>
          <p:nvPr/>
        </p:nvSpPr>
        <p:spPr>
          <a:xfrm>
            <a:off x="685800" y="4828032"/>
            <a:ext cx="10817352" cy="0"/>
          </a:xfrm>
          <a:prstGeom prst="line">
            <a:avLst/>
          </a:prstGeom>
          <a:noFill/>
          <a:ln w="9525">
            <a:solidFill>
              <a:srgbClr val="E2E6EA"/>
            </a:solidFill>
            <a:prstDash val="solid"/>
          </a:ln>
        </p:spPr>
      </p:sp>
      <p:sp>
        <p:nvSpPr>
          <p:cNvPr id="13" name="Text 11"/>
          <p:cNvSpPr/>
          <p:nvPr/>
        </p:nvSpPr>
        <p:spPr>
          <a:xfrm>
            <a:off x="685800" y="4974336"/>
            <a:ext cx="4023360" cy="548640"/>
          </a:xfrm>
          <a:prstGeom prst="rect">
            <a:avLst/>
          </a:prstGeom>
          <a:noFill/>
          <a:ln/>
        </p:spPr>
        <p:txBody>
          <a:bodyPr wrap="square" lIns="0" tIns="0" rIns="0" bIns="0" rtlCol="0" anchor="ctr"/>
          <a:lstStyle/>
          <a:p>
            <a:pPr indent="0" marL="0">
              <a:buNone/>
            </a:pPr>
            <a:r>
              <a:rPr lang="en-US" sz="1500" b="1" dirty="0">
                <a:solidFill>
                  <a:srgbClr val="1C2530"/>
                </a:solidFill>
                <a:latin typeface="Calibri" pitchFamily="34" charset="0"/>
                <a:ea typeface="Calibri" pitchFamily="34" charset="-122"/>
                <a:cs typeface="Calibri" pitchFamily="34" charset="-120"/>
              </a:rPr>
              <a:t>Fiscal year verified</a:t>
            </a:r>
            <a:endParaRPr lang="en-US" sz="1500" dirty="0"/>
          </a:p>
        </p:txBody>
      </p:sp>
      <p:sp>
        <p:nvSpPr>
          <p:cNvPr id="14" name="Text 12"/>
          <p:cNvSpPr/>
          <p:nvPr/>
        </p:nvSpPr>
        <p:spPr>
          <a:xfrm>
            <a:off x="5074920" y="5001768"/>
            <a:ext cx="6428232" cy="594360"/>
          </a:xfrm>
          <a:prstGeom prst="rect">
            <a:avLst/>
          </a:prstGeom>
          <a:noFill/>
          <a:ln/>
        </p:spPr>
        <p:txBody>
          <a:bodyPr wrap="square" lIns="0" tIns="0" rIns="0" bIns="0" rtlCol="0" anchor="ctr"/>
          <a:lstStyle/>
          <a:p>
            <a:pPr indent="0" marL="0">
              <a:lnSpc>
                <a:spcPct val="110000"/>
              </a:lnSpc>
              <a:buNone/>
            </a:pPr>
            <a:r>
              <a:rPr lang="en-US" sz="1150" dirty="0">
                <a:solidFill>
                  <a:srgbClr val="6B7280"/>
                </a:solidFill>
                <a:latin typeface="Calibri" pitchFamily="34" charset="0"/>
                <a:ea typeface="Calibri" pitchFamily="34" charset="-122"/>
                <a:cs typeface="Calibri" pitchFamily="34" charset="-120"/>
              </a:rPr>
              <a:t>April–March, detected from the data three independent ways</a:t>
            </a:r>
            <a:endParaRPr lang="en-US" sz="1150" dirty="0"/>
          </a:p>
        </p:txBody>
      </p:sp>
      <p:sp>
        <p:nvSpPr>
          <p:cNvPr id="15" name="Text 13"/>
          <p:cNvSpPr/>
          <p:nvPr/>
        </p:nvSpPr>
        <p:spPr>
          <a:xfrm>
            <a:off x="685800" y="5806440"/>
            <a:ext cx="10817352" cy="457200"/>
          </a:xfrm>
          <a:prstGeom prst="rect">
            <a:avLst/>
          </a:prstGeom>
          <a:noFill/>
          <a:ln/>
        </p:spPr>
        <p:txBody>
          <a:bodyPr wrap="square" lIns="0" tIns="0" rIns="0" bIns="0"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Every cleaning decision is written down with its evidence, so the numbers can be defended line by line.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algn="l" indent="0" marL="0">
              <a:buNone/>
            </a:pPr>
            <a:r>
              <a:rPr lang="en-US" sz="1050" b="1" spc="300" kern="0" dirty="0">
                <a:solidFill>
                  <a:srgbClr val="6B7280"/>
                </a:solidFill>
                <a:latin typeface="Calibri" pitchFamily="34" charset="0"/>
                <a:ea typeface="Calibri" pitchFamily="34" charset="-122"/>
                <a:cs typeface="Calibri" pitchFamily="34" charset="-120"/>
              </a:rPr>
              <a:t>04 — WORK DONE: THE ANALYSIS</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algn="l" indent="0" marL="0">
              <a:buNone/>
            </a:pPr>
            <a:r>
              <a:rPr lang="en-US" sz="3800" b="1" dirty="0">
                <a:solidFill>
                  <a:srgbClr val="1C2530"/>
                </a:solidFill>
                <a:latin typeface="Cambria" pitchFamily="34" charset="0"/>
                <a:ea typeface="Cambria" pitchFamily="34" charset="-122"/>
                <a:cs typeface="Cambria" pitchFamily="34" charset="-120"/>
              </a:rPr>
              <a:t>Demand here is events, not patterns.</a:t>
            </a:r>
            <a:endParaRPr lang="en-US" sz="3800" dirty="0"/>
          </a:p>
        </p:txBody>
      </p:sp>
      <p:sp>
        <p:nvSpPr>
          <p:cNvPr id="4" name="Text 2"/>
          <p:cNvSpPr/>
          <p:nvPr/>
        </p:nvSpPr>
        <p:spPr>
          <a:xfrm>
            <a:off x="685800" y="2423160"/>
            <a:ext cx="2834640" cy="777240"/>
          </a:xfrm>
          <a:prstGeom prst="rect">
            <a:avLst/>
          </a:prstGeom>
          <a:noFill/>
          <a:ln/>
        </p:spPr>
        <p:txBody>
          <a:bodyPr wrap="square" lIns="0" tIns="0" rIns="0" bIns="0" rtlCol="0" anchor="ctr"/>
          <a:lstStyle/>
          <a:p>
            <a:pPr indent="0" marL="0">
              <a:buNone/>
            </a:pPr>
            <a:r>
              <a:rPr lang="en-US" sz="2800" b="1" dirty="0">
                <a:solidFill>
                  <a:srgbClr val="1C2530"/>
                </a:solidFill>
                <a:latin typeface="Cambria" pitchFamily="34" charset="0"/>
                <a:ea typeface="Cambria" pitchFamily="34" charset="-122"/>
                <a:cs typeface="Cambria" pitchFamily="34" charset="-120"/>
              </a:rPr>
              <a:t>3 of 48</a:t>
            </a:r>
            <a:endParaRPr lang="en-US" sz="2800" dirty="0"/>
          </a:p>
        </p:txBody>
      </p:sp>
      <p:sp>
        <p:nvSpPr>
          <p:cNvPr id="5" name="Text 3"/>
          <p:cNvSpPr/>
          <p:nvPr/>
        </p:nvSpPr>
        <p:spPr>
          <a:xfrm>
            <a:off x="3794760" y="2532888"/>
            <a:ext cx="7708392" cy="640080"/>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months in which the median product records any sale at all</a:t>
            </a:r>
            <a:endParaRPr lang="en-US" sz="1350" dirty="0"/>
          </a:p>
        </p:txBody>
      </p:sp>
      <p:sp>
        <p:nvSpPr>
          <p:cNvPr id="6" name="Shape 4"/>
          <p:cNvSpPr/>
          <p:nvPr/>
        </p:nvSpPr>
        <p:spPr>
          <a:xfrm>
            <a:off x="685800" y="3255264"/>
            <a:ext cx="10817352" cy="0"/>
          </a:xfrm>
          <a:prstGeom prst="line">
            <a:avLst/>
          </a:prstGeom>
          <a:noFill/>
          <a:ln w="9525">
            <a:solidFill>
              <a:srgbClr val="E2E6EA"/>
            </a:solidFill>
            <a:prstDash val="solid"/>
          </a:ln>
        </p:spPr>
      </p:sp>
      <p:sp>
        <p:nvSpPr>
          <p:cNvPr id="7" name="Text 5"/>
          <p:cNvSpPr/>
          <p:nvPr/>
        </p:nvSpPr>
        <p:spPr>
          <a:xfrm>
            <a:off x="685800" y="3383280"/>
            <a:ext cx="2834640" cy="777240"/>
          </a:xfrm>
          <a:prstGeom prst="rect">
            <a:avLst/>
          </a:prstGeom>
          <a:noFill/>
          <a:ln/>
        </p:spPr>
        <p:txBody>
          <a:bodyPr wrap="square" lIns="0" tIns="0" rIns="0" bIns="0" rtlCol="0" anchor="ctr"/>
          <a:lstStyle/>
          <a:p>
            <a:pPr indent="0" marL="0">
              <a:buNone/>
            </a:pPr>
            <a:r>
              <a:rPr lang="en-US" sz="2800" b="1" dirty="0">
                <a:solidFill>
                  <a:srgbClr val="1C2530"/>
                </a:solidFill>
                <a:latin typeface="Cambria" pitchFamily="34" charset="0"/>
                <a:ea typeface="Cambria" pitchFamily="34" charset="-122"/>
                <a:cs typeface="Cambria" pitchFamily="34" charset="-120"/>
              </a:rPr>
              <a:t>0.4% → 16%</a:t>
            </a:r>
            <a:endParaRPr lang="en-US" sz="2800" dirty="0"/>
          </a:p>
        </p:txBody>
      </p:sp>
      <p:sp>
        <p:nvSpPr>
          <p:cNvPr id="8" name="Text 6"/>
          <p:cNvSpPr/>
          <p:nvPr/>
        </p:nvSpPr>
        <p:spPr>
          <a:xfrm>
            <a:off x="3794760" y="3493008"/>
            <a:ext cx="7708392" cy="640080"/>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share of volume carried by the largest half-percent of order lines</a:t>
            </a:r>
            <a:endParaRPr lang="en-US" sz="1350" dirty="0"/>
          </a:p>
        </p:txBody>
      </p:sp>
      <p:sp>
        <p:nvSpPr>
          <p:cNvPr id="9" name="Shape 7"/>
          <p:cNvSpPr/>
          <p:nvPr/>
        </p:nvSpPr>
        <p:spPr>
          <a:xfrm>
            <a:off x="685800" y="4215384"/>
            <a:ext cx="10817352" cy="0"/>
          </a:xfrm>
          <a:prstGeom prst="line">
            <a:avLst/>
          </a:prstGeom>
          <a:noFill/>
          <a:ln w="9525">
            <a:solidFill>
              <a:srgbClr val="E2E6EA"/>
            </a:solidFill>
            <a:prstDash val="solid"/>
          </a:ln>
        </p:spPr>
      </p:sp>
      <p:sp>
        <p:nvSpPr>
          <p:cNvPr id="10" name="Text 8"/>
          <p:cNvSpPr/>
          <p:nvPr/>
        </p:nvSpPr>
        <p:spPr>
          <a:xfrm>
            <a:off x="685800" y="4343400"/>
            <a:ext cx="2834640" cy="777240"/>
          </a:xfrm>
          <a:prstGeom prst="rect">
            <a:avLst/>
          </a:prstGeom>
          <a:noFill/>
          <a:ln/>
        </p:spPr>
        <p:txBody>
          <a:bodyPr wrap="square" lIns="0" tIns="0" rIns="0" bIns="0" rtlCol="0" anchor="ctr"/>
          <a:lstStyle/>
          <a:p>
            <a:pPr indent="0" marL="0">
              <a:buNone/>
            </a:pPr>
            <a:r>
              <a:rPr lang="en-US" sz="2800" b="1" dirty="0">
                <a:solidFill>
                  <a:srgbClr val="1C2530"/>
                </a:solidFill>
                <a:latin typeface="Cambria" pitchFamily="34" charset="0"/>
                <a:ea typeface="Cambria" pitchFamily="34" charset="-122"/>
                <a:cs typeface="Cambria" pitchFamily="34" charset="-120"/>
              </a:rPr>
              <a:t>68.5%</a:t>
            </a:r>
            <a:endParaRPr lang="en-US" sz="2800" dirty="0"/>
          </a:p>
        </p:txBody>
      </p:sp>
      <p:sp>
        <p:nvSpPr>
          <p:cNvPr id="11" name="Text 9"/>
          <p:cNvSpPr/>
          <p:nvPr/>
        </p:nvSpPr>
        <p:spPr>
          <a:xfrm>
            <a:off x="3794760" y="4453128"/>
            <a:ext cx="7708392" cy="640080"/>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of all volume comes from just ten customers — three carry 27.6%</a:t>
            </a:r>
            <a:endParaRPr lang="en-US" sz="1350" dirty="0"/>
          </a:p>
        </p:txBody>
      </p:sp>
      <p:sp>
        <p:nvSpPr>
          <p:cNvPr id="12" name="Text 10"/>
          <p:cNvSpPr/>
          <p:nvPr/>
        </p:nvSpPr>
        <p:spPr>
          <a:xfrm>
            <a:off x="685800" y="5577840"/>
            <a:ext cx="10817352" cy="594360"/>
          </a:xfrm>
          <a:prstGeom prst="rect">
            <a:avLst/>
          </a:prstGeom>
          <a:noFill/>
          <a:ln/>
        </p:spPr>
        <p:txBody>
          <a:bodyPr wrap="square" lIns="0" tIns="0" rIns="0" bIns="0"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This finding shapes the whole approach: no single model fits such a catalogue, and the largest orders are knowable from the sales pipeline before any statistic sees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algn="l" indent="0" marL="0">
              <a:buNone/>
            </a:pPr>
            <a:r>
              <a:rPr lang="en-US" sz="1050" b="1" spc="300" kern="0" dirty="0">
                <a:solidFill>
                  <a:srgbClr val="6B7280"/>
                </a:solidFill>
                <a:latin typeface="Calibri" pitchFamily="34" charset="0"/>
                <a:ea typeface="Calibri" pitchFamily="34" charset="-122"/>
                <a:cs typeface="Calibri" pitchFamily="34" charset="-120"/>
              </a:rPr>
              <a:t>05 — WORK DONE: THE SYSTEM</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algn="l" indent="0" marL="0">
              <a:buNone/>
            </a:pPr>
            <a:r>
              <a:rPr lang="en-US" sz="3800" b="1" dirty="0">
                <a:solidFill>
                  <a:srgbClr val="1C2530"/>
                </a:solidFill>
                <a:latin typeface="Cambria" pitchFamily="34" charset="0"/>
                <a:ea typeface="Cambria" pitchFamily="34" charset="-122"/>
                <a:cs typeface="Cambria" pitchFamily="34" charset="-120"/>
              </a:rPr>
              <a:t>One pipeline, four steps.</a:t>
            </a:r>
            <a:endParaRPr lang="en-US" sz="3800" dirty="0"/>
          </a:p>
        </p:txBody>
      </p:sp>
      <p:sp>
        <p:nvSpPr>
          <p:cNvPr id="4" name="Text 2"/>
          <p:cNvSpPr/>
          <p:nvPr/>
        </p:nvSpPr>
        <p:spPr>
          <a:xfrm>
            <a:off x="685800" y="2286000"/>
            <a:ext cx="2384298" cy="685800"/>
          </a:xfrm>
          <a:prstGeom prst="rect">
            <a:avLst/>
          </a:prstGeom>
          <a:noFill/>
          <a:ln/>
        </p:spPr>
        <p:txBody>
          <a:bodyPr wrap="square" lIns="0" tIns="0" rIns="0" bIns="0" rtlCol="0" anchor="ctr"/>
          <a:lstStyle/>
          <a:p>
            <a:pPr indent="0" marL="0">
              <a:buNone/>
            </a:pPr>
            <a:r>
              <a:rPr lang="en-US" sz="3000" i="1" dirty="0">
                <a:solidFill>
                  <a:srgbClr val="C8102E"/>
                </a:solidFill>
                <a:latin typeface="Cambria" pitchFamily="34" charset="0"/>
                <a:ea typeface="Cambria" pitchFamily="34" charset="-122"/>
                <a:cs typeface="Cambria" pitchFamily="34" charset="-120"/>
              </a:rPr>
              <a:t>01</a:t>
            </a:r>
            <a:endParaRPr lang="en-US" sz="3000" dirty="0"/>
          </a:p>
        </p:txBody>
      </p:sp>
      <p:sp>
        <p:nvSpPr>
          <p:cNvPr id="5" name="Text 3"/>
          <p:cNvSpPr/>
          <p:nvPr/>
        </p:nvSpPr>
        <p:spPr>
          <a:xfrm>
            <a:off x="685800" y="3017520"/>
            <a:ext cx="2384298" cy="411480"/>
          </a:xfrm>
          <a:prstGeom prst="rect">
            <a:avLst/>
          </a:prstGeom>
          <a:noFill/>
          <a:ln/>
        </p:spPr>
        <p:txBody>
          <a:bodyPr wrap="square" lIns="0" tIns="0" rIns="0" bIns="0" rtlCol="0" anchor="ctr"/>
          <a:lstStyle/>
          <a:p>
            <a:pPr indent="0" marL="0">
              <a:buNone/>
            </a:pPr>
            <a:r>
              <a:rPr lang="en-US" sz="1700" b="1" dirty="0">
                <a:solidFill>
                  <a:srgbClr val="1C2530"/>
                </a:solidFill>
                <a:latin typeface="Calibri" pitchFamily="34" charset="0"/>
                <a:ea typeface="Calibri" pitchFamily="34" charset="-122"/>
                <a:cs typeface="Calibri" pitchFamily="34" charset="-120"/>
              </a:rPr>
              <a:t>Clean</a:t>
            </a:r>
            <a:endParaRPr lang="en-US" sz="1700" dirty="0"/>
          </a:p>
        </p:txBody>
      </p:sp>
      <p:sp>
        <p:nvSpPr>
          <p:cNvPr id="6" name="Text 4"/>
          <p:cNvSpPr/>
          <p:nvPr/>
        </p:nvSpPr>
        <p:spPr>
          <a:xfrm>
            <a:off x="685800" y="3474720"/>
            <a:ext cx="2384298" cy="146304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272,000 lines reconciled against both master lists; every decision logged</a:t>
            </a:r>
            <a:endParaRPr lang="en-US" sz="1200" dirty="0"/>
          </a:p>
        </p:txBody>
      </p:sp>
      <p:sp>
        <p:nvSpPr>
          <p:cNvPr id="7" name="Text 5"/>
          <p:cNvSpPr/>
          <p:nvPr/>
        </p:nvSpPr>
        <p:spPr>
          <a:xfrm>
            <a:off x="3390138" y="2286000"/>
            <a:ext cx="2384298" cy="685800"/>
          </a:xfrm>
          <a:prstGeom prst="rect">
            <a:avLst/>
          </a:prstGeom>
          <a:noFill/>
          <a:ln/>
        </p:spPr>
        <p:txBody>
          <a:bodyPr wrap="square" lIns="0" tIns="0" rIns="0" bIns="0" rtlCol="0" anchor="ctr"/>
          <a:lstStyle/>
          <a:p>
            <a:pPr indent="0" marL="0">
              <a:buNone/>
            </a:pPr>
            <a:r>
              <a:rPr lang="en-US" sz="3000" i="1" dirty="0">
                <a:solidFill>
                  <a:srgbClr val="C8102E"/>
                </a:solidFill>
                <a:latin typeface="Cambria" pitchFamily="34" charset="0"/>
                <a:ea typeface="Cambria" pitchFamily="34" charset="-122"/>
                <a:cs typeface="Cambria" pitchFamily="34" charset="-120"/>
              </a:rPr>
              <a:t>02</a:t>
            </a:r>
            <a:endParaRPr lang="en-US" sz="3000" dirty="0"/>
          </a:p>
        </p:txBody>
      </p:sp>
      <p:sp>
        <p:nvSpPr>
          <p:cNvPr id="8" name="Text 6"/>
          <p:cNvSpPr/>
          <p:nvPr/>
        </p:nvSpPr>
        <p:spPr>
          <a:xfrm>
            <a:off x="3390138" y="3017520"/>
            <a:ext cx="2384298" cy="411480"/>
          </a:xfrm>
          <a:prstGeom prst="rect">
            <a:avLst/>
          </a:prstGeom>
          <a:noFill/>
          <a:ln/>
        </p:spPr>
        <p:txBody>
          <a:bodyPr wrap="square" lIns="0" tIns="0" rIns="0" bIns="0" rtlCol="0" anchor="ctr"/>
          <a:lstStyle/>
          <a:p>
            <a:pPr indent="0" marL="0">
              <a:buNone/>
            </a:pPr>
            <a:r>
              <a:rPr lang="en-US" sz="1700" b="1" dirty="0">
                <a:solidFill>
                  <a:srgbClr val="1C2530"/>
                </a:solidFill>
                <a:latin typeface="Calibri" pitchFamily="34" charset="0"/>
                <a:ea typeface="Calibri" pitchFamily="34" charset="-122"/>
                <a:cs typeface="Calibri" pitchFamily="34" charset="-120"/>
              </a:rPr>
              <a:t>Compete</a:t>
            </a:r>
            <a:endParaRPr lang="en-US" sz="1700" dirty="0"/>
          </a:p>
        </p:txBody>
      </p:sp>
      <p:sp>
        <p:nvSpPr>
          <p:cNvPr id="9" name="Text 7"/>
          <p:cNvSpPr/>
          <p:nvPr/>
        </p:nvSpPr>
        <p:spPr>
          <a:xfrm>
            <a:off x="3390138" y="3474720"/>
            <a:ext cx="2384298" cy="146304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Up to 24 forecasting methods fight per product on two hidden years</a:t>
            </a:r>
            <a:endParaRPr lang="en-US" sz="1200" dirty="0"/>
          </a:p>
        </p:txBody>
      </p:sp>
      <p:sp>
        <p:nvSpPr>
          <p:cNvPr id="10" name="Text 8"/>
          <p:cNvSpPr/>
          <p:nvPr/>
        </p:nvSpPr>
        <p:spPr>
          <a:xfrm>
            <a:off x="6094476" y="2286000"/>
            <a:ext cx="2384298" cy="685800"/>
          </a:xfrm>
          <a:prstGeom prst="rect">
            <a:avLst/>
          </a:prstGeom>
          <a:noFill/>
          <a:ln/>
        </p:spPr>
        <p:txBody>
          <a:bodyPr wrap="square" lIns="0" tIns="0" rIns="0" bIns="0" rtlCol="0" anchor="ctr"/>
          <a:lstStyle/>
          <a:p>
            <a:pPr indent="0" marL="0">
              <a:buNone/>
            </a:pPr>
            <a:r>
              <a:rPr lang="en-US" sz="3000" i="1" dirty="0">
                <a:solidFill>
                  <a:srgbClr val="C8102E"/>
                </a:solidFill>
                <a:latin typeface="Cambria" pitchFamily="34" charset="0"/>
                <a:ea typeface="Cambria" pitchFamily="34" charset="-122"/>
                <a:cs typeface="Cambria" pitchFamily="34" charset="-120"/>
              </a:rPr>
              <a:t>03</a:t>
            </a:r>
            <a:endParaRPr lang="en-US" sz="3000" dirty="0"/>
          </a:p>
        </p:txBody>
      </p:sp>
      <p:sp>
        <p:nvSpPr>
          <p:cNvPr id="11" name="Text 9"/>
          <p:cNvSpPr/>
          <p:nvPr/>
        </p:nvSpPr>
        <p:spPr>
          <a:xfrm>
            <a:off x="6094476" y="3017520"/>
            <a:ext cx="2384298" cy="411480"/>
          </a:xfrm>
          <a:prstGeom prst="rect">
            <a:avLst/>
          </a:prstGeom>
          <a:noFill/>
          <a:ln/>
        </p:spPr>
        <p:txBody>
          <a:bodyPr wrap="square" lIns="0" tIns="0" rIns="0" bIns="0" rtlCol="0" anchor="ctr"/>
          <a:lstStyle/>
          <a:p>
            <a:pPr indent="0" marL="0">
              <a:buNone/>
            </a:pPr>
            <a:r>
              <a:rPr lang="en-US" sz="1700" b="1" dirty="0">
                <a:solidFill>
                  <a:srgbClr val="1C2530"/>
                </a:solidFill>
                <a:latin typeface="Calibri" pitchFamily="34" charset="0"/>
                <a:ea typeface="Calibri" pitchFamily="34" charset="-122"/>
                <a:cs typeface="Calibri" pitchFamily="34" charset="-120"/>
              </a:rPr>
              <a:t>Forecast</a:t>
            </a:r>
            <a:endParaRPr lang="en-US" sz="1700" dirty="0"/>
          </a:p>
        </p:txBody>
      </p:sp>
      <p:sp>
        <p:nvSpPr>
          <p:cNvPr id="12" name="Text 10"/>
          <p:cNvSpPr/>
          <p:nvPr/>
        </p:nvSpPr>
        <p:spPr>
          <a:xfrm>
            <a:off x="6094476" y="3474720"/>
            <a:ext cx="2384298" cy="146304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FY2025 by product and month, with a measured confidence range</a:t>
            </a:r>
            <a:endParaRPr lang="en-US" sz="1200" dirty="0"/>
          </a:p>
        </p:txBody>
      </p:sp>
      <p:sp>
        <p:nvSpPr>
          <p:cNvPr id="13" name="Text 11"/>
          <p:cNvSpPr/>
          <p:nvPr/>
        </p:nvSpPr>
        <p:spPr>
          <a:xfrm>
            <a:off x="8798814" y="2286000"/>
            <a:ext cx="2384298" cy="685800"/>
          </a:xfrm>
          <a:prstGeom prst="rect">
            <a:avLst/>
          </a:prstGeom>
          <a:noFill/>
          <a:ln/>
        </p:spPr>
        <p:txBody>
          <a:bodyPr wrap="square" lIns="0" tIns="0" rIns="0" bIns="0" rtlCol="0" anchor="ctr"/>
          <a:lstStyle/>
          <a:p>
            <a:pPr indent="0" marL="0">
              <a:buNone/>
            </a:pPr>
            <a:r>
              <a:rPr lang="en-US" sz="3000" i="1" dirty="0">
                <a:solidFill>
                  <a:srgbClr val="C8102E"/>
                </a:solidFill>
                <a:latin typeface="Cambria" pitchFamily="34" charset="0"/>
                <a:ea typeface="Cambria" pitchFamily="34" charset="-122"/>
                <a:cs typeface="Cambria" pitchFamily="34" charset="-120"/>
              </a:rPr>
              <a:t>04</a:t>
            </a:r>
            <a:endParaRPr lang="en-US" sz="3000" dirty="0"/>
          </a:p>
        </p:txBody>
      </p:sp>
      <p:sp>
        <p:nvSpPr>
          <p:cNvPr id="14" name="Text 12"/>
          <p:cNvSpPr/>
          <p:nvPr/>
        </p:nvSpPr>
        <p:spPr>
          <a:xfrm>
            <a:off x="8798814" y="3017520"/>
            <a:ext cx="2384298" cy="411480"/>
          </a:xfrm>
          <a:prstGeom prst="rect">
            <a:avLst/>
          </a:prstGeom>
          <a:noFill/>
          <a:ln/>
        </p:spPr>
        <p:txBody>
          <a:bodyPr wrap="square" lIns="0" tIns="0" rIns="0" bIns="0" rtlCol="0" anchor="ctr"/>
          <a:lstStyle/>
          <a:p>
            <a:pPr indent="0" marL="0">
              <a:buNone/>
            </a:pPr>
            <a:r>
              <a:rPr lang="en-US" sz="1700" b="1" dirty="0">
                <a:solidFill>
                  <a:srgbClr val="1C2530"/>
                </a:solidFill>
                <a:latin typeface="Calibri" pitchFamily="34" charset="0"/>
                <a:ea typeface="Calibri" pitchFamily="34" charset="-122"/>
                <a:cs typeface="Calibri" pitchFamily="34" charset="-120"/>
              </a:rPr>
              <a:t>Decide</a:t>
            </a:r>
            <a:endParaRPr lang="en-US" sz="1700" dirty="0"/>
          </a:p>
        </p:txBody>
      </p:sp>
      <p:sp>
        <p:nvSpPr>
          <p:cNvPr id="15" name="Text 13"/>
          <p:cNvSpPr/>
          <p:nvPr/>
        </p:nvSpPr>
        <p:spPr>
          <a:xfrm>
            <a:off x="8798814" y="3474720"/>
            <a:ext cx="2384298" cy="146304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A dashboard for non-analysts; new data re-runs everything in two minutes</a:t>
            </a:r>
            <a:endParaRPr lang="en-US" sz="1200" dirty="0"/>
          </a:p>
        </p:txBody>
      </p:sp>
      <p:sp>
        <p:nvSpPr>
          <p:cNvPr id="16" name="Text 14"/>
          <p:cNvSpPr/>
          <p:nvPr/>
        </p:nvSpPr>
        <p:spPr>
          <a:xfrm>
            <a:off x="685800" y="5623560"/>
            <a:ext cx="10817352" cy="548640"/>
          </a:xfrm>
          <a:prstGeom prst="rect">
            <a:avLst/>
          </a:prstGeom>
          <a:noFill/>
          <a:ln/>
        </p:spPr>
        <p:txBody>
          <a:bodyPr wrap="square" lIns="0" tIns="0" rIns="0" bIns="0"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No model was assumed. Each product’s method must win a back-test against every alternative its history can support.</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algn="l" indent="0" marL="0">
              <a:buNone/>
            </a:pPr>
            <a:r>
              <a:rPr lang="en-US" sz="1050" b="1" spc="300" kern="0" dirty="0">
                <a:solidFill>
                  <a:srgbClr val="6B7280"/>
                </a:solidFill>
                <a:latin typeface="Calibri" pitchFamily="34" charset="0"/>
                <a:ea typeface="Calibri" pitchFamily="34" charset="-122"/>
                <a:cs typeface="Calibri" pitchFamily="34" charset="-120"/>
              </a:rPr>
              <a:t>06 — WORK DONE: THE DASHBOARD</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algn="l" indent="0" marL="0">
              <a:buNone/>
            </a:pPr>
            <a:r>
              <a:rPr lang="en-US" sz="3800" b="1" dirty="0">
                <a:solidFill>
                  <a:srgbClr val="1C2530"/>
                </a:solidFill>
                <a:latin typeface="Cambria" pitchFamily="34" charset="0"/>
                <a:ea typeface="Cambria" pitchFamily="34" charset="-122"/>
                <a:cs typeface="Cambria" pitchFamily="34" charset="-120"/>
              </a:rPr>
              <a:t>Built for the whole team, not analysts.</a:t>
            </a:r>
            <a:endParaRPr lang="en-US" sz="3800" dirty="0"/>
          </a:p>
        </p:txBody>
      </p:sp>
      <p:sp>
        <p:nvSpPr>
          <p:cNvPr id="4" name="Shape 2"/>
          <p:cNvSpPr/>
          <p:nvPr/>
        </p:nvSpPr>
        <p:spPr>
          <a:xfrm>
            <a:off x="685800" y="2377440"/>
            <a:ext cx="3429000" cy="2651760"/>
          </a:xfrm>
          <a:prstGeom prst="roundRect">
            <a:avLst>
              <a:gd name="adj" fmla="val 2759"/>
            </a:avLst>
          </a:prstGeom>
          <a:solidFill>
            <a:srgbClr val="1C2530"/>
          </a:solidFill>
          <a:ln w="12700">
            <a:solidFill>
              <a:srgbClr val="1C2530"/>
            </a:solidFill>
            <a:prstDash val="solid"/>
          </a:ln>
        </p:spPr>
      </p:sp>
      <p:sp>
        <p:nvSpPr>
          <p:cNvPr id="5" name="Text 3"/>
          <p:cNvSpPr/>
          <p:nvPr/>
        </p:nvSpPr>
        <p:spPr>
          <a:xfrm>
            <a:off x="1005840" y="2788920"/>
            <a:ext cx="2788920" cy="777240"/>
          </a:xfrm>
          <a:prstGeom prst="rect">
            <a:avLst/>
          </a:prstGeom>
          <a:noFill/>
          <a:ln/>
        </p:spPr>
        <p:txBody>
          <a:bodyPr wrap="square" lIns="0" tIns="0" rIns="0" bIns="0" rtlCol="0" anchor="ctr"/>
          <a:lstStyle/>
          <a:p>
            <a:pPr indent="0" marL="0">
              <a:buNone/>
            </a:pPr>
            <a:r>
              <a:rPr lang="en-US" sz="1900" b="1" dirty="0">
                <a:solidFill>
                  <a:srgbClr val="F5F7FA"/>
                </a:solidFill>
                <a:latin typeface="Cambria" pitchFamily="34" charset="0"/>
                <a:ea typeface="Cambria" pitchFamily="34" charset="-122"/>
                <a:cs typeface="Cambria" pitchFamily="34" charset="-120"/>
              </a:rPr>
              <a:t>Forecast views</a:t>
            </a:r>
            <a:endParaRPr lang="en-US" sz="1900" dirty="0"/>
          </a:p>
        </p:txBody>
      </p:sp>
      <p:sp>
        <p:nvSpPr>
          <p:cNvPr id="6" name="Text 4"/>
          <p:cNvSpPr/>
          <p:nvPr/>
        </p:nvSpPr>
        <p:spPr>
          <a:xfrm>
            <a:off x="1005840" y="3611880"/>
            <a:ext cx="2788920" cy="1188720"/>
          </a:xfrm>
          <a:prstGeom prst="rect">
            <a:avLst/>
          </a:prstGeom>
          <a:noFill/>
          <a:ln/>
        </p:spPr>
        <p:txBody>
          <a:bodyPr wrap="square" lIns="0" tIns="0" rIns="0" bIns="0" rtlCol="0" anchor="ctr"/>
          <a:lstStyle/>
          <a:p>
            <a:pPr indent="0" marL="0">
              <a:lnSpc>
                <a:spcPct val="120000"/>
              </a:lnSpc>
              <a:buNone/>
            </a:pPr>
            <a:r>
              <a:rPr lang="en-US" sz="1200" dirty="0">
                <a:solidFill>
                  <a:srgbClr val="C9D2DB"/>
                </a:solidFill>
                <a:latin typeface="Calibri" pitchFamily="34" charset="0"/>
                <a:ea typeface="Calibri" pitchFamily="34" charset="-122"/>
                <a:cs typeface="Calibri" pitchFamily="34" charset="-120"/>
              </a:rPr>
              <a:t>company, category, product and customer — history and forecast on one chart</a:t>
            </a:r>
            <a:endParaRPr lang="en-US" sz="1200" dirty="0"/>
          </a:p>
        </p:txBody>
      </p:sp>
      <p:sp>
        <p:nvSpPr>
          <p:cNvPr id="7" name="Shape 5"/>
          <p:cNvSpPr/>
          <p:nvPr/>
        </p:nvSpPr>
        <p:spPr>
          <a:xfrm>
            <a:off x="4398264" y="2377440"/>
            <a:ext cx="3429000" cy="2651760"/>
          </a:xfrm>
          <a:prstGeom prst="roundRect">
            <a:avLst>
              <a:gd name="adj" fmla="val 2759"/>
            </a:avLst>
          </a:prstGeom>
          <a:solidFill>
            <a:srgbClr val="1C2530"/>
          </a:solidFill>
          <a:ln w="12700">
            <a:solidFill>
              <a:srgbClr val="1C2530"/>
            </a:solidFill>
            <a:prstDash val="solid"/>
          </a:ln>
        </p:spPr>
      </p:sp>
      <p:sp>
        <p:nvSpPr>
          <p:cNvPr id="8" name="Text 6"/>
          <p:cNvSpPr/>
          <p:nvPr/>
        </p:nvSpPr>
        <p:spPr>
          <a:xfrm>
            <a:off x="4718304" y="2788920"/>
            <a:ext cx="2788920" cy="777240"/>
          </a:xfrm>
          <a:prstGeom prst="rect">
            <a:avLst/>
          </a:prstGeom>
          <a:noFill/>
          <a:ln/>
        </p:spPr>
        <p:txBody>
          <a:bodyPr wrap="square" lIns="0" tIns="0" rIns="0" bIns="0" rtlCol="0" anchor="ctr"/>
          <a:lstStyle/>
          <a:p>
            <a:pPr indent="0" marL="0">
              <a:buNone/>
            </a:pPr>
            <a:r>
              <a:rPr lang="en-US" sz="1900" b="1" dirty="0">
                <a:solidFill>
                  <a:srgbClr val="F5F7FA"/>
                </a:solidFill>
                <a:latin typeface="Cambria" pitchFamily="34" charset="0"/>
                <a:ea typeface="Cambria" pitchFamily="34" charset="-122"/>
                <a:cs typeface="Cambria" pitchFamily="34" charset="-120"/>
              </a:rPr>
              <a:t>Inventory planning</a:t>
            </a:r>
            <a:endParaRPr lang="en-US" sz="1900" dirty="0"/>
          </a:p>
        </p:txBody>
      </p:sp>
      <p:sp>
        <p:nvSpPr>
          <p:cNvPr id="9" name="Text 7"/>
          <p:cNvSpPr/>
          <p:nvPr/>
        </p:nvSpPr>
        <p:spPr>
          <a:xfrm>
            <a:off x="4718304" y="3611880"/>
            <a:ext cx="2788920" cy="1188720"/>
          </a:xfrm>
          <a:prstGeom prst="rect">
            <a:avLst/>
          </a:prstGeom>
          <a:noFill/>
          <a:ln/>
        </p:spPr>
        <p:txBody>
          <a:bodyPr wrap="square" lIns="0" tIns="0" rIns="0" bIns="0" rtlCol="0" anchor="ctr"/>
          <a:lstStyle/>
          <a:p>
            <a:pPr indent="0" marL="0">
              <a:lnSpc>
                <a:spcPct val="120000"/>
              </a:lnSpc>
              <a:buNone/>
            </a:pPr>
            <a:r>
              <a:rPr lang="en-US" sz="1200" dirty="0">
                <a:solidFill>
                  <a:srgbClr val="C9D2DB"/>
                </a:solidFill>
                <a:latin typeface="Calibri" pitchFamily="34" charset="0"/>
                <a:ea typeface="Calibri" pitchFamily="34" charset="-122"/>
                <a:cs typeface="Calibri" pitchFamily="34" charset="-120"/>
              </a:rPr>
              <a:t>service level against stock held, simulated on a withheld year</a:t>
            </a:r>
            <a:endParaRPr lang="en-US" sz="1200" dirty="0"/>
          </a:p>
        </p:txBody>
      </p:sp>
      <p:sp>
        <p:nvSpPr>
          <p:cNvPr id="10" name="Shape 8"/>
          <p:cNvSpPr/>
          <p:nvPr/>
        </p:nvSpPr>
        <p:spPr>
          <a:xfrm>
            <a:off x="8110728" y="2377440"/>
            <a:ext cx="3429000" cy="2651760"/>
          </a:xfrm>
          <a:prstGeom prst="roundRect">
            <a:avLst>
              <a:gd name="adj" fmla="val 2759"/>
            </a:avLst>
          </a:prstGeom>
          <a:solidFill>
            <a:srgbClr val="1C2530"/>
          </a:solidFill>
          <a:ln w="12700">
            <a:solidFill>
              <a:srgbClr val="1C2530"/>
            </a:solidFill>
            <a:prstDash val="solid"/>
          </a:ln>
        </p:spPr>
      </p:sp>
      <p:sp>
        <p:nvSpPr>
          <p:cNvPr id="11" name="Text 9"/>
          <p:cNvSpPr/>
          <p:nvPr/>
        </p:nvSpPr>
        <p:spPr>
          <a:xfrm>
            <a:off x="8430768" y="2788920"/>
            <a:ext cx="2788920" cy="777240"/>
          </a:xfrm>
          <a:prstGeom prst="rect">
            <a:avLst/>
          </a:prstGeom>
          <a:noFill/>
          <a:ln/>
        </p:spPr>
        <p:txBody>
          <a:bodyPr wrap="square" lIns="0" tIns="0" rIns="0" bIns="0" rtlCol="0" anchor="ctr"/>
          <a:lstStyle/>
          <a:p>
            <a:pPr indent="0" marL="0">
              <a:buNone/>
            </a:pPr>
            <a:r>
              <a:rPr lang="en-US" sz="1900" b="1" dirty="0">
                <a:solidFill>
                  <a:srgbClr val="F5F7FA"/>
                </a:solidFill>
                <a:latin typeface="Cambria" pitchFamily="34" charset="0"/>
                <a:ea typeface="Cambria" pitchFamily="34" charset="-122"/>
                <a:cs typeface="Cambria" pitchFamily="34" charset="-120"/>
              </a:rPr>
              <a:t>Evidence &amp; refresh</a:t>
            </a:r>
            <a:endParaRPr lang="en-US" sz="1900" dirty="0"/>
          </a:p>
        </p:txBody>
      </p:sp>
      <p:sp>
        <p:nvSpPr>
          <p:cNvPr id="12" name="Text 10"/>
          <p:cNvSpPr/>
          <p:nvPr/>
        </p:nvSpPr>
        <p:spPr>
          <a:xfrm>
            <a:off x="8430768" y="3611880"/>
            <a:ext cx="2788920" cy="1188720"/>
          </a:xfrm>
          <a:prstGeom prst="rect">
            <a:avLst/>
          </a:prstGeom>
          <a:noFill/>
          <a:ln/>
        </p:spPr>
        <p:txBody>
          <a:bodyPr wrap="square" lIns="0" tIns="0" rIns="0" bIns="0" rtlCol="0" anchor="ctr"/>
          <a:lstStyle/>
          <a:p>
            <a:pPr indent="0" marL="0">
              <a:lnSpc>
                <a:spcPct val="120000"/>
              </a:lnSpc>
              <a:buNone/>
            </a:pPr>
            <a:r>
              <a:rPr lang="en-US" sz="1200" dirty="0">
                <a:solidFill>
                  <a:srgbClr val="C9D2DB"/>
                </a:solidFill>
                <a:latin typeface="Calibri" pitchFamily="34" charset="0"/>
                <a:ea typeface="Calibri" pitchFamily="34" charset="-122"/>
                <a:cs typeface="Calibri" pitchFamily="34" charset="-120"/>
              </a:rPr>
              <a:t>accuracy pages in plain language; upload new data and re-run in two minutes</a:t>
            </a:r>
            <a:endParaRPr lang="en-US" sz="1200" dirty="0"/>
          </a:p>
        </p:txBody>
      </p:sp>
      <p:sp>
        <p:nvSpPr>
          <p:cNvPr id="13" name="Text 11"/>
          <p:cNvSpPr/>
          <p:nvPr/>
        </p:nvSpPr>
        <p:spPr>
          <a:xfrm>
            <a:off x="685800" y="5623560"/>
            <a:ext cx="10817352" cy="457200"/>
          </a:xfrm>
          <a:prstGeom prst="rect">
            <a:avLst/>
          </a:prstGeom>
          <a:noFill/>
          <a:ln/>
        </p:spPr>
        <p:txBody>
          <a:bodyPr wrap="square" lIns="0" tIns="0" rIns="0" bIns="0"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Live demonstration available after the presentation.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algn="l" indent="0" marL="0">
              <a:buNone/>
            </a:pPr>
            <a:r>
              <a:rPr lang="en-US" sz="1050" b="1" spc="300" kern="0" dirty="0">
                <a:solidFill>
                  <a:srgbClr val="6B7280"/>
                </a:solidFill>
                <a:latin typeface="Calibri" pitchFamily="34" charset="0"/>
                <a:ea typeface="Calibri" pitchFamily="34" charset="-122"/>
                <a:cs typeface="Calibri" pitchFamily="34" charset="-120"/>
              </a:rPr>
              <a:t>07 — HOW WE WORK</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algn="l" indent="0" marL="0">
              <a:buNone/>
            </a:pPr>
            <a:r>
              <a:rPr lang="en-US" sz="3800" b="1" dirty="0">
                <a:solidFill>
                  <a:srgbClr val="1C2530"/>
                </a:solidFill>
                <a:latin typeface="Cambria" pitchFamily="34" charset="0"/>
                <a:ea typeface="Cambria" pitchFamily="34" charset="-122"/>
                <a:cs typeface="Cambria" pitchFamily="34" charset="-120"/>
              </a:rPr>
              <a:t>Nothing is adopted on plausibility.</a:t>
            </a:r>
            <a:endParaRPr lang="en-US" sz="3800" dirty="0"/>
          </a:p>
        </p:txBody>
      </p:sp>
      <p:sp>
        <p:nvSpPr>
          <p:cNvPr id="4" name="Text 2"/>
          <p:cNvSpPr/>
          <p:nvPr/>
        </p:nvSpPr>
        <p:spPr>
          <a:xfrm>
            <a:off x="685800" y="2286000"/>
            <a:ext cx="777240" cy="640080"/>
          </a:xfrm>
          <a:prstGeom prst="rect">
            <a:avLst/>
          </a:prstGeom>
          <a:noFill/>
          <a:ln/>
        </p:spPr>
        <p:txBody>
          <a:bodyPr wrap="square" lIns="0" tIns="0" rIns="0" bIns="0" rtlCol="0" anchor="ctr"/>
          <a:lstStyle/>
          <a:p>
            <a:pPr indent="0" marL="0">
              <a:buNone/>
            </a:pPr>
            <a:r>
              <a:rPr lang="en-US" sz="2400" i="1" dirty="0">
                <a:solidFill>
                  <a:srgbClr val="C8102E"/>
                </a:solidFill>
                <a:latin typeface="Cambria" pitchFamily="34" charset="0"/>
                <a:ea typeface="Cambria" pitchFamily="34" charset="-122"/>
                <a:cs typeface="Cambria" pitchFamily="34" charset="-120"/>
              </a:rPr>
              <a:t>01</a:t>
            </a:r>
            <a:endParaRPr lang="en-US" sz="2400" dirty="0"/>
          </a:p>
        </p:txBody>
      </p:sp>
      <p:sp>
        <p:nvSpPr>
          <p:cNvPr id="5" name="Text 3"/>
          <p:cNvSpPr/>
          <p:nvPr/>
        </p:nvSpPr>
        <p:spPr>
          <a:xfrm>
            <a:off x="1691640" y="2304288"/>
            <a:ext cx="9418320" cy="411480"/>
          </a:xfrm>
          <a:prstGeom prst="rect">
            <a:avLst/>
          </a:prstGeom>
          <a:noFill/>
          <a:ln/>
        </p:spPr>
        <p:txBody>
          <a:bodyPr wrap="square" lIns="0" tIns="0" rIns="0" bIns="0" rtlCol="0" anchor="ctr"/>
          <a:lstStyle/>
          <a:p>
            <a:pPr indent="0" marL="0">
              <a:buNone/>
            </a:pPr>
            <a:r>
              <a:rPr lang="en-US" sz="1550" b="1" dirty="0">
                <a:solidFill>
                  <a:srgbClr val="1C2530"/>
                </a:solidFill>
                <a:latin typeface="Calibri" pitchFamily="34" charset="0"/>
                <a:ea typeface="Calibri" pitchFamily="34" charset="-122"/>
                <a:cs typeface="Calibri" pitchFamily="34" charset="-120"/>
              </a:rPr>
              <a:t>Every idea is tested on a withheld year</a:t>
            </a:r>
            <a:endParaRPr lang="en-US" sz="1550" dirty="0"/>
          </a:p>
        </p:txBody>
      </p:sp>
      <p:sp>
        <p:nvSpPr>
          <p:cNvPr id="6" name="Text 4"/>
          <p:cNvSpPr/>
          <p:nvPr/>
        </p:nvSpPr>
        <p:spPr>
          <a:xfrm>
            <a:off x="1691640" y="2743200"/>
            <a:ext cx="9418320"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twelve improvement ideas built and measured so far — three earned adoption</a:t>
            </a:r>
            <a:endParaRPr lang="en-US" sz="1200" dirty="0"/>
          </a:p>
        </p:txBody>
      </p:sp>
      <p:sp>
        <p:nvSpPr>
          <p:cNvPr id="7" name="Text 5"/>
          <p:cNvSpPr/>
          <p:nvPr/>
        </p:nvSpPr>
        <p:spPr>
          <a:xfrm>
            <a:off x="685800" y="3493008"/>
            <a:ext cx="777240" cy="640080"/>
          </a:xfrm>
          <a:prstGeom prst="rect">
            <a:avLst/>
          </a:prstGeom>
          <a:noFill/>
          <a:ln/>
        </p:spPr>
        <p:txBody>
          <a:bodyPr wrap="square" lIns="0" tIns="0" rIns="0" bIns="0" rtlCol="0" anchor="ctr"/>
          <a:lstStyle/>
          <a:p>
            <a:pPr indent="0" marL="0">
              <a:buNone/>
            </a:pPr>
            <a:r>
              <a:rPr lang="en-US" sz="2400" i="1" dirty="0">
                <a:solidFill>
                  <a:srgbClr val="C8102E"/>
                </a:solidFill>
                <a:latin typeface="Cambria" pitchFamily="34" charset="0"/>
                <a:ea typeface="Cambria" pitchFamily="34" charset="-122"/>
                <a:cs typeface="Cambria" pitchFamily="34" charset="-120"/>
              </a:rPr>
              <a:t>02</a:t>
            </a:r>
            <a:endParaRPr lang="en-US" sz="2400" dirty="0"/>
          </a:p>
        </p:txBody>
      </p:sp>
      <p:sp>
        <p:nvSpPr>
          <p:cNvPr id="8" name="Text 6"/>
          <p:cNvSpPr/>
          <p:nvPr/>
        </p:nvSpPr>
        <p:spPr>
          <a:xfrm>
            <a:off x="1691640" y="3511296"/>
            <a:ext cx="9418320" cy="411480"/>
          </a:xfrm>
          <a:prstGeom prst="rect">
            <a:avLst/>
          </a:prstGeom>
          <a:noFill/>
          <a:ln/>
        </p:spPr>
        <p:txBody>
          <a:bodyPr wrap="square" lIns="0" tIns="0" rIns="0" bIns="0" rtlCol="0" anchor="ctr"/>
          <a:lstStyle/>
          <a:p>
            <a:pPr indent="0" marL="0">
              <a:buNone/>
            </a:pPr>
            <a:r>
              <a:rPr lang="en-US" sz="1550" b="1" dirty="0">
                <a:solidFill>
                  <a:srgbClr val="1C2530"/>
                </a:solidFill>
                <a:latin typeface="Calibri" pitchFamily="34" charset="0"/>
                <a:ea typeface="Calibri" pitchFamily="34" charset="-122"/>
                <a:cs typeface="Calibri" pitchFamily="34" charset="-120"/>
              </a:rPr>
              <a:t>Failures are kept, with their numbers</a:t>
            </a:r>
            <a:endParaRPr lang="en-US" sz="1550" dirty="0"/>
          </a:p>
        </p:txBody>
      </p:sp>
      <p:sp>
        <p:nvSpPr>
          <p:cNvPr id="9" name="Text 7"/>
          <p:cNvSpPr/>
          <p:nvPr/>
        </p:nvSpPr>
        <p:spPr>
          <a:xfrm>
            <a:off x="1691640" y="3950208"/>
            <a:ext cx="9418320"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rejected techniques stay documented so no one re-tests a dead end</a:t>
            </a:r>
            <a:endParaRPr lang="en-US" sz="1200" dirty="0"/>
          </a:p>
        </p:txBody>
      </p:sp>
      <p:sp>
        <p:nvSpPr>
          <p:cNvPr id="10" name="Text 8"/>
          <p:cNvSpPr/>
          <p:nvPr/>
        </p:nvSpPr>
        <p:spPr>
          <a:xfrm>
            <a:off x="685800" y="4700016"/>
            <a:ext cx="777240" cy="640080"/>
          </a:xfrm>
          <a:prstGeom prst="rect">
            <a:avLst/>
          </a:prstGeom>
          <a:noFill/>
          <a:ln/>
        </p:spPr>
        <p:txBody>
          <a:bodyPr wrap="square" lIns="0" tIns="0" rIns="0" bIns="0" rtlCol="0" anchor="ctr"/>
          <a:lstStyle/>
          <a:p>
            <a:pPr indent="0" marL="0">
              <a:buNone/>
            </a:pPr>
            <a:r>
              <a:rPr lang="en-US" sz="2400" i="1" dirty="0">
                <a:solidFill>
                  <a:srgbClr val="C8102E"/>
                </a:solidFill>
                <a:latin typeface="Cambria" pitchFamily="34" charset="0"/>
                <a:ea typeface="Cambria" pitchFamily="34" charset="-122"/>
                <a:cs typeface="Cambria" pitchFamily="34" charset="-120"/>
              </a:rPr>
              <a:t>03</a:t>
            </a:r>
            <a:endParaRPr lang="en-US" sz="2400" dirty="0"/>
          </a:p>
        </p:txBody>
      </p:sp>
      <p:sp>
        <p:nvSpPr>
          <p:cNvPr id="11" name="Text 9"/>
          <p:cNvSpPr/>
          <p:nvPr/>
        </p:nvSpPr>
        <p:spPr>
          <a:xfrm>
            <a:off x="1691640" y="4718304"/>
            <a:ext cx="9418320" cy="411480"/>
          </a:xfrm>
          <a:prstGeom prst="rect">
            <a:avLst/>
          </a:prstGeom>
          <a:noFill/>
          <a:ln/>
        </p:spPr>
        <p:txBody>
          <a:bodyPr wrap="square" lIns="0" tIns="0" rIns="0" bIns="0" rtlCol="0" anchor="ctr"/>
          <a:lstStyle/>
          <a:p>
            <a:pPr indent="0" marL="0">
              <a:buNone/>
            </a:pPr>
            <a:r>
              <a:rPr lang="en-US" sz="1550" b="1" dirty="0">
                <a:solidFill>
                  <a:srgbClr val="1C2530"/>
                </a:solidFill>
                <a:latin typeface="Calibri" pitchFamily="34" charset="0"/>
                <a:ea typeface="Calibri" pitchFamily="34" charset="-122"/>
                <a:cs typeface="Calibri" pitchFamily="34" charset="-120"/>
              </a:rPr>
              <a:t>Every assumption is written down</a:t>
            </a:r>
            <a:endParaRPr lang="en-US" sz="1550" dirty="0"/>
          </a:p>
        </p:txBody>
      </p:sp>
      <p:sp>
        <p:nvSpPr>
          <p:cNvPr id="12" name="Text 10"/>
          <p:cNvSpPr/>
          <p:nvPr/>
        </p:nvSpPr>
        <p:spPr>
          <a:xfrm>
            <a:off x="1691640" y="5157216"/>
            <a:ext cx="9418320"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twenty-one documented decisions, each reversible by one configuration line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algn="l" indent="0" marL="0">
              <a:buNone/>
            </a:pPr>
            <a:r>
              <a:rPr lang="en-US" sz="1050" b="1" spc="300" kern="0" dirty="0">
                <a:solidFill>
                  <a:srgbClr val="6B7280"/>
                </a:solidFill>
                <a:latin typeface="Calibri" pitchFamily="34" charset="0"/>
                <a:ea typeface="Calibri" pitchFamily="34" charset="-122"/>
                <a:cs typeface="Calibri" pitchFamily="34" charset="-120"/>
              </a:rPr>
              <a:t>08 — FOUND IN THE FINE PRINT</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algn="l" indent="0" marL="0">
              <a:buNone/>
            </a:pPr>
            <a:r>
              <a:rPr lang="en-US" sz="3800" b="1" dirty="0">
                <a:solidFill>
                  <a:srgbClr val="1C2530"/>
                </a:solidFill>
                <a:latin typeface="Cambria" pitchFamily="34" charset="0"/>
                <a:ea typeface="Cambria" pitchFamily="34" charset="-122"/>
                <a:cs typeface="Cambria" pitchFamily="34" charset="-120"/>
              </a:rPr>
              <a:t>Two findings from careful reading.</a:t>
            </a:r>
            <a:endParaRPr lang="en-US" sz="3800" dirty="0"/>
          </a:p>
        </p:txBody>
      </p:sp>
      <p:sp>
        <p:nvSpPr>
          <p:cNvPr id="4" name="Text 2"/>
          <p:cNvSpPr/>
          <p:nvPr/>
        </p:nvSpPr>
        <p:spPr>
          <a:xfrm>
            <a:off x="685800" y="2386584"/>
            <a:ext cx="1417320" cy="320040"/>
          </a:xfrm>
          <a:prstGeom prst="rect">
            <a:avLst/>
          </a:prstGeom>
          <a:noFill/>
          <a:ln/>
        </p:spPr>
        <p:txBody>
          <a:bodyPr wrap="square" lIns="0" tIns="0" rIns="0" bIns="0" rtlCol="0" anchor="ctr"/>
          <a:lstStyle/>
          <a:p>
            <a:pPr indent="0" marL="0">
              <a:buNone/>
            </a:pPr>
            <a:r>
              <a:rPr lang="en-US" sz="1100" b="1" spc="200" kern="0" dirty="0">
                <a:solidFill>
                  <a:srgbClr val="6B7280"/>
                </a:solidFill>
                <a:latin typeface="Calibri" pitchFamily="34" charset="0"/>
                <a:ea typeface="Calibri" pitchFamily="34" charset="-122"/>
                <a:cs typeface="Calibri" pitchFamily="34" charset="-120"/>
              </a:rPr>
              <a:t>RESOLVED</a:t>
            </a:r>
            <a:endParaRPr lang="en-US" sz="1100" dirty="0"/>
          </a:p>
        </p:txBody>
      </p:sp>
      <p:sp>
        <p:nvSpPr>
          <p:cNvPr id="5" name="Text 3"/>
          <p:cNvSpPr/>
          <p:nvPr/>
        </p:nvSpPr>
        <p:spPr>
          <a:xfrm>
            <a:off x="2331720" y="2331720"/>
            <a:ext cx="8778240" cy="411480"/>
          </a:xfrm>
          <a:prstGeom prst="rect">
            <a:avLst/>
          </a:prstGeom>
          <a:noFill/>
          <a:ln/>
        </p:spPr>
        <p:txBody>
          <a:bodyPr wrap="square" lIns="0" tIns="0" rIns="0" bIns="0" rtlCol="0" anchor="ctr"/>
          <a:lstStyle/>
          <a:p>
            <a:pPr indent="0" marL="0">
              <a:buNone/>
            </a:pPr>
            <a:r>
              <a:rPr lang="en-US" sz="1550" b="1" dirty="0">
                <a:solidFill>
                  <a:srgbClr val="1C2530"/>
                </a:solidFill>
                <a:latin typeface="Calibri" pitchFamily="34" charset="0"/>
                <a:ea typeface="Calibri" pitchFamily="34" charset="-122"/>
                <a:cs typeface="Calibri" pitchFamily="34" charset="-120"/>
              </a:rPr>
              <a:t>“Closed” orders are cancelled work</a:t>
            </a:r>
            <a:endParaRPr lang="en-US" sz="1550" dirty="0"/>
          </a:p>
        </p:txBody>
      </p:sp>
      <p:sp>
        <p:nvSpPr>
          <p:cNvPr id="6" name="Text 4"/>
          <p:cNvSpPr/>
          <p:nvPr/>
        </p:nvSpPr>
        <p:spPr>
          <a:xfrm>
            <a:off x="2331720" y="2788920"/>
            <a:ext cx="8778240" cy="86868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the authoritative dictionary sheet: closed orders are never fulfilled or billed — they count as expressed demand for stock planning, never as revenue</a:t>
            </a:r>
            <a:endParaRPr lang="en-US" sz="1200" dirty="0"/>
          </a:p>
        </p:txBody>
      </p:sp>
      <p:sp>
        <p:nvSpPr>
          <p:cNvPr id="7" name="Text 5"/>
          <p:cNvSpPr/>
          <p:nvPr/>
        </p:nvSpPr>
        <p:spPr>
          <a:xfrm>
            <a:off x="685800" y="3986784"/>
            <a:ext cx="1417320" cy="32004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OPEN</a:t>
            </a:r>
            <a:endParaRPr lang="en-US" sz="1100" dirty="0"/>
          </a:p>
        </p:txBody>
      </p:sp>
      <p:sp>
        <p:nvSpPr>
          <p:cNvPr id="8" name="Text 6"/>
          <p:cNvSpPr/>
          <p:nvPr/>
        </p:nvSpPr>
        <p:spPr>
          <a:xfrm>
            <a:off x="2331720" y="3931920"/>
            <a:ext cx="8778240" cy="411480"/>
          </a:xfrm>
          <a:prstGeom prst="rect">
            <a:avLst/>
          </a:prstGeom>
          <a:noFill/>
          <a:ln/>
        </p:spPr>
        <p:txBody>
          <a:bodyPr wrap="square" lIns="0" tIns="0" rIns="0" bIns="0" rtlCol="0" anchor="ctr"/>
          <a:lstStyle/>
          <a:p>
            <a:pPr indent="0" marL="0">
              <a:buNone/>
            </a:pPr>
            <a:r>
              <a:rPr lang="en-US" sz="1550" b="1" dirty="0">
                <a:solidFill>
                  <a:srgbClr val="1C2530"/>
                </a:solidFill>
                <a:latin typeface="Calibri" pitchFamily="34" charset="0"/>
                <a:ea typeface="Calibri" pitchFamily="34" charset="-122"/>
                <a:cs typeface="Calibri" pitchFamily="34" charset="-120"/>
              </a:rPr>
              <a:t>The VIP discount is not inside Base Price</a:t>
            </a:r>
            <a:endParaRPr lang="en-US" sz="1550" dirty="0"/>
          </a:p>
        </p:txBody>
      </p:sp>
      <p:sp>
        <p:nvSpPr>
          <p:cNvPr id="9" name="Text 7"/>
          <p:cNvSpPr/>
          <p:nvPr/>
        </p:nvSpPr>
        <p:spPr>
          <a:xfrm>
            <a:off x="2331720" y="4389120"/>
            <a:ext cx="8778240" cy="86868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the dictionary grants VIP a 37% discount from list — yet on shared products, VIP and End User pay an identical Base Price (median ratio 1.000). The discount must be applied outside this file; ฿461m of revenue interpretation rides on Mitsubishi’s answer</a:t>
            </a:r>
            <a:endParaRPr lang="en-US" sz="1200" dirty="0"/>
          </a:p>
        </p:txBody>
      </p:sp>
      <p:sp>
        <p:nvSpPr>
          <p:cNvPr id="10" name="Text 8"/>
          <p:cNvSpPr/>
          <p:nvPr/>
        </p:nvSpPr>
        <p:spPr>
          <a:xfrm>
            <a:off x="685800" y="5760720"/>
            <a:ext cx="10817352" cy="457200"/>
          </a:xfrm>
          <a:prstGeom prst="rect">
            <a:avLst/>
          </a:prstGeom>
          <a:noFill/>
          <a:ln/>
        </p:spPr>
        <p:txBody>
          <a:bodyPr wrap="square" lIns="0" tIns="0" rIns="0" bIns="0"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Either answer to the pricing question takes effect through one configuration line — the system re-runs in two minutes.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algn="l" indent="0" marL="0">
              <a:buNone/>
            </a:pPr>
            <a:r>
              <a:rPr lang="en-US" sz="1050" b="1" spc="300" kern="0" dirty="0">
                <a:solidFill>
                  <a:srgbClr val="6B7280"/>
                </a:solidFill>
                <a:latin typeface="Calibri" pitchFamily="34" charset="0"/>
                <a:ea typeface="Calibri" pitchFamily="34" charset="-122"/>
                <a:cs typeface="Calibri" pitchFamily="34" charset="-120"/>
              </a:rPr>
              <a:t>09 — THE ROAD AHEAD</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algn="l" indent="0" marL="0">
              <a:buNone/>
            </a:pPr>
            <a:r>
              <a:rPr lang="en-US" sz="3800" b="1" dirty="0">
                <a:solidFill>
                  <a:srgbClr val="1C2530"/>
                </a:solidFill>
                <a:latin typeface="Cambria" pitchFamily="34" charset="0"/>
                <a:ea typeface="Cambria" pitchFamily="34" charset="-122"/>
                <a:cs typeface="Cambria" pitchFamily="34" charset="-120"/>
              </a:rPr>
              <a:t>Two milestones to the final forecast.</a:t>
            </a:r>
            <a:endParaRPr lang="en-US" sz="3800" dirty="0"/>
          </a:p>
        </p:txBody>
      </p:sp>
      <p:sp>
        <p:nvSpPr>
          <p:cNvPr id="4" name="Shape 2"/>
          <p:cNvSpPr/>
          <p:nvPr/>
        </p:nvSpPr>
        <p:spPr>
          <a:xfrm>
            <a:off x="685800" y="2331720"/>
            <a:ext cx="3429000" cy="2926080"/>
          </a:xfrm>
          <a:prstGeom prst="roundRect">
            <a:avLst>
              <a:gd name="adj" fmla="val 2500"/>
            </a:avLst>
          </a:prstGeom>
          <a:solidFill>
            <a:srgbClr val="1C2530"/>
          </a:solidFill>
          <a:ln w="12700">
            <a:solidFill>
              <a:srgbClr val="1C2530"/>
            </a:solidFill>
            <a:prstDash val="solid"/>
          </a:ln>
        </p:spPr>
      </p:sp>
      <p:sp>
        <p:nvSpPr>
          <p:cNvPr id="5" name="Text 3"/>
          <p:cNvSpPr/>
          <p:nvPr/>
        </p:nvSpPr>
        <p:spPr>
          <a:xfrm>
            <a:off x="1005840" y="2697480"/>
            <a:ext cx="2788920" cy="320040"/>
          </a:xfrm>
          <a:prstGeom prst="rect">
            <a:avLst/>
          </a:prstGeom>
          <a:noFill/>
          <a:ln/>
        </p:spPr>
        <p:txBody>
          <a:bodyPr wrap="square" lIns="0" tIns="0" rIns="0" bIns="0" rtlCol="0" anchor="ctr"/>
          <a:lstStyle/>
          <a:p>
            <a:pPr indent="0" marL="0">
              <a:buNone/>
            </a:pPr>
            <a:r>
              <a:rPr lang="en-US" sz="1050" b="1" spc="200" kern="0" dirty="0">
                <a:solidFill>
                  <a:srgbClr val="9AA4B0"/>
                </a:solidFill>
                <a:latin typeface="Calibri" pitchFamily="34" charset="0"/>
                <a:ea typeface="Calibri" pitchFamily="34" charset="-122"/>
                <a:cs typeface="Calibri" pitchFamily="34" charset="-120"/>
              </a:rPr>
              <a:t>TODAY — 10 AUG</a:t>
            </a:r>
            <a:endParaRPr lang="en-US" sz="1050" dirty="0"/>
          </a:p>
        </p:txBody>
      </p:sp>
      <p:sp>
        <p:nvSpPr>
          <p:cNvPr id="6" name="Text 4"/>
          <p:cNvSpPr/>
          <p:nvPr/>
        </p:nvSpPr>
        <p:spPr>
          <a:xfrm>
            <a:off x="1005840" y="3063240"/>
            <a:ext cx="2788920" cy="777240"/>
          </a:xfrm>
          <a:prstGeom prst="rect">
            <a:avLst/>
          </a:prstGeom>
          <a:noFill/>
          <a:ln/>
        </p:spPr>
        <p:txBody>
          <a:bodyPr wrap="square" lIns="0" tIns="0" rIns="0" bIns="0" rtlCol="0" anchor="ctr"/>
          <a:lstStyle/>
          <a:p>
            <a:pPr indent="0" marL="0">
              <a:buNone/>
            </a:pPr>
            <a:r>
              <a:rPr lang="en-US" sz="1900" b="1" dirty="0">
                <a:solidFill>
                  <a:srgbClr val="F5F7FA"/>
                </a:solidFill>
                <a:latin typeface="Cambria" pitchFamily="34" charset="0"/>
                <a:ea typeface="Cambria" pitchFamily="34" charset="-122"/>
                <a:cs typeface="Cambria" pitchFamily="34" charset="-120"/>
              </a:rPr>
              <a:t>Progress report</a:t>
            </a:r>
            <a:endParaRPr lang="en-US" sz="1900" dirty="0"/>
          </a:p>
        </p:txBody>
      </p:sp>
      <p:sp>
        <p:nvSpPr>
          <p:cNvPr id="7" name="Text 5"/>
          <p:cNvSpPr/>
          <p:nvPr/>
        </p:nvSpPr>
        <p:spPr>
          <a:xfrm>
            <a:off x="1005840" y="3886200"/>
            <a:ext cx="2788920" cy="1234440"/>
          </a:xfrm>
          <a:prstGeom prst="rect">
            <a:avLst/>
          </a:prstGeom>
          <a:noFill/>
          <a:ln/>
        </p:spPr>
        <p:txBody>
          <a:bodyPr wrap="square" lIns="0" tIns="0" rIns="0" bIns="0" rtlCol="0" anchor="ctr"/>
          <a:lstStyle/>
          <a:p>
            <a:pPr indent="0" marL="0">
              <a:lnSpc>
                <a:spcPct val="120000"/>
              </a:lnSpc>
              <a:buNone/>
            </a:pPr>
            <a:r>
              <a:rPr lang="en-US" sz="1150" dirty="0">
                <a:solidFill>
                  <a:srgbClr val="C9D2DB"/>
                </a:solidFill>
                <a:latin typeface="Calibri" pitchFamily="34" charset="0"/>
                <a:ea typeface="Calibri" pitchFamily="34" charset="-122"/>
                <a:cs typeface="Calibri" pitchFamily="34" charset="-120"/>
              </a:rPr>
              <a:t>system built and running; data understood; questions raised</a:t>
            </a:r>
            <a:endParaRPr lang="en-US" sz="1150" dirty="0"/>
          </a:p>
        </p:txBody>
      </p:sp>
      <p:sp>
        <p:nvSpPr>
          <p:cNvPr id="8" name="Shape 6"/>
          <p:cNvSpPr/>
          <p:nvPr/>
        </p:nvSpPr>
        <p:spPr>
          <a:xfrm>
            <a:off x="4398264" y="2331720"/>
            <a:ext cx="3429000" cy="2926080"/>
          </a:xfrm>
          <a:prstGeom prst="roundRect">
            <a:avLst>
              <a:gd name="adj" fmla="val 2500"/>
            </a:avLst>
          </a:prstGeom>
          <a:solidFill>
            <a:srgbClr val="C8102E"/>
          </a:solidFill>
          <a:ln w="12700">
            <a:solidFill>
              <a:srgbClr val="C8102E"/>
            </a:solidFill>
            <a:prstDash val="solid"/>
          </a:ln>
        </p:spPr>
      </p:sp>
      <p:sp>
        <p:nvSpPr>
          <p:cNvPr id="9" name="Text 7"/>
          <p:cNvSpPr/>
          <p:nvPr/>
        </p:nvSpPr>
        <p:spPr>
          <a:xfrm>
            <a:off x="4718304" y="2697480"/>
            <a:ext cx="2788920" cy="320040"/>
          </a:xfrm>
          <a:prstGeom prst="rect">
            <a:avLst/>
          </a:prstGeom>
          <a:noFill/>
          <a:ln/>
        </p:spPr>
        <p:txBody>
          <a:bodyPr wrap="square" lIns="0" tIns="0" rIns="0" bIns="0" rtlCol="0" anchor="ctr"/>
          <a:lstStyle/>
          <a:p>
            <a:pPr indent="0" marL="0">
              <a:buNone/>
            </a:pPr>
            <a:r>
              <a:rPr lang="en-US" sz="1050" b="1" spc="200" kern="0" dirty="0">
                <a:solidFill>
                  <a:srgbClr val="F3C2CB"/>
                </a:solidFill>
                <a:latin typeface="Calibri" pitchFamily="34" charset="0"/>
                <a:ea typeface="Calibri" pitchFamily="34" charset="-122"/>
                <a:cs typeface="Calibri" pitchFamily="34" charset="-120"/>
              </a:rPr>
              <a:t>SEMI-FINAL — 7 SEP</a:t>
            </a:r>
            <a:endParaRPr lang="en-US" sz="1050" dirty="0"/>
          </a:p>
        </p:txBody>
      </p:sp>
      <p:sp>
        <p:nvSpPr>
          <p:cNvPr id="10" name="Text 8"/>
          <p:cNvSpPr/>
          <p:nvPr/>
        </p:nvSpPr>
        <p:spPr>
          <a:xfrm>
            <a:off x="4718304" y="3063240"/>
            <a:ext cx="2788920" cy="777240"/>
          </a:xfrm>
          <a:prstGeom prst="rect">
            <a:avLst/>
          </a:prstGeom>
          <a:noFill/>
          <a:ln/>
        </p:spPr>
        <p:txBody>
          <a:bodyPr wrap="square" lIns="0" tIns="0" rIns="0" bIns="0" rtlCol="0" anchor="ctr"/>
          <a:lstStyle/>
          <a:p>
            <a:pPr indent="0" marL="0">
              <a:buNone/>
            </a:pPr>
            <a:r>
              <a:rPr lang="en-US" sz="1900" b="1" dirty="0">
                <a:solidFill>
                  <a:srgbClr val="F5F7FA"/>
                </a:solidFill>
                <a:latin typeface="Cambria" pitchFamily="34" charset="0"/>
                <a:ea typeface="Cambria" pitchFamily="34" charset="-122"/>
                <a:cs typeface="Cambria" pitchFamily="34" charset="-120"/>
              </a:rPr>
              <a:t>Results &amp; evidence</a:t>
            </a:r>
            <a:endParaRPr lang="en-US" sz="1900" dirty="0"/>
          </a:p>
        </p:txBody>
      </p:sp>
      <p:sp>
        <p:nvSpPr>
          <p:cNvPr id="11" name="Text 9"/>
          <p:cNvSpPr/>
          <p:nvPr/>
        </p:nvSpPr>
        <p:spPr>
          <a:xfrm>
            <a:off x="4718304" y="3886200"/>
            <a:ext cx="2788920" cy="1234440"/>
          </a:xfrm>
          <a:prstGeom prst="rect">
            <a:avLst/>
          </a:prstGeom>
          <a:noFill/>
          <a:ln/>
        </p:spPr>
        <p:txBody>
          <a:bodyPr wrap="square" lIns="0" tIns="0" rIns="0" bIns="0" rtlCol="0" anchor="ctr"/>
          <a:lstStyle/>
          <a:p>
            <a:pPr indent="0" marL="0">
              <a:lnSpc>
                <a:spcPct val="120000"/>
              </a:lnSpc>
              <a:buNone/>
            </a:pPr>
            <a:r>
              <a:rPr lang="en-US" sz="1150" dirty="0">
                <a:solidFill>
                  <a:srgbClr val="F3D9DD"/>
                </a:solidFill>
                <a:latin typeface="Calibri" pitchFamily="34" charset="0"/>
                <a:ea typeface="Calibri" pitchFamily="34" charset="-122"/>
                <a:cs typeface="Calibri" pitchFamily="34" charset="-120"/>
              </a:rPr>
              <a:t>the FY2025 numbers, accuracy against withheld years, inventory trade-off, refinements from your feedback</a:t>
            </a:r>
            <a:endParaRPr lang="en-US" sz="1150" dirty="0"/>
          </a:p>
        </p:txBody>
      </p:sp>
      <p:sp>
        <p:nvSpPr>
          <p:cNvPr id="12" name="Shape 10"/>
          <p:cNvSpPr/>
          <p:nvPr/>
        </p:nvSpPr>
        <p:spPr>
          <a:xfrm>
            <a:off x="8110728" y="2331720"/>
            <a:ext cx="3429000" cy="2926080"/>
          </a:xfrm>
          <a:prstGeom prst="roundRect">
            <a:avLst>
              <a:gd name="adj" fmla="val 2500"/>
            </a:avLst>
          </a:prstGeom>
          <a:solidFill>
            <a:srgbClr val="1C2530"/>
          </a:solidFill>
          <a:ln w="12700">
            <a:solidFill>
              <a:srgbClr val="1C2530"/>
            </a:solidFill>
            <a:prstDash val="solid"/>
          </a:ln>
        </p:spPr>
      </p:sp>
      <p:sp>
        <p:nvSpPr>
          <p:cNvPr id="13" name="Text 11"/>
          <p:cNvSpPr/>
          <p:nvPr/>
        </p:nvSpPr>
        <p:spPr>
          <a:xfrm>
            <a:off x="8430768" y="2697480"/>
            <a:ext cx="2788920" cy="320040"/>
          </a:xfrm>
          <a:prstGeom prst="rect">
            <a:avLst/>
          </a:prstGeom>
          <a:noFill/>
          <a:ln/>
        </p:spPr>
        <p:txBody>
          <a:bodyPr wrap="square" lIns="0" tIns="0" rIns="0" bIns="0" rtlCol="0" anchor="ctr"/>
          <a:lstStyle/>
          <a:p>
            <a:pPr indent="0" marL="0">
              <a:buNone/>
            </a:pPr>
            <a:r>
              <a:rPr lang="en-US" sz="1050" b="1" spc="200" kern="0" dirty="0">
                <a:solidFill>
                  <a:srgbClr val="9AA4B0"/>
                </a:solidFill>
                <a:latin typeface="Calibri" pitchFamily="34" charset="0"/>
                <a:ea typeface="Calibri" pitchFamily="34" charset="-122"/>
                <a:cs typeface="Calibri" pitchFamily="34" charset="-120"/>
              </a:rPr>
              <a:t>FINAL — 28 SEP</a:t>
            </a:r>
            <a:endParaRPr lang="en-US" sz="1050" dirty="0"/>
          </a:p>
        </p:txBody>
      </p:sp>
      <p:sp>
        <p:nvSpPr>
          <p:cNvPr id="14" name="Text 12"/>
          <p:cNvSpPr/>
          <p:nvPr/>
        </p:nvSpPr>
        <p:spPr>
          <a:xfrm>
            <a:off x="8430768" y="3063240"/>
            <a:ext cx="2788920" cy="777240"/>
          </a:xfrm>
          <a:prstGeom prst="rect">
            <a:avLst/>
          </a:prstGeom>
          <a:noFill/>
          <a:ln/>
        </p:spPr>
        <p:txBody>
          <a:bodyPr wrap="square" lIns="0" tIns="0" rIns="0" bIns="0" rtlCol="0" anchor="ctr"/>
          <a:lstStyle/>
          <a:p>
            <a:pPr indent="0" marL="0">
              <a:buNone/>
            </a:pPr>
            <a:r>
              <a:rPr lang="en-US" sz="1900" b="1" dirty="0">
                <a:solidFill>
                  <a:srgbClr val="F5F7FA"/>
                </a:solidFill>
                <a:latin typeface="Cambria" pitchFamily="34" charset="0"/>
                <a:ea typeface="Cambria" pitchFamily="34" charset="-122"/>
                <a:cs typeface="Cambria" pitchFamily="34" charset="-120"/>
              </a:rPr>
              <a:t>Final forecast &amp; handover</a:t>
            </a:r>
            <a:endParaRPr lang="en-US" sz="1900" dirty="0"/>
          </a:p>
        </p:txBody>
      </p:sp>
      <p:sp>
        <p:nvSpPr>
          <p:cNvPr id="15" name="Text 13"/>
          <p:cNvSpPr/>
          <p:nvPr/>
        </p:nvSpPr>
        <p:spPr>
          <a:xfrm>
            <a:off x="8430768" y="3886200"/>
            <a:ext cx="2788920" cy="1234440"/>
          </a:xfrm>
          <a:prstGeom prst="rect">
            <a:avLst/>
          </a:prstGeom>
          <a:noFill/>
          <a:ln/>
        </p:spPr>
        <p:txBody>
          <a:bodyPr wrap="square" lIns="0" tIns="0" rIns="0" bIns="0" rtlCol="0" anchor="ctr"/>
          <a:lstStyle/>
          <a:p>
            <a:pPr indent="0" marL="0">
              <a:lnSpc>
                <a:spcPct val="120000"/>
              </a:lnSpc>
              <a:buNone/>
            </a:pPr>
            <a:r>
              <a:rPr lang="en-US" sz="1150" dirty="0">
                <a:solidFill>
                  <a:srgbClr val="C9D2DB"/>
                </a:solidFill>
                <a:latin typeface="Calibri" pitchFamily="34" charset="0"/>
                <a:ea typeface="Calibri" pitchFamily="34" charset="-122"/>
                <a:cs typeface="Calibri" pitchFamily="34" charset="-120"/>
              </a:rPr>
              <a:t>final forecast with full written report, documented assumptions, and the dashboard handed over</a:t>
            </a:r>
            <a:endParaRPr lang="en-US" sz="1150" dirty="0"/>
          </a:p>
        </p:txBody>
      </p:sp>
      <p:sp>
        <p:nvSpPr>
          <p:cNvPr id="16" name="Text 14"/>
          <p:cNvSpPr/>
          <p:nvPr/>
        </p:nvSpPr>
        <p:spPr>
          <a:xfrm>
            <a:off x="685800" y="5760720"/>
            <a:ext cx="10817352" cy="548640"/>
          </a:xfrm>
          <a:prstGeom prst="rect">
            <a:avLst/>
          </a:prstGeom>
          <a:noFill/>
          <a:ln/>
        </p:spPr>
        <p:txBody>
          <a:bodyPr wrap="square" lIns="0" tIns="0" rIns="0" bIns="0"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Between milestones: sales-input channel for the event-driven products, monthly re-forecast rhythm, and refinements from today’s discussion.</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C2530"/>
        </a:solidFill>
      </p:bgPr>
    </p:bg>
    <p:spTree>
      <p:nvGrpSpPr>
        <p:cNvPr id="1" name=""/>
        <p:cNvGrpSpPr/>
        <p:nvPr/>
      </p:nvGrpSpPr>
      <p:grpSpPr>
        <a:xfrm>
          <a:off x="0" y="0"/>
          <a:ext cx="0" cy="0"/>
          <a:chOff x="0" y="0"/>
          <a:chExt cx="0" cy="0"/>
        </a:xfrm>
      </p:grpSpPr>
      <p:sp>
        <p:nvSpPr>
          <p:cNvPr id="2" name="Shape 0"/>
          <p:cNvSpPr/>
          <p:nvPr/>
        </p:nvSpPr>
        <p:spPr>
          <a:xfrm>
            <a:off x="9601200" y="-2286000"/>
            <a:ext cx="4754880" cy="4754880"/>
          </a:xfrm>
          <a:prstGeom prst="ellipse">
            <a:avLst/>
          </a:prstGeom>
          <a:solidFill>
            <a:srgbClr val="1C2530"/>
          </a:solidFill>
          <a:ln w="15875">
            <a:solidFill>
              <a:srgbClr val="C8102E"/>
            </a:solidFill>
            <a:prstDash val="solid"/>
          </a:ln>
        </p:spPr>
      </p:sp>
      <p:sp>
        <p:nvSpPr>
          <p:cNvPr id="3" name="Text 1"/>
          <p:cNvSpPr/>
          <p:nvPr/>
        </p:nvSpPr>
        <p:spPr>
          <a:xfrm>
            <a:off x="685800" y="2103120"/>
            <a:ext cx="10817352" cy="320040"/>
          </a:xfrm>
          <a:prstGeom prst="rect">
            <a:avLst/>
          </a:prstGeom>
          <a:noFill/>
          <a:ln/>
        </p:spPr>
        <p:txBody>
          <a:bodyPr wrap="square" lIns="0" tIns="0" rIns="0" bIns="0" rtlCol="0" anchor="ctr"/>
          <a:lstStyle/>
          <a:p>
            <a:pPr indent="0" marL="0">
              <a:buNone/>
            </a:pPr>
            <a:r>
              <a:rPr lang="en-US" sz="1100" b="1" spc="300" kern="0" dirty="0">
                <a:solidFill>
                  <a:srgbClr val="9AA4B0"/>
                </a:solidFill>
                <a:latin typeface="Calibri" pitchFamily="34" charset="0"/>
                <a:ea typeface="Calibri" pitchFamily="34" charset="-122"/>
                <a:cs typeface="Calibri" pitchFamily="34" charset="-120"/>
              </a:rPr>
              <a:t>THANK YOU</a:t>
            </a:r>
            <a:endParaRPr lang="en-US" sz="1100" dirty="0"/>
          </a:p>
        </p:txBody>
      </p:sp>
      <p:sp>
        <p:nvSpPr>
          <p:cNvPr id="4" name="Text 2"/>
          <p:cNvSpPr/>
          <p:nvPr/>
        </p:nvSpPr>
        <p:spPr>
          <a:xfrm>
            <a:off x="685800" y="2560320"/>
            <a:ext cx="9601200" cy="1737360"/>
          </a:xfrm>
          <a:prstGeom prst="rect">
            <a:avLst/>
          </a:prstGeom>
          <a:noFill/>
          <a:ln/>
        </p:spPr>
        <p:txBody>
          <a:bodyPr wrap="square" lIns="0" tIns="0" rIns="0" bIns="0" rtlCol="0" anchor="ctr"/>
          <a:lstStyle/>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The system is built.</a:t>
            </a:r>
            <a:endParaRPr lang="en-US" sz="4000" dirty="0"/>
          </a:p>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The evidence comes next.</a:t>
            </a:r>
            <a:endParaRPr lang="en-US" sz="4000" dirty="0"/>
          </a:p>
        </p:txBody>
      </p:sp>
      <p:sp>
        <p:nvSpPr>
          <p:cNvPr id="5" name="Text 3"/>
          <p:cNvSpPr/>
          <p:nvPr/>
        </p:nvSpPr>
        <p:spPr>
          <a:xfrm>
            <a:off x="685800" y="4709160"/>
            <a:ext cx="8686800" cy="731520"/>
          </a:xfrm>
          <a:prstGeom prst="rect">
            <a:avLst/>
          </a:prstGeom>
          <a:noFill/>
          <a:ln/>
        </p:spPr>
        <p:txBody>
          <a:bodyPr wrap="square" lIns="0" tIns="0" rIns="0" bIns="0" rtlCol="0" anchor="ctr"/>
          <a:lstStyle/>
          <a:p>
            <a:pPr indent="0" marL="0">
              <a:lnSpc>
                <a:spcPct val="125000"/>
              </a:lnSpc>
              <a:buNone/>
            </a:pPr>
            <a:r>
              <a:rPr lang="en-US" sz="1400" dirty="0">
                <a:solidFill>
                  <a:srgbClr val="A9B4C2"/>
                </a:solidFill>
                <a:latin typeface="Calibri" pitchFamily="34" charset="0"/>
                <a:ea typeface="Calibri" pitchFamily="34" charset="-122"/>
                <a:cs typeface="Calibri" pitchFamily="34" charset="-120"/>
              </a:rPr>
              <a:t>Results and accuracy evidence — semi-final, 7 September.</a:t>
            </a:r>
            <a:endParaRPr lang="en-US" sz="1400" dirty="0"/>
          </a:p>
          <a:p>
            <a:pPr indent="0" marL="0">
              <a:lnSpc>
                <a:spcPct val="125000"/>
              </a:lnSpc>
              <a:buNone/>
            </a:pPr>
            <a:r>
              <a:rPr lang="en-US" sz="1400" dirty="0">
                <a:solidFill>
                  <a:srgbClr val="A9B4C2"/>
                </a:solidFill>
                <a:latin typeface="Calibri" pitchFamily="34" charset="0"/>
                <a:ea typeface="Calibri" pitchFamily="34" charset="-122"/>
                <a:cs typeface="Calibri" pitchFamily="34" charset="-120"/>
              </a:rPr>
              <a:t>Live dashboard available now; questions welcome.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2026-08-05T04:45:15Z</dcterms:created>
  <dcterms:modified xsi:type="dcterms:W3CDTF">2026-08-05T04:45:15Z</dcterms:modified>
</cp:coreProperties>
</file>