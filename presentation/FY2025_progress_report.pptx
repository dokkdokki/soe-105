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a progress report on the Mitsubishi Electric forecasting project. In ten minutes: the problem, what we built, what the forecast says, how much to trust it, and what we will do next.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from Mitsubishi: both surplus and shortage at once, so no just-in-time supply. They gave us four fiscal years of order history, an item master, and a customer master. (~45s)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pick a model. Every product runs a tournament: up to 24 methods each forecast two years we hid, and the most accurate wins that product. The dashboard needs no analyst - anyone can upload next year's file and re-run. (~60s)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numbers, the key finding. This catalogue is extremely sparse and extremely concentrated. Half a percent of order lines carry 16 percent of volume. Statistical methods forecast patterns; much of this demand is discrete events - single large orders from a handful of accounts. That shapes everything that follows. (~60s)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forecast itself: 176 thousand units, 1.91 billion baht on a billed basis. The range is not a guess - it is how far this method actually landed from reality on two years we hid from it. Slightly below last year on units, level on revenue. (~50s)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the forecast a second time by hand - pure analyst reasoning on run rates, the event layer, and customer momentum, no statistics. It lands within four percent of the system. Two independent routes agreeing is the strongest corroboration available before the real FY2025 numbers exist. (~55s)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the machinery worth it? Against the two things any business could do without modelling - repeat last year, or spread it flat - the system cuts error by 8 to 17 percent, and in an inventory simulation serves about 4 points more demand at the same stock level. (~50s)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number cannot describe accuracy honestly. At the hardest level - one product, one month - 36 percent, and no method on this data does much better; a forecast that KNOWS each product's annual total still scores badly monthly. At the levels where budgets are set, we measure around 80 percent. Match the figure to the decision. (~60s)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discipline behind the numbers: twelve improvement ideas built and tested this cycle, three adopted. The rejections matter as much - reconciliation and ensembles are popular techniques, and we can show exactly why they do not help on THIS data. Everything is documented so nobody re-tests a dead end. (~50s)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genuine ambiguities we found in the data itself, flagged rather than guessed. The VIP pricing question alone is worth 461 million baht of forecast revenue. And we would like to align on which official numbers the forecast will be compared against. (~55s)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progress report - the system is designed to keep improving. When the real FY2025 numbers arrive, they retrain it automatically and give the first true validation. The single biggest gain available is not an algorithm: it is thirty minutes a month of sales knowledge on fifty products. (~55s)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forecast, the range, and a system Mitsubishi's own team can re-run without us. Happy to open the live dashboard for any product or question. (~30s)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8686800" y="1371600"/>
            <a:ext cx="4754880" cy="4754880"/>
          </a:xfrm>
          <a:prstGeom prst="ellipse">
            <a:avLst/>
          </a:prstGeom>
          <a:solidFill>
            <a:srgbClr val="1C2530"/>
          </a:solidFill>
          <a:ln w="15875">
            <a:solidFill>
              <a:srgbClr val="C8102E"/>
            </a:solidFill>
            <a:prstDash val="solid"/>
          </a:ln>
        </p:spPr>
      </p:sp>
      <p:sp>
        <p:nvSpPr>
          <p:cNvPr id="3" name="Shape 1"/>
          <p:cNvSpPr/>
          <p:nvPr/>
        </p:nvSpPr>
        <p:spPr>
          <a:xfrm>
            <a:off x="9692640" y="2377440"/>
            <a:ext cx="2743200" cy="2743200"/>
          </a:xfrm>
          <a:prstGeom prst="ellipse">
            <a:avLst/>
          </a:prstGeom>
          <a:solidFill>
            <a:srgbClr val="1C2530"/>
          </a:solidFill>
          <a:ln w="12700">
            <a:solidFill>
              <a:srgbClr val="3A4656"/>
            </a:solidFill>
            <a:prstDash val="solid"/>
          </a:ln>
        </p:spPr>
      </p:sp>
      <p:sp>
        <p:nvSpPr>
          <p:cNvPr id="4" name="Text 2"/>
          <p:cNvSpPr/>
          <p:nvPr/>
        </p:nvSpPr>
        <p:spPr>
          <a:xfrm>
            <a:off x="685800" y="1417320"/>
            <a:ext cx="8229600" cy="320040"/>
          </a:xfrm>
          <a:prstGeom prst="rect">
            <a:avLst/>
          </a:prstGeom>
          <a:noFill/>
          <a:ln/>
        </p:spPr>
        <p:txBody>
          <a:bodyPr wrap="square" lIns="0" tIns="0" rIns="0" bIns="0" rtlCol="0" anchor="ctr"/>
          <a:lstStyle/>
          <a:p>
            <a:pPr indent="0" marL="0">
              <a:buNone/>
            </a:pPr>
            <a:r>
              <a:rPr lang="en-US" sz="1100" b="1" spc="300" kern="0" dirty="0">
                <a:solidFill>
                  <a:srgbClr val="9AA4B0"/>
                </a:solidFill>
                <a:latin typeface="Calibri" pitchFamily="34" charset="0"/>
                <a:ea typeface="Calibri" pitchFamily="34" charset="-122"/>
                <a:cs typeface="Calibri" pitchFamily="34" charset="-120"/>
              </a:rPr>
              <a:t>PROGRESS REPORT  —  ELEMENT OF SUCCESSFUL STARTUP</a:t>
            </a:r>
            <a:endParaRPr lang="en-US" sz="1100" dirty="0"/>
          </a:p>
        </p:txBody>
      </p:sp>
      <p:sp>
        <p:nvSpPr>
          <p:cNvPr id="5" name="Text 3"/>
          <p:cNvSpPr/>
          <p:nvPr/>
        </p:nvSpPr>
        <p:spPr>
          <a:xfrm>
            <a:off x="685800" y="1874520"/>
            <a:ext cx="8778240" cy="2103120"/>
          </a:xfrm>
          <a:prstGeom prst="rect">
            <a:avLst/>
          </a:prstGeom>
          <a:noFill/>
          <a:ln/>
        </p:spPr>
        <p:txBody>
          <a:bodyPr wrap="square" lIns="0" tIns="0" rIns="0" bIns="0" rtlCol="0" anchor="ctr"/>
          <a:lstStyle/>
          <a:p>
            <a:pPr indent="0" marL="0">
              <a:lnSpc>
                <a:spcPct val="105000"/>
              </a:lnSpc>
              <a:buNone/>
            </a:pPr>
            <a:r>
              <a:rPr lang="en-US" sz="4800" b="1" dirty="0">
                <a:solidFill>
                  <a:srgbClr val="FFFFFF"/>
                </a:solidFill>
                <a:latin typeface="Cambria" pitchFamily="34" charset="0"/>
                <a:ea typeface="Cambria" pitchFamily="34" charset="-122"/>
                <a:cs typeface="Cambria" pitchFamily="34" charset="-120"/>
              </a:rPr>
              <a:t>Forecasting demand for</a:t>
            </a:r>
            <a:endParaRPr lang="en-US" sz="4800" dirty="0"/>
          </a:p>
          <a:p>
            <a:pPr indent="0" marL="0">
              <a:lnSpc>
                <a:spcPct val="105000"/>
              </a:lnSpc>
              <a:buNone/>
            </a:pPr>
            <a:r>
              <a:rPr lang="en-US" sz="4800" b="1" dirty="0">
                <a:solidFill>
                  <a:srgbClr val="FFFFFF"/>
                </a:solidFill>
                <a:latin typeface="Cambria" pitchFamily="34" charset="0"/>
                <a:ea typeface="Cambria" pitchFamily="34" charset="-122"/>
                <a:cs typeface="Cambria" pitchFamily="34" charset="-120"/>
              </a:rPr>
              <a:t>Mitsubishi Electric</a:t>
            </a:r>
            <a:endParaRPr lang="en-US" sz="4800" dirty="0"/>
          </a:p>
        </p:txBody>
      </p:sp>
      <p:sp>
        <p:nvSpPr>
          <p:cNvPr id="6" name="Text 4"/>
          <p:cNvSpPr/>
          <p:nvPr/>
        </p:nvSpPr>
        <p:spPr>
          <a:xfrm>
            <a:off x="685800" y="4069080"/>
            <a:ext cx="7772400" cy="777240"/>
          </a:xfrm>
          <a:prstGeom prst="rect">
            <a:avLst/>
          </a:prstGeom>
          <a:noFill/>
          <a:ln/>
        </p:spPr>
        <p:txBody>
          <a:bodyPr wrap="square" lIns="0" tIns="0" rIns="0" bIns="0" rtlCol="0" anchor="ctr"/>
          <a:lstStyle/>
          <a:p>
            <a:pPr indent="0" marL="0">
              <a:lnSpc>
                <a:spcPct val="115000"/>
              </a:lnSpc>
              <a:buNone/>
            </a:pPr>
            <a:r>
              <a:rPr lang="en-US" sz="1500" dirty="0">
                <a:solidFill>
                  <a:srgbClr val="A9B4C2"/>
                </a:solidFill>
                <a:latin typeface="Calibri" pitchFamily="34" charset="0"/>
                <a:ea typeface="Calibri" pitchFamily="34" charset="-122"/>
                <a:cs typeface="Calibri" pitchFamily="34" charset="-120"/>
              </a:rPr>
              <a:t>FY2025 demand and revenue forecast, a planning dashboard,</a:t>
            </a:r>
            <a:endParaRPr lang="en-US" sz="1500" dirty="0"/>
          </a:p>
          <a:p>
            <a:pPr indent="0" marL="0">
              <a:lnSpc>
                <a:spcPct val="115000"/>
              </a:lnSpc>
              <a:buNone/>
            </a:pPr>
            <a:r>
              <a:rPr lang="en-US" sz="1500" dirty="0">
                <a:solidFill>
                  <a:srgbClr val="A9B4C2"/>
                </a:solidFill>
                <a:latin typeface="Calibri" pitchFamily="34" charset="0"/>
                <a:ea typeface="Calibri" pitchFamily="34" charset="-122"/>
                <a:cs typeface="Calibri" pitchFamily="34" charset="-120"/>
              </a:rPr>
              <a:t>and the evidence behind both.</a:t>
            </a:r>
            <a:endParaRPr lang="en-US" sz="1500" dirty="0"/>
          </a:p>
        </p:txBody>
      </p:sp>
      <p:sp>
        <p:nvSpPr>
          <p:cNvPr id="7" name="Text 5"/>
          <p:cNvSpPr/>
          <p:nvPr/>
        </p:nvSpPr>
        <p:spPr>
          <a:xfrm>
            <a:off x="685800" y="5989320"/>
            <a:ext cx="7315200" cy="320040"/>
          </a:xfrm>
          <a:prstGeom prst="rect">
            <a:avLst/>
          </a:prstGeom>
          <a:noFill/>
          <a:ln/>
        </p:spPr>
        <p:txBody>
          <a:bodyPr wrap="square" lIns="0" tIns="0" rIns="0" bIns="0" rtlCol="0" anchor="ctr"/>
          <a:lstStyle/>
          <a:p>
            <a:pPr indent="0" marL="0">
              <a:buNone/>
            </a:pPr>
            <a:r>
              <a:rPr lang="en-US" sz="1150" dirty="0">
                <a:solidFill>
                  <a:srgbClr val="9AA4B0"/>
                </a:solidFill>
                <a:latin typeface="Calibri" pitchFamily="34" charset="0"/>
                <a:ea typeface="Calibri" pitchFamily="34" charset="-122"/>
                <a:cs typeface="Calibri" pitchFamily="34" charset="-120"/>
              </a:rPr>
              <a:t>Thai-Nichi Institute of Technology   ·   10 August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66928"/>
            <a:ext cx="10817352" cy="274320"/>
          </a:xfrm>
          <a:prstGeom prst="rect">
            <a:avLst/>
          </a:prstGeom>
          <a:noFill/>
          <a:ln/>
        </p:spPr>
        <p:txBody>
          <a:bodyPr wrap="square" lIns="0" tIns="0" rIns="0" bIns="0" rtlCol="0" anchor="ctr"/>
          <a:lstStyle/>
          <a:p>
            <a:pPr algn="l" indent="0" marL="0">
              <a:buNone/>
            </a:pPr>
            <a:r>
              <a:rPr lang="en-US" sz="1050" b="1" spc="300" kern="0" dirty="0">
                <a:solidFill>
                  <a:srgbClr val="6B7280"/>
                </a:solidFill>
                <a:latin typeface="Calibri" pitchFamily="34" charset="0"/>
                <a:ea typeface="Calibri" pitchFamily="34" charset="-122"/>
                <a:cs typeface="Calibri" pitchFamily="34" charset="-120"/>
              </a:rPr>
              <a:t>01 — THE PROBLEM</a:t>
            </a:r>
            <a:endParaRPr lang="en-US" sz="1050" dirty="0"/>
          </a:p>
        </p:txBody>
      </p:sp>
      <p:sp>
        <p:nvSpPr>
          <p:cNvPr id="3" name="Text 1"/>
          <p:cNvSpPr/>
          <p:nvPr/>
        </p:nvSpPr>
        <p:spPr>
          <a:xfrm>
            <a:off x="685800" y="914400"/>
            <a:ext cx="10817352" cy="1051560"/>
          </a:xfrm>
          <a:prstGeom prst="rect">
            <a:avLst/>
          </a:prstGeom>
          <a:noFill/>
          <a:ln/>
        </p:spPr>
        <p:txBody>
          <a:bodyPr wrap="square" lIns="0" tIns="0" rIns="0" bIns="0" rtlCol="0" anchor="ctr"/>
          <a:lstStyle/>
          <a:p>
            <a:pPr algn="l" indent="0" marL="0">
              <a:buNone/>
            </a:pPr>
            <a:r>
              <a:rPr lang="en-US" sz="3800" b="1" dirty="0">
                <a:solidFill>
                  <a:srgbClr val="1C2530"/>
                </a:solidFill>
                <a:latin typeface="Cambria" pitchFamily="34" charset="0"/>
                <a:ea typeface="Cambria" pitchFamily="34" charset="-122"/>
                <a:cs typeface="Cambria" pitchFamily="34" charset="-120"/>
              </a:rPr>
              <a:t>Stock surplus and stock shortage, at once.</a:t>
            </a:r>
            <a:endParaRPr lang="en-US" sz="3800" dirty="0"/>
          </a:p>
        </p:txBody>
      </p:sp>
      <p:sp>
        <p:nvSpPr>
          <p:cNvPr id="4" name="Text 2"/>
          <p:cNvSpPr/>
          <p:nvPr/>
        </p:nvSpPr>
        <p:spPr>
          <a:xfrm>
            <a:off x="685800" y="2057400"/>
            <a:ext cx="8778240" cy="868680"/>
          </a:xfrm>
          <a:prstGeom prst="rect">
            <a:avLst/>
          </a:prstGeom>
          <a:noFill/>
          <a:ln/>
        </p:spPr>
        <p:txBody>
          <a:bodyPr wrap="square" lIns="0" tIns="0" rIns="0" bIns="0" rtlCol="0" anchor="ctr"/>
          <a:lstStyle/>
          <a:p>
            <a:pPr indent="0" marL="0">
              <a:lnSpc>
                <a:spcPct val="120000"/>
              </a:lnSpc>
              <a:buNone/>
            </a:pPr>
            <a:r>
              <a:rPr lang="en-US" sz="1500" dirty="0">
                <a:solidFill>
                  <a:srgbClr val="6B7280"/>
                </a:solidFill>
                <a:latin typeface="Calibri" pitchFamily="34" charset="0"/>
                <a:ea typeface="Calibri" pitchFamily="34" charset="-122"/>
                <a:cs typeface="Calibri" pitchFamily="34" charset="-120"/>
              </a:rPr>
              <a:t>Mitsubishi Electric Thailand cannot supply customers just-in-time: some products sit overstocked while others run out. Planning needs forward demand numbers it can trust.</a:t>
            </a:r>
            <a:endParaRPr lang="en-US" sz="1500" dirty="0"/>
          </a:p>
        </p:txBody>
      </p:sp>
      <p:sp>
        <p:nvSpPr>
          <p:cNvPr id="5" name="Text 3"/>
          <p:cNvSpPr/>
          <p:nvPr/>
        </p:nvSpPr>
        <p:spPr>
          <a:xfrm>
            <a:off x="685800" y="3794760"/>
            <a:ext cx="3285744" cy="914400"/>
          </a:xfrm>
          <a:prstGeom prst="rect">
            <a:avLst/>
          </a:prstGeom>
          <a:noFill/>
          <a:ln/>
        </p:spPr>
        <p:txBody>
          <a:bodyPr wrap="square" lIns="0" tIns="0" rIns="0" bIns="0" rtlCol="0" anchor="ctr"/>
          <a:lstStyle/>
          <a:p>
            <a:pPr indent="0" marL="0">
              <a:buNone/>
            </a:pPr>
            <a:r>
              <a:rPr lang="en-US" sz="4000" b="1" dirty="0">
                <a:solidFill>
                  <a:srgbClr val="1C2530"/>
                </a:solidFill>
                <a:latin typeface="Cambria" pitchFamily="34" charset="0"/>
                <a:ea typeface="Cambria" pitchFamily="34" charset="-122"/>
                <a:cs typeface="Cambria" pitchFamily="34" charset="-120"/>
              </a:rPr>
              <a:t>5,706</a:t>
            </a:r>
            <a:endParaRPr lang="en-US" sz="4000" dirty="0"/>
          </a:p>
        </p:txBody>
      </p:sp>
      <p:sp>
        <p:nvSpPr>
          <p:cNvPr id="6" name="Text 4"/>
          <p:cNvSpPr/>
          <p:nvPr/>
        </p:nvSpPr>
        <p:spPr>
          <a:xfrm>
            <a:off x="685800" y="4709160"/>
            <a:ext cx="3285744"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products in the catalogue</a:t>
            </a:r>
            <a:endParaRPr lang="en-US" sz="1200" dirty="0"/>
          </a:p>
        </p:txBody>
      </p:sp>
      <p:sp>
        <p:nvSpPr>
          <p:cNvPr id="7" name="Text 5"/>
          <p:cNvSpPr/>
          <p:nvPr/>
        </p:nvSpPr>
        <p:spPr>
          <a:xfrm>
            <a:off x="4291584" y="3794760"/>
            <a:ext cx="3285744" cy="914400"/>
          </a:xfrm>
          <a:prstGeom prst="rect">
            <a:avLst/>
          </a:prstGeom>
          <a:noFill/>
          <a:ln/>
        </p:spPr>
        <p:txBody>
          <a:bodyPr wrap="square" lIns="0" tIns="0" rIns="0" bIns="0" rtlCol="0" anchor="ctr"/>
          <a:lstStyle/>
          <a:p>
            <a:pPr indent="0" marL="0">
              <a:buNone/>
            </a:pPr>
            <a:r>
              <a:rPr lang="en-US" sz="4000" b="1" dirty="0">
                <a:solidFill>
                  <a:srgbClr val="1C2530"/>
                </a:solidFill>
                <a:latin typeface="Cambria" pitchFamily="34" charset="0"/>
                <a:ea typeface="Cambria" pitchFamily="34" charset="-122"/>
                <a:cs typeface="Cambria" pitchFamily="34" charset="-120"/>
              </a:rPr>
              <a:t>272,000</a:t>
            </a:r>
            <a:endParaRPr lang="en-US" sz="4000" dirty="0"/>
          </a:p>
        </p:txBody>
      </p:sp>
      <p:sp>
        <p:nvSpPr>
          <p:cNvPr id="8" name="Text 6"/>
          <p:cNvSpPr/>
          <p:nvPr/>
        </p:nvSpPr>
        <p:spPr>
          <a:xfrm>
            <a:off x="4291584" y="4709160"/>
            <a:ext cx="3285744"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order lines, four fiscal years</a:t>
            </a:r>
            <a:endParaRPr lang="en-US" sz="1200" dirty="0"/>
          </a:p>
        </p:txBody>
      </p:sp>
      <p:sp>
        <p:nvSpPr>
          <p:cNvPr id="9" name="Text 7"/>
          <p:cNvSpPr/>
          <p:nvPr/>
        </p:nvSpPr>
        <p:spPr>
          <a:xfrm>
            <a:off x="7897368" y="3794760"/>
            <a:ext cx="3285744" cy="914400"/>
          </a:xfrm>
          <a:prstGeom prst="rect">
            <a:avLst/>
          </a:prstGeom>
          <a:noFill/>
          <a:ln/>
        </p:spPr>
        <p:txBody>
          <a:bodyPr wrap="square" lIns="0" tIns="0" rIns="0" bIns="0" rtlCol="0" anchor="ctr"/>
          <a:lstStyle/>
          <a:p>
            <a:pPr indent="0" marL="0">
              <a:buNone/>
            </a:pPr>
            <a:r>
              <a:rPr lang="en-US" sz="4000" b="1" dirty="0">
                <a:solidFill>
                  <a:srgbClr val="1C2530"/>
                </a:solidFill>
                <a:latin typeface="Cambria" pitchFamily="34" charset="0"/>
                <a:ea typeface="Cambria" pitchFamily="34" charset="-122"/>
                <a:cs typeface="Cambria" pitchFamily="34" charset="-120"/>
              </a:rPr>
              <a:t>48</a:t>
            </a:r>
            <a:endParaRPr lang="en-US" sz="4000" dirty="0"/>
          </a:p>
        </p:txBody>
      </p:sp>
      <p:sp>
        <p:nvSpPr>
          <p:cNvPr id="10" name="Text 8"/>
          <p:cNvSpPr/>
          <p:nvPr/>
        </p:nvSpPr>
        <p:spPr>
          <a:xfrm>
            <a:off x="7897368" y="4709160"/>
            <a:ext cx="3285744"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months of history — FY2021 to FY2024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66928"/>
            <a:ext cx="10817352" cy="274320"/>
          </a:xfrm>
          <a:prstGeom prst="rect">
            <a:avLst/>
          </a:prstGeom>
          <a:noFill/>
          <a:ln/>
        </p:spPr>
        <p:txBody>
          <a:bodyPr wrap="square" lIns="0" tIns="0" rIns="0" bIns="0" rtlCol="0" anchor="ctr"/>
          <a:lstStyle/>
          <a:p>
            <a:pPr algn="l" indent="0" marL="0">
              <a:buNone/>
            </a:pPr>
            <a:r>
              <a:rPr lang="en-US" sz="1050" b="1" spc="300" kern="0" dirty="0">
                <a:solidFill>
                  <a:srgbClr val="6B7280"/>
                </a:solidFill>
                <a:latin typeface="Calibri" pitchFamily="34" charset="0"/>
                <a:ea typeface="Calibri" pitchFamily="34" charset="-122"/>
                <a:cs typeface="Calibri" pitchFamily="34" charset="-120"/>
              </a:rPr>
              <a:t>02 — THE SYSTEM</a:t>
            </a:r>
            <a:endParaRPr lang="en-US" sz="1050" dirty="0"/>
          </a:p>
        </p:txBody>
      </p:sp>
      <p:sp>
        <p:nvSpPr>
          <p:cNvPr id="3" name="Text 1"/>
          <p:cNvSpPr/>
          <p:nvPr/>
        </p:nvSpPr>
        <p:spPr>
          <a:xfrm>
            <a:off x="685800" y="914400"/>
            <a:ext cx="10817352" cy="1051560"/>
          </a:xfrm>
          <a:prstGeom prst="rect">
            <a:avLst/>
          </a:prstGeom>
          <a:noFill/>
          <a:ln/>
        </p:spPr>
        <p:txBody>
          <a:bodyPr wrap="square" lIns="0" tIns="0" rIns="0" bIns="0" rtlCol="0" anchor="ctr"/>
          <a:lstStyle/>
          <a:p>
            <a:pPr algn="l" indent="0" marL="0">
              <a:buNone/>
            </a:pPr>
            <a:r>
              <a:rPr lang="en-US" sz="3800" b="1" dirty="0">
                <a:solidFill>
                  <a:srgbClr val="1C2530"/>
                </a:solidFill>
                <a:latin typeface="Cambria" pitchFamily="34" charset="0"/>
                <a:ea typeface="Cambria" pitchFamily="34" charset="-122"/>
                <a:cs typeface="Cambria" pitchFamily="34" charset="-120"/>
              </a:rPr>
              <a:t>One pipeline, four steps.</a:t>
            </a:r>
            <a:endParaRPr lang="en-US" sz="3800" dirty="0"/>
          </a:p>
        </p:txBody>
      </p:sp>
      <p:sp>
        <p:nvSpPr>
          <p:cNvPr id="4" name="Text 2"/>
          <p:cNvSpPr/>
          <p:nvPr/>
        </p:nvSpPr>
        <p:spPr>
          <a:xfrm>
            <a:off x="685800" y="2286000"/>
            <a:ext cx="2384298" cy="685800"/>
          </a:xfrm>
          <a:prstGeom prst="rect">
            <a:avLst/>
          </a:prstGeom>
          <a:noFill/>
          <a:ln/>
        </p:spPr>
        <p:txBody>
          <a:bodyPr wrap="square" lIns="0" tIns="0" rIns="0" bIns="0" rtlCol="0" anchor="ctr"/>
          <a:lstStyle/>
          <a:p>
            <a:pPr indent="0" marL="0">
              <a:buNone/>
            </a:pPr>
            <a:r>
              <a:rPr lang="en-US" sz="3000" i="1" dirty="0">
                <a:solidFill>
                  <a:srgbClr val="C8102E"/>
                </a:solidFill>
                <a:latin typeface="Cambria" pitchFamily="34" charset="0"/>
                <a:ea typeface="Cambria" pitchFamily="34" charset="-122"/>
                <a:cs typeface="Cambria" pitchFamily="34" charset="-120"/>
              </a:rPr>
              <a:t>01</a:t>
            </a:r>
            <a:endParaRPr lang="en-US" sz="3000" dirty="0"/>
          </a:p>
        </p:txBody>
      </p:sp>
      <p:sp>
        <p:nvSpPr>
          <p:cNvPr id="5" name="Text 3"/>
          <p:cNvSpPr/>
          <p:nvPr/>
        </p:nvSpPr>
        <p:spPr>
          <a:xfrm>
            <a:off x="685800" y="3017520"/>
            <a:ext cx="2384298" cy="411480"/>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Clean</a:t>
            </a:r>
            <a:endParaRPr lang="en-US" sz="1700" dirty="0"/>
          </a:p>
        </p:txBody>
      </p:sp>
      <p:sp>
        <p:nvSpPr>
          <p:cNvPr id="6" name="Text 4"/>
          <p:cNvSpPr/>
          <p:nvPr/>
        </p:nvSpPr>
        <p:spPr>
          <a:xfrm>
            <a:off x="685800" y="3474720"/>
            <a:ext cx="2384298" cy="1371600"/>
          </a:xfrm>
          <a:prstGeom prst="rect">
            <a:avLst/>
          </a:prstGeom>
          <a:noFill/>
          <a:ln/>
        </p:spPr>
        <p:txBody>
          <a:bodyPr wrap="square" lIns="0" tIns="0" rIns="0" bIns="0" rtlCol="0" anchor="ctr"/>
          <a:lstStyle/>
          <a:p>
            <a:pPr indent="0" marL="0">
              <a:lnSpc>
                <a:spcPct val="115000"/>
              </a:lnSpc>
              <a:buNone/>
            </a:pPr>
            <a:r>
              <a:rPr lang="en-US" sz="1200" dirty="0">
                <a:solidFill>
                  <a:srgbClr val="6B7280"/>
                </a:solidFill>
                <a:latin typeface="Calibri" pitchFamily="34" charset="0"/>
                <a:ea typeface="Calibri" pitchFamily="34" charset="-122"/>
                <a:cs typeface="Calibri" pitchFamily="34" charset="-120"/>
              </a:rPr>
              <a:t>272,000 lines reconciled against both master lists; every decision logged</a:t>
            </a:r>
            <a:endParaRPr lang="en-US" sz="1200" dirty="0"/>
          </a:p>
        </p:txBody>
      </p:sp>
      <p:sp>
        <p:nvSpPr>
          <p:cNvPr id="7" name="Text 5"/>
          <p:cNvSpPr/>
          <p:nvPr/>
        </p:nvSpPr>
        <p:spPr>
          <a:xfrm>
            <a:off x="3390138" y="2286000"/>
            <a:ext cx="2384298" cy="685800"/>
          </a:xfrm>
          <a:prstGeom prst="rect">
            <a:avLst/>
          </a:prstGeom>
          <a:noFill/>
          <a:ln/>
        </p:spPr>
        <p:txBody>
          <a:bodyPr wrap="square" lIns="0" tIns="0" rIns="0" bIns="0" rtlCol="0" anchor="ctr"/>
          <a:lstStyle/>
          <a:p>
            <a:pPr indent="0" marL="0">
              <a:buNone/>
            </a:pPr>
            <a:r>
              <a:rPr lang="en-US" sz="3000" i="1" dirty="0">
                <a:solidFill>
                  <a:srgbClr val="C8102E"/>
                </a:solidFill>
                <a:latin typeface="Cambria" pitchFamily="34" charset="0"/>
                <a:ea typeface="Cambria" pitchFamily="34" charset="-122"/>
                <a:cs typeface="Cambria" pitchFamily="34" charset="-120"/>
              </a:rPr>
              <a:t>02</a:t>
            </a:r>
            <a:endParaRPr lang="en-US" sz="3000" dirty="0"/>
          </a:p>
        </p:txBody>
      </p:sp>
      <p:sp>
        <p:nvSpPr>
          <p:cNvPr id="8" name="Text 6"/>
          <p:cNvSpPr/>
          <p:nvPr/>
        </p:nvSpPr>
        <p:spPr>
          <a:xfrm>
            <a:off x="3390138" y="3017520"/>
            <a:ext cx="2384298" cy="411480"/>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Compete</a:t>
            </a:r>
            <a:endParaRPr lang="en-US" sz="1700" dirty="0"/>
          </a:p>
        </p:txBody>
      </p:sp>
      <p:sp>
        <p:nvSpPr>
          <p:cNvPr id="9" name="Text 7"/>
          <p:cNvSpPr/>
          <p:nvPr/>
        </p:nvSpPr>
        <p:spPr>
          <a:xfrm>
            <a:off x="3390138" y="3474720"/>
            <a:ext cx="2384298" cy="1371600"/>
          </a:xfrm>
          <a:prstGeom prst="rect">
            <a:avLst/>
          </a:prstGeom>
          <a:noFill/>
          <a:ln/>
        </p:spPr>
        <p:txBody>
          <a:bodyPr wrap="square" lIns="0" tIns="0" rIns="0" bIns="0" rtlCol="0" anchor="ctr"/>
          <a:lstStyle/>
          <a:p>
            <a:pPr indent="0" marL="0">
              <a:lnSpc>
                <a:spcPct val="115000"/>
              </a:lnSpc>
              <a:buNone/>
            </a:pPr>
            <a:r>
              <a:rPr lang="en-US" sz="1200" dirty="0">
                <a:solidFill>
                  <a:srgbClr val="6B7280"/>
                </a:solidFill>
                <a:latin typeface="Calibri" pitchFamily="34" charset="0"/>
                <a:ea typeface="Calibri" pitchFamily="34" charset="-122"/>
                <a:cs typeface="Calibri" pitchFamily="34" charset="-120"/>
              </a:rPr>
              <a:t>Up to 24 forecasting methods fight per product on two hidden years</a:t>
            </a:r>
            <a:endParaRPr lang="en-US" sz="1200" dirty="0"/>
          </a:p>
        </p:txBody>
      </p:sp>
      <p:sp>
        <p:nvSpPr>
          <p:cNvPr id="10" name="Text 8"/>
          <p:cNvSpPr/>
          <p:nvPr/>
        </p:nvSpPr>
        <p:spPr>
          <a:xfrm>
            <a:off x="6094476" y="2286000"/>
            <a:ext cx="2384298" cy="685800"/>
          </a:xfrm>
          <a:prstGeom prst="rect">
            <a:avLst/>
          </a:prstGeom>
          <a:noFill/>
          <a:ln/>
        </p:spPr>
        <p:txBody>
          <a:bodyPr wrap="square" lIns="0" tIns="0" rIns="0" bIns="0" rtlCol="0" anchor="ctr"/>
          <a:lstStyle/>
          <a:p>
            <a:pPr indent="0" marL="0">
              <a:buNone/>
            </a:pPr>
            <a:r>
              <a:rPr lang="en-US" sz="3000" i="1" dirty="0">
                <a:solidFill>
                  <a:srgbClr val="C8102E"/>
                </a:solidFill>
                <a:latin typeface="Cambria" pitchFamily="34" charset="0"/>
                <a:ea typeface="Cambria" pitchFamily="34" charset="-122"/>
                <a:cs typeface="Cambria" pitchFamily="34" charset="-120"/>
              </a:rPr>
              <a:t>03</a:t>
            </a:r>
            <a:endParaRPr lang="en-US" sz="3000" dirty="0"/>
          </a:p>
        </p:txBody>
      </p:sp>
      <p:sp>
        <p:nvSpPr>
          <p:cNvPr id="11" name="Text 9"/>
          <p:cNvSpPr/>
          <p:nvPr/>
        </p:nvSpPr>
        <p:spPr>
          <a:xfrm>
            <a:off x="6094476" y="3017520"/>
            <a:ext cx="2384298" cy="411480"/>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Forecast</a:t>
            </a:r>
            <a:endParaRPr lang="en-US" sz="1700" dirty="0"/>
          </a:p>
        </p:txBody>
      </p:sp>
      <p:sp>
        <p:nvSpPr>
          <p:cNvPr id="12" name="Text 10"/>
          <p:cNvSpPr/>
          <p:nvPr/>
        </p:nvSpPr>
        <p:spPr>
          <a:xfrm>
            <a:off x="6094476" y="3474720"/>
            <a:ext cx="2384298" cy="1371600"/>
          </a:xfrm>
          <a:prstGeom prst="rect">
            <a:avLst/>
          </a:prstGeom>
          <a:noFill/>
          <a:ln/>
        </p:spPr>
        <p:txBody>
          <a:bodyPr wrap="square" lIns="0" tIns="0" rIns="0" bIns="0" rtlCol="0" anchor="ctr"/>
          <a:lstStyle/>
          <a:p>
            <a:pPr indent="0" marL="0">
              <a:lnSpc>
                <a:spcPct val="115000"/>
              </a:lnSpc>
              <a:buNone/>
            </a:pPr>
            <a:r>
              <a:rPr lang="en-US" sz="1200" dirty="0">
                <a:solidFill>
                  <a:srgbClr val="6B7280"/>
                </a:solidFill>
                <a:latin typeface="Calibri" pitchFamily="34" charset="0"/>
                <a:ea typeface="Calibri" pitchFamily="34" charset="-122"/>
                <a:cs typeface="Calibri" pitchFamily="34" charset="-120"/>
              </a:rPr>
              <a:t>FY2025 by product and month, with a measured confidence range</a:t>
            </a:r>
            <a:endParaRPr lang="en-US" sz="1200" dirty="0"/>
          </a:p>
        </p:txBody>
      </p:sp>
      <p:sp>
        <p:nvSpPr>
          <p:cNvPr id="13" name="Text 11"/>
          <p:cNvSpPr/>
          <p:nvPr/>
        </p:nvSpPr>
        <p:spPr>
          <a:xfrm>
            <a:off x="8798814" y="2286000"/>
            <a:ext cx="2384298" cy="685800"/>
          </a:xfrm>
          <a:prstGeom prst="rect">
            <a:avLst/>
          </a:prstGeom>
          <a:noFill/>
          <a:ln/>
        </p:spPr>
        <p:txBody>
          <a:bodyPr wrap="square" lIns="0" tIns="0" rIns="0" bIns="0" rtlCol="0" anchor="ctr"/>
          <a:lstStyle/>
          <a:p>
            <a:pPr indent="0" marL="0">
              <a:buNone/>
            </a:pPr>
            <a:r>
              <a:rPr lang="en-US" sz="3000" i="1" dirty="0">
                <a:solidFill>
                  <a:srgbClr val="C8102E"/>
                </a:solidFill>
                <a:latin typeface="Cambria" pitchFamily="34" charset="0"/>
                <a:ea typeface="Cambria" pitchFamily="34" charset="-122"/>
                <a:cs typeface="Cambria" pitchFamily="34" charset="-120"/>
              </a:rPr>
              <a:t>04</a:t>
            </a:r>
            <a:endParaRPr lang="en-US" sz="3000" dirty="0"/>
          </a:p>
        </p:txBody>
      </p:sp>
      <p:sp>
        <p:nvSpPr>
          <p:cNvPr id="14" name="Text 12"/>
          <p:cNvSpPr/>
          <p:nvPr/>
        </p:nvSpPr>
        <p:spPr>
          <a:xfrm>
            <a:off x="8798814" y="3017520"/>
            <a:ext cx="2384298" cy="411480"/>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Decide</a:t>
            </a:r>
            <a:endParaRPr lang="en-US" sz="1700" dirty="0"/>
          </a:p>
        </p:txBody>
      </p:sp>
      <p:sp>
        <p:nvSpPr>
          <p:cNvPr id="15" name="Text 13"/>
          <p:cNvSpPr/>
          <p:nvPr/>
        </p:nvSpPr>
        <p:spPr>
          <a:xfrm>
            <a:off x="8798814" y="3474720"/>
            <a:ext cx="2384298" cy="1371600"/>
          </a:xfrm>
          <a:prstGeom prst="rect">
            <a:avLst/>
          </a:prstGeom>
          <a:noFill/>
          <a:ln/>
        </p:spPr>
        <p:txBody>
          <a:bodyPr wrap="square" lIns="0" tIns="0" rIns="0" bIns="0" rtlCol="0" anchor="ctr"/>
          <a:lstStyle/>
          <a:p>
            <a:pPr indent="0" marL="0">
              <a:lnSpc>
                <a:spcPct val="115000"/>
              </a:lnSpc>
              <a:buNone/>
            </a:pPr>
            <a:r>
              <a:rPr lang="en-US" sz="1200" dirty="0">
                <a:solidFill>
                  <a:srgbClr val="6B7280"/>
                </a:solidFill>
                <a:latin typeface="Calibri" pitchFamily="34" charset="0"/>
                <a:ea typeface="Calibri" pitchFamily="34" charset="-122"/>
                <a:cs typeface="Calibri" pitchFamily="34" charset="-120"/>
              </a:rPr>
              <a:t>A dashboard for non-analysts; new data re-runs everything in two minutes</a:t>
            </a:r>
            <a:endParaRPr lang="en-US" sz="1200" dirty="0"/>
          </a:p>
        </p:txBody>
      </p:sp>
      <p:sp>
        <p:nvSpPr>
          <p:cNvPr id="16" name="Text 14"/>
          <p:cNvSpPr/>
          <p:nvPr/>
        </p:nvSpPr>
        <p:spPr>
          <a:xfrm>
            <a:off x="685800" y="5623560"/>
            <a:ext cx="10817352" cy="54864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No model was assumed. Each product's method won a back-test against every alternative its history could support.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66928"/>
            <a:ext cx="10817352" cy="274320"/>
          </a:xfrm>
          <a:prstGeom prst="rect">
            <a:avLst/>
          </a:prstGeom>
          <a:noFill/>
          <a:ln/>
        </p:spPr>
        <p:txBody>
          <a:bodyPr wrap="square" lIns="0" tIns="0" rIns="0" bIns="0" rtlCol="0" anchor="ctr"/>
          <a:lstStyle/>
          <a:p>
            <a:pPr algn="l" indent="0" marL="0">
              <a:buNone/>
            </a:pPr>
            <a:r>
              <a:rPr lang="en-US" sz="1050" b="1" spc="300" kern="0" dirty="0">
                <a:solidFill>
                  <a:srgbClr val="6B7280"/>
                </a:solidFill>
                <a:latin typeface="Calibri" pitchFamily="34" charset="0"/>
                <a:ea typeface="Calibri" pitchFamily="34" charset="-122"/>
                <a:cs typeface="Calibri" pitchFamily="34" charset="-120"/>
              </a:rPr>
              <a:t>03 — WHAT THE DATA TOLD US</a:t>
            </a:r>
            <a:endParaRPr lang="en-US" sz="1050" dirty="0"/>
          </a:p>
        </p:txBody>
      </p:sp>
      <p:sp>
        <p:nvSpPr>
          <p:cNvPr id="3" name="Text 1"/>
          <p:cNvSpPr/>
          <p:nvPr/>
        </p:nvSpPr>
        <p:spPr>
          <a:xfrm>
            <a:off x="685800" y="914400"/>
            <a:ext cx="10817352" cy="1051560"/>
          </a:xfrm>
          <a:prstGeom prst="rect">
            <a:avLst/>
          </a:prstGeom>
          <a:noFill/>
          <a:ln/>
        </p:spPr>
        <p:txBody>
          <a:bodyPr wrap="square" lIns="0" tIns="0" rIns="0" bIns="0" rtlCol="0" anchor="ctr"/>
          <a:lstStyle/>
          <a:p>
            <a:pPr algn="l" indent="0" marL="0">
              <a:buNone/>
            </a:pPr>
            <a:r>
              <a:rPr lang="en-US" sz="3800" b="1" dirty="0">
                <a:solidFill>
                  <a:srgbClr val="1C2530"/>
                </a:solidFill>
                <a:latin typeface="Cambria" pitchFamily="34" charset="0"/>
                <a:ea typeface="Cambria" pitchFamily="34" charset="-122"/>
                <a:cs typeface="Cambria" pitchFamily="34" charset="-120"/>
              </a:rPr>
              <a:t>Demand here is events, not patterns.</a:t>
            </a:r>
            <a:endParaRPr lang="en-US" sz="3800" dirty="0"/>
          </a:p>
        </p:txBody>
      </p:sp>
      <p:sp>
        <p:nvSpPr>
          <p:cNvPr id="4" name="Text 2"/>
          <p:cNvSpPr/>
          <p:nvPr/>
        </p:nvSpPr>
        <p:spPr>
          <a:xfrm>
            <a:off x="685800" y="2423160"/>
            <a:ext cx="2834640" cy="777240"/>
          </a:xfrm>
          <a:prstGeom prst="rect">
            <a:avLst/>
          </a:prstGeom>
          <a:noFill/>
          <a:ln/>
        </p:spPr>
        <p:txBody>
          <a:bodyPr wrap="square" lIns="0" tIns="0" rIns="0" bIns="0" rtlCol="0" anchor="ctr"/>
          <a:lstStyle/>
          <a:p>
            <a:pPr indent="0" marL="0">
              <a:buNone/>
            </a:pPr>
            <a:r>
              <a:rPr lang="en-US" sz="2800" b="1" dirty="0">
                <a:solidFill>
                  <a:srgbClr val="1C2530"/>
                </a:solidFill>
                <a:latin typeface="Cambria" pitchFamily="34" charset="0"/>
                <a:ea typeface="Cambria" pitchFamily="34" charset="-122"/>
                <a:cs typeface="Cambria" pitchFamily="34" charset="-120"/>
              </a:rPr>
              <a:t>3 of 48</a:t>
            </a:r>
            <a:endParaRPr lang="en-US" sz="2800" dirty="0"/>
          </a:p>
        </p:txBody>
      </p:sp>
      <p:sp>
        <p:nvSpPr>
          <p:cNvPr id="5" name="Text 3"/>
          <p:cNvSpPr/>
          <p:nvPr/>
        </p:nvSpPr>
        <p:spPr>
          <a:xfrm>
            <a:off x="3794760" y="2532888"/>
            <a:ext cx="7708392" cy="64008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months in which the median product records any sale at all</a:t>
            </a:r>
            <a:endParaRPr lang="en-US" sz="1350" dirty="0"/>
          </a:p>
        </p:txBody>
      </p:sp>
      <p:sp>
        <p:nvSpPr>
          <p:cNvPr id="6" name="Shape 4"/>
          <p:cNvSpPr/>
          <p:nvPr/>
        </p:nvSpPr>
        <p:spPr>
          <a:xfrm>
            <a:off x="685800" y="3255264"/>
            <a:ext cx="10817352" cy="0"/>
          </a:xfrm>
          <a:prstGeom prst="line">
            <a:avLst/>
          </a:prstGeom>
          <a:noFill/>
          <a:ln w="9525">
            <a:solidFill>
              <a:srgbClr val="E2E6EA"/>
            </a:solidFill>
            <a:prstDash val="solid"/>
          </a:ln>
        </p:spPr>
      </p:sp>
      <p:sp>
        <p:nvSpPr>
          <p:cNvPr id="7" name="Text 5"/>
          <p:cNvSpPr/>
          <p:nvPr/>
        </p:nvSpPr>
        <p:spPr>
          <a:xfrm>
            <a:off x="685800" y="3383280"/>
            <a:ext cx="2834640" cy="777240"/>
          </a:xfrm>
          <a:prstGeom prst="rect">
            <a:avLst/>
          </a:prstGeom>
          <a:noFill/>
          <a:ln/>
        </p:spPr>
        <p:txBody>
          <a:bodyPr wrap="square" lIns="0" tIns="0" rIns="0" bIns="0" rtlCol="0" anchor="ctr"/>
          <a:lstStyle/>
          <a:p>
            <a:pPr indent="0" marL="0">
              <a:buNone/>
            </a:pPr>
            <a:r>
              <a:rPr lang="en-US" sz="2800" b="1" dirty="0">
                <a:solidFill>
                  <a:srgbClr val="1C2530"/>
                </a:solidFill>
                <a:latin typeface="Cambria" pitchFamily="34" charset="0"/>
                <a:ea typeface="Cambria" pitchFamily="34" charset="-122"/>
                <a:cs typeface="Cambria" pitchFamily="34" charset="-120"/>
              </a:rPr>
              <a:t>0.4% → 16%</a:t>
            </a:r>
            <a:endParaRPr lang="en-US" sz="2800" dirty="0"/>
          </a:p>
        </p:txBody>
      </p:sp>
      <p:sp>
        <p:nvSpPr>
          <p:cNvPr id="8" name="Text 6"/>
          <p:cNvSpPr/>
          <p:nvPr/>
        </p:nvSpPr>
        <p:spPr>
          <a:xfrm>
            <a:off x="3794760" y="3493008"/>
            <a:ext cx="7708392" cy="64008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share of volume carried by the largest half-percent of order lines</a:t>
            </a:r>
            <a:endParaRPr lang="en-US" sz="1350" dirty="0"/>
          </a:p>
        </p:txBody>
      </p:sp>
      <p:sp>
        <p:nvSpPr>
          <p:cNvPr id="9" name="Shape 7"/>
          <p:cNvSpPr/>
          <p:nvPr/>
        </p:nvSpPr>
        <p:spPr>
          <a:xfrm>
            <a:off x="685800" y="4215384"/>
            <a:ext cx="10817352" cy="0"/>
          </a:xfrm>
          <a:prstGeom prst="line">
            <a:avLst/>
          </a:prstGeom>
          <a:noFill/>
          <a:ln w="9525">
            <a:solidFill>
              <a:srgbClr val="E2E6EA"/>
            </a:solidFill>
            <a:prstDash val="solid"/>
          </a:ln>
        </p:spPr>
      </p:sp>
      <p:sp>
        <p:nvSpPr>
          <p:cNvPr id="10" name="Text 8"/>
          <p:cNvSpPr/>
          <p:nvPr/>
        </p:nvSpPr>
        <p:spPr>
          <a:xfrm>
            <a:off x="685800" y="4343400"/>
            <a:ext cx="2834640" cy="777240"/>
          </a:xfrm>
          <a:prstGeom prst="rect">
            <a:avLst/>
          </a:prstGeom>
          <a:noFill/>
          <a:ln/>
        </p:spPr>
        <p:txBody>
          <a:bodyPr wrap="square" lIns="0" tIns="0" rIns="0" bIns="0" rtlCol="0" anchor="ctr"/>
          <a:lstStyle/>
          <a:p>
            <a:pPr indent="0" marL="0">
              <a:buNone/>
            </a:pPr>
            <a:r>
              <a:rPr lang="en-US" sz="2800" b="1" dirty="0">
                <a:solidFill>
                  <a:srgbClr val="1C2530"/>
                </a:solidFill>
                <a:latin typeface="Cambria" pitchFamily="34" charset="0"/>
                <a:ea typeface="Cambria" pitchFamily="34" charset="-122"/>
                <a:cs typeface="Cambria" pitchFamily="34" charset="-120"/>
              </a:rPr>
              <a:t>68.5%</a:t>
            </a:r>
            <a:endParaRPr lang="en-US" sz="2800" dirty="0"/>
          </a:p>
        </p:txBody>
      </p:sp>
      <p:sp>
        <p:nvSpPr>
          <p:cNvPr id="11" name="Text 9"/>
          <p:cNvSpPr/>
          <p:nvPr/>
        </p:nvSpPr>
        <p:spPr>
          <a:xfrm>
            <a:off x="3794760" y="4453128"/>
            <a:ext cx="7708392" cy="64008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of all volume comes from just ten customers — three carry 27.6%</a:t>
            </a:r>
            <a:endParaRPr lang="en-US" sz="1350" dirty="0"/>
          </a:p>
        </p:txBody>
      </p:sp>
      <p:sp>
        <p:nvSpPr>
          <p:cNvPr id="12" name="Text 10"/>
          <p:cNvSpPr/>
          <p:nvPr/>
        </p:nvSpPr>
        <p:spPr>
          <a:xfrm>
            <a:off x="685800" y="5577840"/>
            <a:ext cx="10817352" cy="5943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The largest forecast misses come from single large orders — information that exists in the sales pipeline before it ever reaches the sales history.</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66928"/>
            <a:ext cx="10817352" cy="274320"/>
          </a:xfrm>
          <a:prstGeom prst="rect">
            <a:avLst/>
          </a:prstGeom>
          <a:noFill/>
          <a:ln/>
        </p:spPr>
        <p:txBody>
          <a:bodyPr wrap="square" lIns="0" tIns="0" rIns="0" bIns="0" rtlCol="0" anchor="ctr"/>
          <a:lstStyle/>
          <a:p>
            <a:pPr algn="l" indent="0" marL="0">
              <a:buNone/>
            </a:pPr>
            <a:r>
              <a:rPr lang="en-US" sz="1050" b="1" spc="300" kern="0" dirty="0">
                <a:solidFill>
                  <a:srgbClr val="6B7280"/>
                </a:solidFill>
                <a:latin typeface="Calibri" pitchFamily="34" charset="0"/>
                <a:ea typeface="Calibri" pitchFamily="34" charset="-122"/>
                <a:cs typeface="Calibri" pitchFamily="34" charset="-120"/>
              </a:rPr>
              <a:t>04 — THE FY2025 FORECAST</a:t>
            </a:r>
            <a:endParaRPr lang="en-US" sz="1050" dirty="0"/>
          </a:p>
        </p:txBody>
      </p:sp>
      <p:sp>
        <p:nvSpPr>
          <p:cNvPr id="3" name="Text 1"/>
          <p:cNvSpPr/>
          <p:nvPr/>
        </p:nvSpPr>
        <p:spPr>
          <a:xfrm>
            <a:off x="685800" y="914400"/>
            <a:ext cx="10817352" cy="1051560"/>
          </a:xfrm>
          <a:prstGeom prst="rect">
            <a:avLst/>
          </a:prstGeom>
          <a:noFill/>
          <a:ln/>
        </p:spPr>
        <p:txBody>
          <a:bodyPr wrap="square" lIns="0" tIns="0" rIns="0" bIns="0" rtlCol="0" anchor="ctr"/>
          <a:lstStyle/>
          <a:p>
            <a:pPr algn="l" indent="0" marL="0">
              <a:buNone/>
            </a:pPr>
            <a:r>
              <a:rPr lang="en-US" sz="3800" b="1" dirty="0">
                <a:solidFill>
                  <a:srgbClr val="1C2530"/>
                </a:solidFill>
                <a:latin typeface="Cambria" pitchFamily="34" charset="0"/>
                <a:ea typeface="Cambria" pitchFamily="34" charset="-122"/>
                <a:cs typeface="Cambria" pitchFamily="34" charset="-120"/>
              </a:rPr>
              <a:t>April 2025 to March 2026.</a:t>
            </a:r>
            <a:endParaRPr lang="en-US" sz="3800" dirty="0"/>
          </a:p>
        </p:txBody>
      </p:sp>
      <p:sp>
        <p:nvSpPr>
          <p:cNvPr id="4" name="Shape 2"/>
          <p:cNvSpPr/>
          <p:nvPr/>
        </p:nvSpPr>
        <p:spPr>
          <a:xfrm>
            <a:off x="685800" y="2377440"/>
            <a:ext cx="3429000" cy="2651760"/>
          </a:xfrm>
          <a:prstGeom prst="roundRect">
            <a:avLst>
              <a:gd name="adj" fmla="val 2759"/>
            </a:avLst>
          </a:prstGeom>
          <a:solidFill>
            <a:srgbClr val="1C2530"/>
          </a:solidFill>
          <a:ln w="12700">
            <a:solidFill>
              <a:srgbClr val="1C2530"/>
            </a:solidFill>
            <a:prstDash val="solid"/>
          </a:ln>
        </p:spPr>
      </p:sp>
      <p:sp>
        <p:nvSpPr>
          <p:cNvPr id="5" name="Text 3"/>
          <p:cNvSpPr/>
          <p:nvPr/>
        </p:nvSpPr>
        <p:spPr>
          <a:xfrm>
            <a:off x="685800" y="3063240"/>
            <a:ext cx="3429000" cy="914400"/>
          </a:xfrm>
          <a:prstGeom prst="rect">
            <a:avLst/>
          </a:prstGeom>
          <a:noFill/>
          <a:ln/>
        </p:spPr>
        <p:txBody>
          <a:bodyPr wrap="square" lIns="0" tIns="0" rIns="0" bIns="0" rtlCol="0" anchor="ctr"/>
          <a:lstStyle/>
          <a:p>
            <a:pPr algn="ctr" indent="0" marL="0">
              <a:buNone/>
            </a:pPr>
            <a:r>
              <a:rPr lang="en-US" sz="3400" b="1" dirty="0">
                <a:solidFill>
                  <a:srgbClr val="F5F7FA"/>
                </a:solidFill>
                <a:latin typeface="Cambria" pitchFamily="34" charset="0"/>
                <a:ea typeface="Cambria" pitchFamily="34" charset="-122"/>
                <a:cs typeface="Cambria" pitchFamily="34" charset="-120"/>
              </a:rPr>
              <a:t>฿1.91bn</a:t>
            </a:r>
            <a:endParaRPr lang="en-US" sz="3400" dirty="0"/>
          </a:p>
        </p:txBody>
      </p:sp>
      <p:sp>
        <p:nvSpPr>
          <p:cNvPr id="6" name="Text 4"/>
          <p:cNvSpPr/>
          <p:nvPr/>
        </p:nvSpPr>
        <p:spPr>
          <a:xfrm>
            <a:off x="960120" y="3977640"/>
            <a:ext cx="2880360" cy="640080"/>
          </a:xfrm>
          <a:prstGeom prst="rect">
            <a:avLst/>
          </a:prstGeom>
          <a:noFill/>
          <a:ln/>
        </p:spPr>
        <p:txBody>
          <a:bodyPr wrap="square" lIns="0" tIns="0" rIns="0" bIns="0" rtlCol="0" anchor="ctr"/>
          <a:lstStyle/>
          <a:p>
            <a:pPr algn="ctr" indent="0" marL="0">
              <a:buNone/>
            </a:pPr>
            <a:r>
              <a:rPr lang="en-US" sz="1200" dirty="0">
                <a:solidFill>
                  <a:srgbClr val="C9D2DB"/>
                </a:solidFill>
                <a:latin typeface="Calibri" pitchFamily="34" charset="0"/>
                <a:ea typeface="Calibri" pitchFamily="34" charset="-122"/>
                <a:cs typeface="Calibri" pitchFamily="34" charset="-120"/>
              </a:rPr>
              <a:t>forecast revenue, billed basis</a:t>
            </a:r>
            <a:endParaRPr lang="en-US" sz="1200" dirty="0"/>
          </a:p>
        </p:txBody>
      </p:sp>
      <p:sp>
        <p:nvSpPr>
          <p:cNvPr id="7" name="Shape 5"/>
          <p:cNvSpPr/>
          <p:nvPr/>
        </p:nvSpPr>
        <p:spPr>
          <a:xfrm>
            <a:off x="4398264" y="2377440"/>
            <a:ext cx="3429000" cy="2651760"/>
          </a:xfrm>
          <a:prstGeom prst="roundRect">
            <a:avLst>
              <a:gd name="adj" fmla="val 2759"/>
            </a:avLst>
          </a:prstGeom>
          <a:solidFill>
            <a:srgbClr val="C8102E"/>
          </a:solidFill>
          <a:ln w="12700">
            <a:solidFill>
              <a:srgbClr val="C8102E"/>
            </a:solidFill>
            <a:prstDash val="solid"/>
          </a:ln>
        </p:spPr>
      </p:sp>
      <p:sp>
        <p:nvSpPr>
          <p:cNvPr id="8" name="Text 6"/>
          <p:cNvSpPr/>
          <p:nvPr/>
        </p:nvSpPr>
        <p:spPr>
          <a:xfrm>
            <a:off x="4398264" y="3063240"/>
            <a:ext cx="3429000" cy="914400"/>
          </a:xfrm>
          <a:prstGeom prst="rect">
            <a:avLst/>
          </a:prstGeom>
          <a:noFill/>
          <a:ln/>
        </p:spPr>
        <p:txBody>
          <a:bodyPr wrap="square" lIns="0" tIns="0" rIns="0" bIns="0" rtlCol="0" anchor="ctr"/>
          <a:lstStyle/>
          <a:p>
            <a:pPr algn="ctr" indent="0" marL="0">
              <a:buNone/>
            </a:pPr>
            <a:r>
              <a:rPr lang="en-US" sz="3400" b="1" dirty="0">
                <a:solidFill>
                  <a:srgbClr val="F5F7FA"/>
                </a:solidFill>
                <a:latin typeface="Cambria" pitchFamily="34" charset="0"/>
                <a:ea typeface="Cambria" pitchFamily="34" charset="-122"/>
                <a:cs typeface="Cambria" pitchFamily="34" charset="-120"/>
              </a:rPr>
              <a:t>176,044</a:t>
            </a:r>
            <a:endParaRPr lang="en-US" sz="3400" dirty="0"/>
          </a:p>
        </p:txBody>
      </p:sp>
      <p:sp>
        <p:nvSpPr>
          <p:cNvPr id="9" name="Text 7"/>
          <p:cNvSpPr/>
          <p:nvPr/>
        </p:nvSpPr>
        <p:spPr>
          <a:xfrm>
            <a:off x="4672584" y="3977640"/>
            <a:ext cx="2880360" cy="640080"/>
          </a:xfrm>
          <a:prstGeom prst="rect">
            <a:avLst/>
          </a:prstGeom>
          <a:noFill/>
          <a:ln/>
        </p:spPr>
        <p:txBody>
          <a:bodyPr wrap="square" lIns="0" tIns="0" rIns="0" bIns="0" rtlCol="0" anchor="ctr"/>
          <a:lstStyle/>
          <a:p>
            <a:pPr algn="ctr" indent="0" marL="0">
              <a:buNone/>
            </a:pPr>
            <a:r>
              <a:rPr lang="en-US" sz="1200" dirty="0">
                <a:solidFill>
                  <a:srgbClr val="C9D2DB"/>
                </a:solidFill>
                <a:latin typeface="Calibri" pitchFamily="34" charset="0"/>
                <a:ea typeface="Calibri" pitchFamily="34" charset="-122"/>
                <a:cs typeface="Calibri" pitchFamily="34" charset="-120"/>
              </a:rPr>
              <a:t>units of expected demand</a:t>
            </a:r>
            <a:endParaRPr lang="en-US" sz="1200" dirty="0"/>
          </a:p>
        </p:txBody>
      </p:sp>
      <p:sp>
        <p:nvSpPr>
          <p:cNvPr id="10" name="Shape 8"/>
          <p:cNvSpPr/>
          <p:nvPr/>
        </p:nvSpPr>
        <p:spPr>
          <a:xfrm>
            <a:off x="8110728" y="2377440"/>
            <a:ext cx="3429000" cy="2651760"/>
          </a:xfrm>
          <a:prstGeom prst="roundRect">
            <a:avLst>
              <a:gd name="adj" fmla="val 2759"/>
            </a:avLst>
          </a:prstGeom>
          <a:solidFill>
            <a:srgbClr val="1C2530"/>
          </a:solidFill>
          <a:ln w="12700">
            <a:solidFill>
              <a:srgbClr val="1C2530"/>
            </a:solidFill>
            <a:prstDash val="solid"/>
          </a:ln>
        </p:spPr>
      </p:sp>
      <p:sp>
        <p:nvSpPr>
          <p:cNvPr id="11" name="Text 9"/>
          <p:cNvSpPr/>
          <p:nvPr/>
        </p:nvSpPr>
        <p:spPr>
          <a:xfrm>
            <a:off x="8110728" y="3063240"/>
            <a:ext cx="3429000" cy="914400"/>
          </a:xfrm>
          <a:prstGeom prst="rect">
            <a:avLst/>
          </a:prstGeom>
          <a:noFill/>
          <a:ln/>
        </p:spPr>
        <p:txBody>
          <a:bodyPr wrap="square" lIns="0" tIns="0" rIns="0" bIns="0" rtlCol="0" anchor="ctr"/>
          <a:lstStyle/>
          <a:p>
            <a:pPr algn="ctr" indent="0" marL="0">
              <a:buNone/>
            </a:pPr>
            <a:r>
              <a:rPr lang="en-US" sz="3400" b="1" dirty="0">
                <a:solidFill>
                  <a:srgbClr val="F5F7FA"/>
                </a:solidFill>
                <a:latin typeface="Cambria" pitchFamily="34" charset="0"/>
                <a:ea typeface="Cambria" pitchFamily="34" charset="-122"/>
                <a:cs typeface="Cambria" pitchFamily="34" charset="-120"/>
              </a:rPr>
              <a:t>118k – 216k</a:t>
            </a:r>
            <a:endParaRPr lang="en-US" sz="3400" dirty="0"/>
          </a:p>
        </p:txBody>
      </p:sp>
      <p:sp>
        <p:nvSpPr>
          <p:cNvPr id="12" name="Text 10"/>
          <p:cNvSpPr/>
          <p:nvPr/>
        </p:nvSpPr>
        <p:spPr>
          <a:xfrm>
            <a:off x="8385048" y="3977640"/>
            <a:ext cx="2880360" cy="640080"/>
          </a:xfrm>
          <a:prstGeom prst="rect">
            <a:avLst/>
          </a:prstGeom>
          <a:noFill/>
          <a:ln/>
        </p:spPr>
        <p:txBody>
          <a:bodyPr wrap="square" lIns="0" tIns="0" rIns="0" bIns="0" rtlCol="0" anchor="ctr"/>
          <a:lstStyle/>
          <a:p>
            <a:pPr algn="ctr" indent="0" marL="0">
              <a:buNone/>
            </a:pPr>
            <a:r>
              <a:rPr lang="en-US" sz="1200" dirty="0">
                <a:solidFill>
                  <a:srgbClr val="C9D2DB"/>
                </a:solidFill>
                <a:latin typeface="Calibri" pitchFamily="34" charset="0"/>
                <a:ea typeface="Calibri" pitchFamily="34" charset="-122"/>
                <a:cs typeface="Calibri" pitchFamily="34" charset="-120"/>
              </a:rPr>
              <a:t>measured 8-in-10 range</a:t>
            </a:r>
            <a:endParaRPr lang="en-US" sz="1200" dirty="0"/>
          </a:p>
        </p:txBody>
      </p:sp>
      <p:sp>
        <p:nvSpPr>
          <p:cNvPr id="13" name="Text 11"/>
          <p:cNvSpPr/>
          <p:nvPr/>
        </p:nvSpPr>
        <p:spPr>
          <a:xfrm>
            <a:off x="685800" y="5623560"/>
            <a:ext cx="10817352" cy="45720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Every product, every month — with the method used and its accuracy attached. Downloadable as one file.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66928"/>
            <a:ext cx="10817352" cy="274320"/>
          </a:xfrm>
          <a:prstGeom prst="rect">
            <a:avLst/>
          </a:prstGeom>
          <a:noFill/>
          <a:ln/>
        </p:spPr>
        <p:txBody>
          <a:bodyPr wrap="square" lIns="0" tIns="0" rIns="0" bIns="0" rtlCol="0" anchor="ctr"/>
          <a:lstStyle/>
          <a:p>
            <a:pPr algn="l" indent="0" marL="0">
              <a:buNone/>
            </a:pPr>
            <a:r>
              <a:rPr lang="en-US" sz="1050" b="1" spc="300" kern="0" dirty="0">
                <a:solidFill>
                  <a:srgbClr val="6B7280"/>
                </a:solidFill>
                <a:latin typeface="Calibri" pitchFamily="34" charset="0"/>
                <a:ea typeface="Calibri" pitchFamily="34" charset="-122"/>
                <a:cs typeface="Calibri" pitchFamily="34" charset="-120"/>
              </a:rPr>
              <a:t>05 — CROSS-CHECK</a:t>
            </a:r>
            <a:endParaRPr lang="en-US" sz="1050" dirty="0"/>
          </a:p>
        </p:txBody>
      </p:sp>
      <p:sp>
        <p:nvSpPr>
          <p:cNvPr id="3" name="Text 1"/>
          <p:cNvSpPr/>
          <p:nvPr/>
        </p:nvSpPr>
        <p:spPr>
          <a:xfrm>
            <a:off x="685800" y="914400"/>
            <a:ext cx="10817352" cy="1051560"/>
          </a:xfrm>
          <a:prstGeom prst="rect">
            <a:avLst/>
          </a:prstGeom>
          <a:noFill/>
          <a:ln/>
        </p:spPr>
        <p:txBody>
          <a:bodyPr wrap="square" lIns="0" tIns="0" rIns="0" bIns="0" rtlCol="0" anchor="ctr"/>
          <a:lstStyle/>
          <a:p>
            <a:pPr algn="l" indent="0" marL="0">
              <a:buNone/>
            </a:pPr>
            <a:r>
              <a:rPr lang="en-US" sz="3800" b="1" dirty="0">
                <a:solidFill>
                  <a:srgbClr val="1C2530"/>
                </a:solidFill>
                <a:latin typeface="Cambria" pitchFamily="34" charset="0"/>
                <a:ea typeface="Cambria" pitchFamily="34" charset="-122"/>
                <a:cs typeface="Cambria" pitchFamily="34" charset="-120"/>
              </a:rPr>
              <a:t>Two independent routes, one answer.</a:t>
            </a:r>
            <a:endParaRPr lang="en-US" sz="3800" dirty="0"/>
          </a:p>
        </p:txBody>
      </p:sp>
      <p:sp>
        <p:nvSpPr>
          <p:cNvPr id="4" name="Text 2"/>
          <p:cNvSpPr/>
          <p:nvPr/>
        </p:nvSpPr>
        <p:spPr>
          <a:xfrm>
            <a:off x="685800" y="2377440"/>
            <a:ext cx="4937760" cy="36576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The statistical system</a:t>
            </a:r>
            <a:endParaRPr lang="en-US" sz="1300" dirty="0"/>
          </a:p>
        </p:txBody>
      </p:sp>
      <p:sp>
        <p:nvSpPr>
          <p:cNvPr id="5" name="Text 3"/>
          <p:cNvSpPr/>
          <p:nvPr/>
        </p:nvSpPr>
        <p:spPr>
          <a:xfrm>
            <a:off x="685800" y="2788920"/>
            <a:ext cx="4937760" cy="914400"/>
          </a:xfrm>
          <a:prstGeom prst="rect">
            <a:avLst/>
          </a:prstGeom>
          <a:noFill/>
          <a:ln/>
        </p:spPr>
        <p:txBody>
          <a:bodyPr wrap="square" lIns="0" tIns="0" rIns="0" bIns="0" rtlCol="0" anchor="ctr"/>
          <a:lstStyle/>
          <a:p>
            <a:pPr indent="0" marL="0">
              <a:buNone/>
            </a:pPr>
            <a:r>
              <a:rPr lang="en-US" sz="4000" b="1" dirty="0">
                <a:solidFill>
                  <a:srgbClr val="1C2530"/>
                </a:solidFill>
                <a:latin typeface="Cambria" pitchFamily="34" charset="0"/>
                <a:ea typeface="Cambria" pitchFamily="34" charset="-122"/>
                <a:cs typeface="Cambria" pitchFamily="34" charset="-120"/>
              </a:rPr>
              <a:t>176,044</a:t>
            </a:r>
            <a:endParaRPr lang="en-US" sz="4000" dirty="0"/>
          </a:p>
        </p:txBody>
      </p:sp>
      <p:sp>
        <p:nvSpPr>
          <p:cNvPr id="6" name="Text 4"/>
          <p:cNvSpPr/>
          <p:nvPr/>
        </p:nvSpPr>
        <p:spPr>
          <a:xfrm>
            <a:off x="685800" y="3749040"/>
            <a:ext cx="4937760" cy="731520"/>
          </a:xfrm>
          <a:prstGeom prst="rect">
            <a:avLst/>
          </a:prstGeom>
          <a:noFill/>
          <a:ln/>
        </p:spPr>
        <p:txBody>
          <a:bodyPr wrap="square" lIns="0" tIns="0" rIns="0" bIns="0" rtlCol="0" anchor="ctr"/>
          <a:lstStyle/>
          <a:p>
            <a:pPr indent="0" marL="0">
              <a:lnSpc>
                <a:spcPct val="115000"/>
              </a:lnSpc>
              <a:buNone/>
            </a:pPr>
            <a:r>
              <a:rPr lang="en-US" sz="1200" dirty="0">
                <a:solidFill>
                  <a:srgbClr val="6B7280"/>
                </a:solidFill>
                <a:latin typeface="Calibri" pitchFamily="34" charset="0"/>
                <a:ea typeface="Calibri" pitchFamily="34" charset="-122"/>
                <a:cs typeface="Calibri" pitchFamily="34" charset="-120"/>
              </a:rPr>
              <a:t>bottom-up: thousands of per-product model tournaments</a:t>
            </a:r>
            <a:endParaRPr lang="en-US" sz="1200" dirty="0"/>
          </a:p>
        </p:txBody>
      </p:sp>
      <p:sp>
        <p:nvSpPr>
          <p:cNvPr id="7" name="Text 5"/>
          <p:cNvSpPr/>
          <p:nvPr/>
        </p:nvSpPr>
        <p:spPr>
          <a:xfrm>
            <a:off x="6537960" y="2377440"/>
            <a:ext cx="4937760" cy="36576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An analyst’s reasoning</a:t>
            </a:r>
            <a:endParaRPr lang="en-US" sz="1300" dirty="0"/>
          </a:p>
        </p:txBody>
      </p:sp>
      <p:sp>
        <p:nvSpPr>
          <p:cNvPr id="8" name="Text 6"/>
          <p:cNvSpPr/>
          <p:nvPr/>
        </p:nvSpPr>
        <p:spPr>
          <a:xfrm>
            <a:off x="6537960" y="2788920"/>
            <a:ext cx="4937760" cy="914400"/>
          </a:xfrm>
          <a:prstGeom prst="rect">
            <a:avLst/>
          </a:prstGeom>
          <a:noFill/>
          <a:ln/>
        </p:spPr>
        <p:txBody>
          <a:bodyPr wrap="square" lIns="0" tIns="0" rIns="0" bIns="0" rtlCol="0" anchor="ctr"/>
          <a:lstStyle/>
          <a:p>
            <a:pPr indent="0" marL="0">
              <a:buNone/>
            </a:pPr>
            <a:r>
              <a:rPr lang="en-US" sz="4000" b="1" dirty="0">
                <a:solidFill>
                  <a:srgbClr val="1C2530"/>
                </a:solidFill>
                <a:latin typeface="Cambria" pitchFamily="34" charset="0"/>
                <a:ea typeface="Cambria" pitchFamily="34" charset="-122"/>
                <a:cs typeface="Cambria" pitchFamily="34" charset="-120"/>
              </a:rPr>
              <a:t>≈183,000</a:t>
            </a:r>
            <a:endParaRPr lang="en-US" sz="4000" dirty="0"/>
          </a:p>
        </p:txBody>
      </p:sp>
      <p:sp>
        <p:nvSpPr>
          <p:cNvPr id="9" name="Text 7"/>
          <p:cNvSpPr/>
          <p:nvPr/>
        </p:nvSpPr>
        <p:spPr>
          <a:xfrm>
            <a:off x="6537960" y="3749040"/>
            <a:ext cx="4937760" cy="731520"/>
          </a:xfrm>
          <a:prstGeom prst="rect">
            <a:avLst/>
          </a:prstGeom>
          <a:noFill/>
          <a:ln/>
        </p:spPr>
        <p:txBody>
          <a:bodyPr wrap="square" lIns="0" tIns="0" rIns="0" bIns="0" rtlCol="0" anchor="ctr"/>
          <a:lstStyle/>
          <a:p>
            <a:pPr indent="0" marL="0">
              <a:lnSpc>
                <a:spcPct val="115000"/>
              </a:lnSpc>
              <a:buNone/>
            </a:pPr>
            <a:r>
              <a:rPr lang="en-US" sz="1200" dirty="0">
                <a:solidFill>
                  <a:srgbClr val="6B7280"/>
                </a:solidFill>
                <a:latin typeface="Calibri" pitchFamily="34" charset="0"/>
                <a:ea typeface="Calibri" pitchFamily="34" charset="-122"/>
                <a:cs typeface="Calibri" pitchFamily="34" charset="-120"/>
              </a:rPr>
              <a:t>top-down: run rate, event layer, customer momentum — no models</a:t>
            </a:r>
            <a:endParaRPr lang="en-US" sz="1200" dirty="0"/>
          </a:p>
        </p:txBody>
      </p:sp>
      <p:sp>
        <p:nvSpPr>
          <p:cNvPr id="10" name="Text 8"/>
          <p:cNvSpPr/>
          <p:nvPr/>
        </p:nvSpPr>
        <p:spPr>
          <a:xfrm>
            <a:off x="685800" y="4892040"/>
            <a:ext cx="10817352" cy="548640"/>
          </a:xfrm>
          <a:prstGeom prst="rect">
            <a:avLst/>
          </a:prstGeom>
          <a:noFill/>
          <a:ln/>
        </p:spPr>
        <p:txBody>
          <a:bodyPr wrap="square" lIns="0" tIns="0" rIns="0" bIns="0" rtlCol="0" anchor="ctr"/>
          <a:lstStyle/>
          <a:p>
            <a:pPr indent="0" marL="0">
              <a:buNone/>
            </a:pPr>
            <a:r>
              <a:rPr lang="en-US" sz="2000" i="1" dirty="0">
                <a:solidFill>
                  <a:srgbClr val="C8102E"/>
                </a:solidFill>
                <a:latin typeface="Cambria" pitchFamily="34" charset="0"/>
                <a:ea typeface="Cambria" pitchFamily="34" charset="-122"/>
                <a:cs typeface="Cambria" pitchFamily="34" charset="-120"/>
              </a:rPr>
              <a:t>agreement within 4%</a:t>
            </a:r>
            <a:endParaRPr lang="en-US" sz="2000" dirty="0"/>
          </a:p>
        </p:txBody>
      </p:sp>
      <p:sp>
        <p:nvSpPr>
          <p:cNvPr id="11" name="Text 9"/>
          <p:cNvSpPr/>
          <p:nvPr/>
        </p:nvSpPr>
        <p:spPr>
          <a:xfrm>
            <a:off x="685800" y="5577840"/>
            <a:ext cx="10817352" cy="5943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The judgmental route also quantified what per-product models cannot see: roughly 2,000 units a year arrive on products that do not exist yet.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66928"/>
            <a:ext cx="10817352" cy="274320"/>
          </a:xfrm>
          <a:prstGeom prst="rect">
            <a:avLst/>
          </a:prstGeom>
          <a:noFill/>
          <a:ln/>
        </p:spPr>
        <p:txBody>
          <a:bodyPr wrap="square" lIns="0" tIns="0" rIns="0" bIns="0" rtlCol="0" anchor="ctr"/>
          <a:lstStyle/>
          <a:p>
            <a:pPr algn="l" indent="0" marL="0">
              <a:buNone/>
            </a:pPr>
            <a:r>
              <a:rPr lang="en-US" sz="1050" b="1" spc="300" kern="0" dirty="0">
                <a:solidFill>
                  <a:srgbClr val="6B7280"/>
                </a:solidFill>
                <a:latin typeface="Calibri" pitchFamily="34" charset="0"/>
                <a:ea typeface="Calibri" pitchFamily="34" charset="-122"/>
                <a:cs typeface="Calibri" pitchFamily="34" charset="-120"/>
              </a:rPr>
              <a:t>06 — ACCURACY, PART ONE</a:t>
            </a:r>
            <a:endParaRPr lang="en-US" sz="1050" dirty="0"/>
          </a:p>
        </p:txBody>
      </p:sp>
      <p:sp>
        <p:nvSpPr>
          <p:cNvPr id="3" name="Text 1"/>
          <p:cNvSpPr/>
          <p:nvPr/>
        </p:nvSpPr>
        <p:spPr>
          <a:xfrm>
            <a:off x="685800" y="914400"/>
            <a:ext cx="10817352" cy="1051560"/>
          </a:xfrm>
          <a:prstGeom prst="rect">
            <a:avLst/>
          </a:prstGeom>
          <a:noFill/>
          <a:ln/>
        </p:spPr>
        <p:txBody>
          <a:bodyPr wrap="square" lIns="0" tIns="0" rIns="0" bIns="0" rtlCol="0" anchor="ctr"/>
          <a:lstStyle/>
          <a:p>
            <a:pPr algn="l" indent="0" marL="0">
              <a:buNone/>
            </a:pPr>
            <a:r>
              <a:rPr lang="en-US" sz="3800" b="1" dirty="0">
                <a:solidFill>
                  <a:srgbClr val="1C2530"/>
                </a:solidFill>
                <a:latin typeface="Cambria" pitchFamily="34" charset="0"/>
                <a:ea typeface="Cambria" pitchFamily="34" charset="-122"/>
                <a:cs typeface="Cambria" pitchFamily="34" charset="-120"/>
              </a:rPr>
              <a:t>Better than the obvious alternatives.</a:t>
            </a:r>
            <a:endParaRPr lang="en-US" sz="3800" dirty="0"/>
          </a:p>
        </p:txBody>
      </p:sp>
      <p:sp>
        <p:nvSpPr>
          <p:cNvPr id="4" name="Text 2"/>
          <p:cNvSpPr/>
          <p:nvPr/>
        </p:nvSpPr>
        <p:spPr>
          <a:xfrm>
            <a:off x="685800" y="2103120"/>
            <a:ext cx="10817352" cy="36576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Error on the withheld year FY2024 (WAPE — error as a share of units sold):</a:t>
            </a:r>
            <a:endParaRPr lang="en-US" sz="1250" dirty="0"/>
          </a:p>
        </p:txBody>
      </p:sp>
      <p:sp>
        <p:nvSpPr>
          <p:cNvPr id="5" name="Text 3"/>
          <p:cNvSpPr/>
          <p:nvPr/>
        </p:nvSpPr>
        <p:spPr>
          <a:xfrm>
            <a:off x="685800" y="2788920"/>
            <a:ext cx="6858000" cy="54864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Repeat last year unchanged</a:t>
            </a:r>
            <a:endParaRPr lang="en-US" sz="1500" dirty="0"/>
          </a:p>
        </p:txBody>
      </p:sp>
      <p:sp>
        <p:nvSpPr>
          <p:cNvPr id="6" name="Text 4"/>
          <p:cNvSpPr/>
          <p:nvPr/>
        </p:nvSpPr>
        <p:spPr>
          <a:xfrm>
            <a:off x="8183880" y="2788920"/>
            <a:ext cx="2743200" cy="548640"/>
          </a:xfrm>
          <a:prstGeom prst="rect">
            <a:avLst/>
          </a:prstGeom>
          <a:noFill/>
          <a:ln/>
        </p:spPr>
        <p:txBody>
          <a:bodyPr wrap="square" lIns="0" tIns="0" rIns="0" bIns="0" rtlCol="0" anchor="ctr"/>
          <a:lstStyle/>
          <a:p>
            <a:pPr algn="r" indent="0" marL="0">
              <a:buNone/>
            </a:pPr>
            <a:r>
              <a:rPr lang="en-US" sz="2000" b="1" dirty="0">
                <a:solidFill>
                  <a:srgbClr val="6B7280"/>
                </a:solidFill>
                <a:latin typeface="Cambria" pitchFamily="34" charset="0"/>
                <a:ea typeface="Cambria" pitchFamily="34" charset="-122"/>
                <a:cs typeface="Cambria" pitchFamily="34" charset="-120"/>
              </a:rPr>
              <a:t>0.845</a:t>
            </a:r>
            <a:endParaRPr lang="en-US" sz="2000" dirty="0"/>
          </a:p>
        </p:txBody>
      </p:sp>
      <p:sp>
        <p:nvSpPr>
          <p:cNvPr id="7" name="Shape 5"/>
          <p:cNvSpPr/>
          <p:nvPr/>
        </p:nvSpPr>
        <p:spPr>
          <a:xfrm>
            <a:off x="685800" y="3456432"/>
            <a:ext cx="10817352" cy="0"/>
          </a:xfrm>
          <a:prstGeom prst="line">
            <a:avLst/>
          </a:prstGeom>
          <a:noFill/>
          <a:ln w="9525">
            <a:solidFill>
              <a:srgbClr val="E2E6EA"/>
            </a:solidFill>
            <a:prstDash val="solid"/>
          </a:ln>
        </p:spPr>
      </p:sp>
      <p:sp>
        <p:nvSpPr>
          <p:cNvPr id="8" name="Text 6"/>
          <p:cNvSpPr/>
          <p:nvPr/>
        </p:nvSpPr>
        <p:spPr>
          <a:xfrm>
            <a:off x="685800" y="3566160"/>
            <a:ext cx="6858000" cy="54864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Spread last year’s total evenly</a:t>
            </a:r>
            <a:endParaRPr lang="en-US" sz="1500" dirty="0"/>
          </a:p>
        </p:txBody>
      </p:sp>
      <p:sp>
        <p:nvSpPr>
          <p:cNvPr id="9" name="Text 7"/>
          <p:cNvSpPr/>
          <p:nvPr/>
        </p:nvSpPr>
        <p:spPr>
          <a:xfrm>
            <a:off x="8183880" y="3566160"/>
            <a:ext cx="2743200" cy="548640"/>
          </a:xfrm>
          <a:prstGeom prst="rect">
            <a:avLst/>
          </a:prstGeom>
          <a:noFill/>
          <a:ln/>
        </p:spPr>
        <p:txBody>
          <a:bodyPr wrap="square" lIns="0" tIns="0" rIns="0" bIns="0" rtlCol="0" anchor="ctr"/>
          <a:lstStyle/>
          <a:p>
            <a:pPr algn="r" indent="0" marL="0">
              <a:buNone/>
            </a:pPr>
            <a:r>
              <a:rPr lang="en-US" sz="2000" b="1" dirty="0">
                <a:solidFill>
                  <a:srgbClr val="6B7280"/>
                </a:solidFill>
                <a:latin typeface="Cambria" pitchFamily="34" charset="0"/>
                <a:ea typeface="Cambria" pitchFamily="34" charset="-122"/>
                <a:cs typeface="Cambria" pitchFamily="34" charset="-120"/>
              </a:rPr>
              <a:t>0.692</a:t>
            </a:r>
            <a:endParaRPr lang="en-US" sz="2000" dirty="0"/>
          </a:p>
        </p:txBody>
      </p:sp>
      <p:sp>
        <p:nvSpPr>
          <p:cNvPr id="10" name="Shape 8"/>
          <p:cNvSpPr/>
          <p:nvPr/>
        </p:nvSpPr>
        <p:spPr>
          <a:xfrm>
            <a:off x="685800" y="4233672"/>
            <a:ext cx="10817352" cy="0"/>
          </a:xfrm>
          <a:prstGeom prst="line">
            <a:avLst/>
          </a:prstGeom>
          <a:noFill/>
          <a:ln w="9525">
            <a:solidFill>
              <a:srgbClr val="E2E6EA"/>
            </a:solidFill>
            <a:prstDash val="solid"/>
          </a:ln>
        </p:spPr>
      </p:sp>
      <p:sp>
        <p:nvSpPr>
          <p:cNvPr id="11" name="Text 9"/>
          <p:cNvSpPr/>
          <p:nvPr/>
        </p:nvSpPr>
        <p:spPr>
          <a:xfrm>
            <a:off x="685800" y="4343400"/>
            <a:ext cx="6858000" cy="548640"/>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This forecasting system</a:t>
            </a:r>
            <a:endParaRPr lang="en-US" sz="1700" dirty="0"/>
          </a:p>
        </p:txBody>
      </p:sp>
      <p:sp>
        <p:nvSpPr>
          <p:cNvPr id="12" name="Text 10"/>
          <p:cNvSpPr/>
          <p:nvPr/>
        </p:nvSpPr>
        <p:spPr>
          <a:xfrm>
            <a:off x="8183880" y="4343400"/>
            <a:ext cx="2743200" cy="548640"/>
          </a:xfrm>
          <a:prstGeom prst="rect">
            <a:avLst/>
          </a:prstGeom>
          <a:noFill/>
          <a:ln/>
        </p:spPr>
        <p:txBody>
          <a:bodyPr wrap="square" lIns="0" tIns="0" rIns="0" bIns="0" rtlCol="0" anchor="ctr"/>
          <a:lstStyle/>
          <a:p>
            <a:pPr algn="r" indent="0" marL="0">
              <a:buNone/>
            </a:pPr>
            <a:r>
              <a:rPr lang="en-US" sz="2600" b="1" dirty="0">
                <a:solidFill>
                  <a:srgbClr val="C8102E"/>
                </a:solidFill>
                <a:latin typeface="Cambria" pitchFamily="34" charset="0"/>
                <a:ea typeface="Cambria" pitchFamily="34" charset="-122"/>
                <a:cs typeface="Cambria" pitchFamily="34" charset="-120"/>
              </a:rPr>
              <a:t>0.636</a:t>
            </a:r>
            <a:endParaRPr lang="en-US" sz="2600" dirty="0"/>
          </a:p>
        </p:txBody>
      </p:sp>
      <p:sp>
        <p:nvSpPr>
          <p:cNvPr id="13" name="Text 11"/>
          <p:cNvSpPr/>
          <p:nvPr/>
        </p:nvSpPr>
        <p:spPr>
          <a:xfrm>
            <a:off x="685800" y="5577840"/>
            <a:ext cx="10817352" cy="64008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8–17% less error than the best simple alternative on each withheld year — and 4 points more demand served at identical safety stock in inventory simulation.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66928"/>
            <a:ext cx="10817352" cy="274320"/>
          </a:xfrm>
          <a:prstGeom prst="rect">
            <a:avLst/>
          </a:prstGeom>
          <a:noFill/>
          <a:ln/>
        </p:spPr>
        <p:txBody>
          <a:bodyPr wrap="square" lIns="0" tIns="0" rIns="0" bIns="0" rtlCol="0" anchor="ctr"/>
          <a:lstStyle/>
          <a:p>
            <a:pPr algn="l" indent="0" marL="0">
              <a:buNone/>
            </a:pPr>
            <a:r>
              <a:rPr lang="en-US" sz="1050" b="1" spc="300" kern="0" dirty="0">
                <a:solidFill>
                  <a:srgbClr val="6B7280"/>
                </a:solidFill>
                <a:latin typeface="Calibri" pitchFamily="34" charset="0"/>
                <a:ea typeface="Calibri" pitchFamily="34" charset="-122"/>
                <a:cs typeface="Calibri" pitchFamily="34" charset="-120"/>
              </a:rPr>
              <a:t>07 — ACCURACY, PART TWO</a:t>
            </a:r>
            <a:endParaRPr lang="en-US" sz="1050" dirty="0"/>
          </a:p>
        </p:txBody>
      </p:sp>
      <p:sp>
        <p:nvSpPr>
          <p:cNvPr id="3" name="Text 1"/>
          <p:cNvSpPr/>
          <p:nvPr/>
        </p:nvSpPr>
        <p:spPr>
          <a:xfrm>
            <a:off x="685800" y="914400"/>
            <a:ext cx="10817352" cy="1051560"/>
          </a:xfrm>
          <a:prstGeom prst="rect">
            <a:avLst/>
          </a:prstGeom>
          <a:noFill/>
          <a:ln/>
        </p:spPr>
        <p:txBody>
          <a:bodyPr wrap="square" lIns="0" tIns="0" rIns="0" bIns="0" rtlCol="0" anchor="ctr"/>
          <a:lstStyle/>
          <a:p>
            <a:pPr algn="l" indent="0" marL="0">
              <a:buNone/>
            </a:pPr>
            <a:r>
              <a:rPr lang="en-US" sz="3800" b="1" dirty="0">
                <a:solidFill>
                  <a:srgbClr val="1C2530"/>
                </a:solidFill>
                <a:latin typeface="Cambria" pitchFamily="34" charset="0"/>
                <a:ea typeface="Cambria" pitchFamily="34" charset="-122"/>
                <a:cs typeface="Cambria" pitchFamily="34" charset="-120"/>
              </a:rPr>
              <a:t>Accuracy depends on the question.</a:t>
            </a:r>
            <a:endParaRPr lang="en-US" sz="3800" dirty="0"/>
          </a:p>
        </p:txBody>
      </p:sp>
      <p:sp>
        <p:nvSpPr>
          <p:cNvPr id="4" name="Text 2"/>
          <p:cNvSpPr/>
          <p:nvPr/>
        </p:nvSpPr>
        <p:spPr>
          <a:xfrm>
            <a:off x="685800" y="2331720"/>
            <a:ext cx="1554480" cy="68580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36%</a:t>
            </a:r>
            <a:endParaRPr lang="en-US" sz="2700" dirty="0"/>
          </a:p>
        </p:txBody>
      </p:sp>
      <p:sp>
        <p:nvSpPr>
          <p:cNvPr id="5" name="Text 3"/>
          <p:cNvSpPr/>
          <p:nvPr/>
        </p:nvSpPr>
        <p:spPr>
          <a:xfrm>
            <a:off x="2514600" y="2377440"/>
            <a:ext cx="4663440" cy="594360"/>
          </a:xfrm>
          <a:prstGeom prst="rect">
            <a:avLst/>
          </a:prstGeom>
          <a:noFill/>
          <a:ln/>
        </p:spPr>
        <p:txBody>
          <a:bodyPr wrap="square" lIns="0" tIns="0" rIns="0" bIns="0" rtlCol="0" anchor="ctr"/>
          <a:lstStyle/>
          <a:p>
            <a:pPr indent="0" marL="0">
              <a:buNone/>
            </a:pPr>
            <a:r>
              <a:rPr lang="en-US" sz="1450" b="1" dirty="0">
                <a:solidFill>
                  <a:srgbClr val="1C2530"/>
                </a:solidFill>
                <a:latin typeface="Calibri" pitchFamily="34" charset="0"/>
                <a:ea typeface="Calibri" pitchFamily="34" charset="-122"/>
                <a:cs typeface="Calibri" pitchFamily="34" charset="-120"/>
              </a:rPr>
              <a:t>One product, one month</a:t>
            </a:r>
            <a:endParaRPr lang="en-US" sz="1450" dirty="0"/>
          </a:p>
        </p:txBody>
      </p:sp>
      <p:sp>
        <p:nvSpPr>
          <p:cNvPr id="6" name="Text 4"/>
          <p:cNvSpPr/>
          <p:nvPr/>
        </p:nvSpPr>
        <p:spPr>
          <a:xfrm>
            <a:off x="7360920" y="2414016"/>
            <a:ext cx="4142232" cy="5943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single-SKU reorder — use the range, not the point</a:t>
            </a:r>
            <a:endParaRPr lang="en-US" sz="1200" dirty="0"/>
          </a:p>
        </p:txBody>
      </p:sp>
      <p:sp>
        <p:nvSpPr>
          <p:cNvPr id="7" name="Shape 5"/>
          <p:cNvSpPr/>
          <p:nvPr/>
        </p:nvSpPr>
        <p:spPr>
          <a:xfrm>
            <a:off x="685800" y="3063240"/>
            <a:ext cx="10817352" cy="0"/>
          </a:xfrm>
          <a:prstGeom prst="line">
            <a:avLst/>
          </a:prstGeom>
          <a:noFill/>
          <a:ln w="9525">
            <a:solidFill>
              <a:srgbClr val="E2E6EA"/>
            </a:solidFill>
            <a:prstDash val="solid"/>
          </a:ln>
        </p:spPr>
      </p:sp>
      <p:sp>
        <p:nvSpPr>
          <p:cNvPr id="8" name="Text 6"/>
          <p:cNvSpPr/>
          <p:nvPr/>
        </p:nvSpPr>
        <p:spPr>
          <a:xfrm>
            <a:off x="685800" y="3182112"/>
            <a:ext cx="1554480" cy="68580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73%</a:t>
            </a:r>
            <a:endParaRPr lang="en-US" sz="2700" dirty="0"/>
          </a:p>
        </p:txBody>
      </p:sp>
      <p:sp>
        <p:nvSpPr>
          <p:cNvPr id="9" name="Text 7"/>
          <p:cNvSpPr/>
          <p:nvPr/>
        </p:nvSpPr>
        <p:spPr>
          <a:xfrm>
            <a:off x="2514600" y="3227832"/>
            <a:ext cx="4663440" cy="594360"/>
          </a:xfrm>
          <a:prstGeom prst="rect">
            <a:avLst/>
          </a:prstGeom>
          <a:noFill/>
          <a:ln/>
        </p:spPr>
        <p:txBody>
          <a:bodyPr wrap="square" lIns="0" tIns="0" rIns="0" bIns="0" rtlCol="0" anchor="ctr"/>
          <a:lstStyle/>
          <a:p>
            <a:pPr indent="0" marL="0">
              <a:buNone/>
            </a:pPr>
            <a:r>
              <a:rPr lang="en-US" sz="1450" b="1" dirty="0">
                <a:solidFill>
                  <a:srgbClr val="1C2530"/>
                </a:solidFill>
                <a:latin typeface="Calibri" pitchFamily="34" charset="0"/>
                <a:ea typeface="Calibri" pitchFamily="34" charset="-122"/>
                <a:cs typeface="Calibri" pitchFamily="34" charset="-120"/>
              </a:rPr>
              <a:t>One product, full year</a:t>
            </a:r>
            <a:endParaRPr lang="en-US" sz="1450" dirty="0"/>
          </a:p>
        </p:txBody>
      </p:sp>
      <p:sp>
        <p:nvSpPr>
          <p:cNvPr id="10" name="Text 8"/>
          <p:cNvSpPr/>
          <p:nvPr/>
        </p:nvSpPr>
        <p:spPr>
          <a:xfrm>
            <a:off x="7360920" y="3264408"/>
            <a:ext cx="4142232" cy="5943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annual volume commitment per product</a:t>
            </a:r>
            <a:endParaRPr lang="en-US" sz="1200" dirty="0"/>
          </a:p>
        </p:txBody>
      </p:sp>
      <p:sp>
        <p:nvSpPr>
          <p:cNvPr id="11" name="Shape 9"/>
          <p:cNvSpPr/>
          <p:nvPr/>
        </p:nvSpPr>
        <p:spPr>
          <a:xfrm>
            <a:off x="685800" y="3913632"/>
            <a:ext cx="10817352" cy="0"/>
          </a:xfrm>
          <a:prstGeom prst="line">
            <a:avLst/>
          </a:prstGeom>
          <a:noFill/>
          <a:ln w="9525">
            <a:solidFill>
              <a:srgbClr val="E2E6EA"/>
            </a:solidFill>
            <a:prstDash val="solid"/>
          </a:ln>
        </p:spPr>
      </p:sp>
      <p:sp>
        <p:nvSpPr>
          <p:cNvPr id="12" name="Text 10"/>
          <p:cNvSpPr/>
          <p:nvPr/>
        </p:nvSpPr>
        <p:spPr>
          <a:xfrm>
            <a:off x="685800" y="4032504"/>
            <a:ext cx="1554480" cy="68580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78%</a:t>
            </a:r>
            <a:endParaRPr lang="en-US" sz="2700" dirty="0"/>
          </a:p>
        </p:txBody>
      </p:sp>
      <p:sp>
        <p:nvSpPr>
          <p:cNvPr id="13" name="Text 11"/>
          <p:cNvSpPr/>
          <p:nvPr/>
        </p:nvSpPr>
        <p:spPr>
          <a:xfrm>
            <a:off x="2514600" y="4078224"/>
            <a:ext cx="4663440" cy="594360"/>
          </a:xfrm>
          <a:prstGeom prst="rect">
            <a:avLst/>
          </a:prstGeom>
          <a:noFill/>
          <a:ln/>
        </p:spPr>
        <p:txBody>
          <a:bodyPr wrap="square" lIns="0" tIns="0" rIns="0" bIns="0" rtlCol="0" anchor="ctr"/>
          <a:lstStyle/>
          <a:p>
            <a:pPr indent="0" marL="0">
              <a:buNone/>
            </a:pPr>
            <a:r>
              <a:rPr lang="en-US" sz="1450" b="1" dirty="0">
                <a:solidFill>
                  <a:srgbClr val="1C2530"/>
                </a:solidFill>
                <a:latin typeface="Calibri" pitchFamily="34" charset="0"/>
                <a:ea typeface="Calibri" pitchFamily="34" charset="-122"/>
                <a:cs typeface="Calibri" pitchFamily="34" charset="-120"/>
              </a:rPr>
              <a:t>Category, quarter</a:t>
            </a:r>
            <a:endParaRPr lang="en-US" sz="1450" dirty="0"/>
          </a:p>
        </p:txBody>
      </p:sp>
      <p:sp>
        <p:nvSpPr>
          <p:cNvPr id="14" name="Text 12"/>
          <p:cNvSpPr/>
          <p:nvPr/>
        </p:nvSpPr>
        <p:spPr>
          <a:xfrm>
            <a:off x="7360920" y="4114800"/>
            <a:ext cx="4142232" cy="5943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capacity and warehouse planning</a:t>
            </a:r>
            <a:endParaRPr lang="en-US" sz="1200" dirty="0"/>
          </a:p>
        </p:txBody>
      </p:sp>
      <p:sp>
        <p:nvSpPr>
          <p:cNvPr id="15" name="Shape 13"/>
          <p:cNvSpPr/>
          <p:nvPr/>
        </p:nvSpPr>
        <p:spPr>
          <a:xfrm>
            <a:off x="685800" y="4764024"/>
            <a:ext cx="10817352" cy="0"/>
          </a:xfrm>
          <a:prstGeom prst="line">
            <a:avLst/>
          </a:prstGeom>
          <a:noFill/>
          <a:ln w="9525">
            <a:solidFill>
              <a:srgbClr val="E2E6EA"/>
            </a:solidFill>
            <a:prstDash val="solid"/>
          </a:ln>
        </p:spPr>
      </p:sp>
      <p:sp>
        <p:nvSpPr>
          <p:cNvPr id="16" name="Text 14"/>
          <p:cNvSpPr/>
          <p:nvPr/>
        </p:nvSpPr>
        <p:spPr>
          <a:xfrm>
            <a:off x="685800" y="4882896"/>
            <a:ext cx="1554480" cy="68580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80%</a:t>
            </a:r>
            <a:endParaRPr lang="en-US" sz="2700" dirty="0"/>
          </a:p>
        </p:txBody>
      </p:sp>
      <p:sp>
        <p:nvSpPr>
          <p:cNvPr id="17" name="Text 15"/>
          <p:cNvSpPr/>
          <p:nvPr/>
        </p:nvSpPr>
        <p:spPr>
          <a:xfrm>
            <a:off x="2514600" y="4928616"/>
            <a:ext cx="4663440" cy="594360"/>
          </a:xfrm>
          <a:prstGeom prst="rect">
            <a:avLst/>
          </a:prstGeom>
          <a:noFill/>
          <a:ln/>
        </p:spPr>
        <p:txBody>
          <a:bodyPr wrap="square" lIns="0" tIns="0" rIns="0" bIns="0" rtlCol="0" anchor="ctr"/>
          <a:lstStyle/>
          <a:p>
            <a:pPr indent="0" marL="0">
              <a:buNone/>
            </a:pPr>
            <a:r>
              <a:rPr lang="en-US" sz="1450" b="1" dirty="0">
                <a:solidFill>
                  <a:srgbClr val="1C2530"/>
                </a:solidFill>
                <a:latin typeface="Calibri" pitchFamily="34" charset="0"/>
                <a:ea typeface="Calibri" pitchFamily="34" charset="-122"/>
                <a:cs typeface="Calibri" pitchFamily="34" charset="-120"/>
              </a:rPr>
              <a:t>Whole company, full year</a:t>
            </a:r>
            <a:endParaRPr lang="en-US" sz="1450" dirty="0"/>
          </a:p>
        </p:txBody>
      </p:sp>
      <p:sp>
        <p:nvSpPr>
          <p:cNvPr id="18" name="Text 16"/>
          <p:cNvSpPr/>
          <p:nvPr/>
        </p:nvSpPr>
        <p:spPr>
          <a:xfrm>
            <a:off x="7360920" y="4965192"/>
            <a:ext cx="4142232" cy="5943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annual revenue budget</a:t>
            </a:r>
            <a:endParaRPr lang="en-US" sz="1200" dirty="0"/>
          </a:p>
        </p:txBody>
      </p:sp>
      <p:sp>
        <p:nvSpPr>
          <p:cNvPr id="19" name="Text 17"/>
          <p:cNvSpPr/>
          <p:nvPr/>
        </p:nvSpPr>
        <p:spPr>
          <a:xfrm>
            <a:off x="685800" y="5806440"/>
            <a:ext cx="10817352" cy="45720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Aggregation cancels offsetting errors. Each figure is matched to the decision it actually supports.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66928"/>
            <a:ext cx="10817352" cy="274320"/>
          </a:xfrm>
          <a:prstGeom prst="rect">
            <a:avLst/>
          </a:prstGeom>
          <a:noFill/>
          <a:ln/>
        </p:spPr>
        <p:txBody>
          <a:bodyPr wrap="square" lIns="0" tIns="0" rIns="0" bIns="0" rtlCol="0" anchor="ctr"/>
          <a:lstStyle/>
          <a:p>
            <a:pPr algn="l" indent="0" marL="0">
              <a:buNone/>
            </a:pPr>
            <a:r>
              <a:rPr lang="en-US" sz="1050" b="1" spc="300" kern="0" dirty="0">
                <a:solidFill>
                  <a:srgbClr val="6B7280"/>
                </a:solidFill>
                <a:latin typeface="Calibri" pitchFamily="34" charset="0"/>
                <a:ea typeface="Calibri" pitchFamily="34" charset="-122"/>
                <a:cs typeface="Calibri" pitchFamily="34" charset="-120"/>
              </a:rPr>
              <a:t>08 — METHOD DISCIPLINE</a:t>
            </a:r>
            <a:endParaRPr lang="en-US" sz="1050" dirty="0"/>
          </a:p>
        </p:txBody>
      </p:sp>
      <p:sp>
        <p:nvSpPr>
          <p:cNvPr id="3" name="Text 1"/>
          <p:cNvSpPr/>
          <p:nvPr/>
        </p:nvSpPr>
        <p:spPr>
          <a:xfrm>
            <a:off x="685800" y="914400"/>
            <a:ext cx="10817352" cy="1051560"/>
          </a:xfrm>
          <a:prstGeom prst="rect">
            <a:avLst/>
          </a:prstGeom>
          <a:noFill/>
          <a:ln/>
        </p:spPr>
        <p:txBody>
          <a:bodyPr wrap="square" lIns="0" tIns="0" rIns="0" bIns="0" rtlCol="0" anchor="ctr"/>
          <a:lstStyle/>
          <a:p>
            <a:pPr algn="l" indent="0" marL="0">
              <a:buNone/>
            </a:pPr>
            <a:r>
              <a:rPr lang="en-US" sz="3800" b="1" dirty="0">
                <a:solidFill>
                  <a:srgbClr val="1C2530"/>
                </a:solidFill>
                <a:latin typeface="Cambria" pitchFamily="34" charset="0"/>
                <a:ea typeface="Cambria" pitchFamily="34" charset="-122"/>
                <a:cs typeface="Cambria" pitchFamily="34" charset="-120"/>
              </a:rPr>
              <a:t>Twelve ideas. Three survived.</a:t>
            </a:r>
            <a:endParaRPr lang="en-US" sz="3800" dirty="0"/>
          </a:p>
        </p:txBody>
      </p:sp>
      <p:sp>
        <p:nvSpPr>
          <p:cNvPr id="4" name="Text 2"/>
          <p:cNvSpPr/>
          <p:nvPr/>
        </p:nvSpPr>
        <p:spPr>
          <a:xfrm>
            <a:off x="685800" y="2331720"/>
            <a:ext cx="4937760" cy="320040"/>
          </a:xfrm>
          <a:prstGeom prst="rect">
            <a:avLst/>
          </a:prstGeom>
          <a:noFill/>
          <a:ln/>
        </p:spPr>
        <p:txBody>
          <a:bodyPr wrap="square" lIns="0" tIns="0" rIns="0" bIns="0" rtlCol="0" anchor="ctr"/>
          <a:lstStyle/>
          <a:p>
            <a:pPr indent="0" marL="0">
              <a:buNone/>
            </a:pPr>
            <a:r>
              <a:rPr lang="en-US" sz="1100" b="1" spc="300" kern="0" dirty="0">
                <a:solidFill>
                  <a:srgbClr val="C8102E"/>
                </a:solidFill>
                <a:latin typeface="Calibri" pitchFamily="34" charset="0"/>
                <a:ea typeface="Calibri" pitchFamily="34" charset="-122"/>
                <a:cs typeface="Calibri" pitchFamily="34" charset="-120"/>
              </a:rPr>
              <a:t>ADOPTED</a:t>
            </a:r>
            <a:endParaRPr lang="en-US" sz="1100" dirty="0"/>
          </a:p>
        </p:txBody>
      </p:sp>
      <p:sp>
        <p:nvSpPr>
          <p:cNvPr id="5" name="Text 3"/>
          <p:cNvSpPr/>
          <p:nvPr/>
        </p:nvSpPr>
        <p:spPr>
          <a:xfrm>
            <a:off x="685800" y="2697480"/>
            <a:ext cx="4937760" cy="173736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C2530"/>
                </a:solidFill>
                <a:latin typeface="Calibri" pitchFamily="34" charset="0"/>
                <a:ea typeface="Calibri" pitchFamily="34" charset="-122"/>
                <a:cs typeface="Calibri" pitchFamily="34" charset="-120"/>
              </a:rPr>
              <a:t>TSB — for demand fading toward obsolescence</a:t>
            </a:r>
            <a:endParaRPr lang="en-US" sz="1350" dirty="0"/>
          </a:p>
          <a:p>
            <a:pPr marL="342900" indent="-342900">
              <a:spcAft>
                <a:spcPts val="800"/>
              </a:spcAft>
              <a:buSzPct val="100000"/>
              <a:buChar char="•"/>
            </a:pPr>
            <a:r>
              <a:rPr lang="en-US" sz="1350" dirty="0">
                <a:solidFill>
                  <a:srgbClr val="1C2530"/>
                </a:solidFill>
                <a:latin typeface="Calibri" pitchFamily="34" charset="0"/>
                <a:ea typeface="Calibri" pitchFamily="34" charset="-122"/>
                <a:cs typeface="Calibri" pitchFamily="34" charset="-120"/>
              </a:rPr>
              <a:t>Spike-capped model fitting</a:t>
            </a:r>
            <a:endParaRPr lang="en-US" sz="1350" dirty="0"/>
          </a:p>
          <a:p>
            <a:pPr marL="342900" indent="-342900">
              <a:spcAft>
                <a:spcPts val="800"/>
              </a:spcAft>
              <a:buSzPct val="100000"/>
              <a:buChar char="•"/>
            </a:pPr>
            <a:r>
              <a:rPr lang="en-US" sz="1350" dirty="0">
                <a:solidFill>
                  <a:srgbClr val="1C2530"/>
                </a:solidFill>
                <a:latin typeface="Calibri" pitchFamily="34" charset="0"/>
                <a:ea typeface="Calibri" pitchFamily="34" charset="-122"/>
                <a:cs typeface="Calibri" pitchFamily="34" charset="-120"/>
              </a:rPr>
              <a:t>Event-exposure buffers for planners</a:t>
            </a:r>
            <a:endParaRPr lang="en-US" sz="1350" dirty="0"/>
          </a:p>
        </p:txBody>
      </p:sp>
      <p:sp>
        <p:nvSpPr>
          <p:cNvPr id="6" name="Text 4"/>
          <p:cNvSpPr/>
          <p:nvPr/>
        </p:nvSpPr>
        <p:spPr>
          <a:xfrm>
            <a:off x="6537960" y="2331720"/>
            <a:ext cx="5120640" cy="320040"/>
          </a:xfrm>
          <a:prstGeom prst="rect">
            <a:avLst/>
          </a:prstGeom>
          <a:noFill/>
          <a:ln/>
        </p:spPr>
        <p:txBody>
          <a:bodyPr wrap="square" lIns="0" tIns="0" rIns="0" bIns="0" rtlCol="0" anchor="ctr"/>
          <a:lstStyle/>
          <a:p>
            <a:pPr indent="0" marL="0">
              <a:buNone/>
            </a:pPr>
            <a:r>
              <a:rPr lang="en-US" sz="1100" b="1" spc="300" kern="0" dirty="0">
                <a:solidFill>
                  <a:srgbClr val="6B7280"/>
                </a:solidFill>
                <a:latin typeface="Calibri" pitchFamily="34" charset="0"/>
                <a:ea typeface="Calibri" pitchFamily="34" charset="-122"/>
                <a:cs typeface="Calibri" pitchFamily="34" charset="-120"/>
              </a:rPr>
              <a:t>REJECTED, WITH THE EVIDENCE KEPT</a:t>
            </a:r>
            <a:endParaRPr lang="en-US" sz="1100" dirty="0"/>
          </a:p>
        </p:txBody>
      </p:sp>
      <p:sp>
        <p:nvSpPr>
          <p:cNvPr id="7" name="Text 5"/>
          <p:cNvSpPr/>
          <p:nvPr/>
        </p:nvSpPr>
        <p:spPr>
          <a:xfrm>
            <a:off x="6537960" y="2697480"/>
            <a:ext cx="5120640" cy="173736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6B7280"/>
                </a:solidFill>
                <a:latin typeface="Calibri" pitchFamily="34" charset="0"/>
                <a:ea typeface="Calibri" pitchFamily="34" charset="-122"/>
                <a:cs typeface="Calibri" pitchFamily="34" charset="-120"/>
              </a:rPr>
              <a:t>Category reconciliation — made accuracy worse</a:t>
            </a:r>
            <a:endParaRPr lang="en-US" sz="1350" dirty="0"/>
          </a:p>
          <a:p>
            <a:pPr marL="342900" indent="-342900">
              <a:spcAft>
                <a:spcPts val="800"/>
              </a:spcAft>
              <a:buSzPct val="100000"/>
              <a:buChar char="•"/>
            </a:pPr>
            <a:r>
              <a:rPr lang="en-US" sz="1350" dirty="0">
                <a:solidFill>
                  <a:srgbClr val="6B7280"/>
                </a:solidFill>
                <a:latin typeface="Calibri" pitchFamily="34" charset="0"/>
                <a:ea typeface="Calibri" pitchFamily="34" charset="-122"/>
                <a:cs typeface="Calibri" pitchFamily="34" charset="-120"/>
              </a:rPr>
              <a:t>Top-2 ensembles — gain absorbed by selection</a:t>
            </a:r>
            <a:endParaRPr lang="en-US" sz="1350" dirty="0"/>
          </a:p>
          <a:p>
            <a:pPr marL="342900" indent="-342900">
              <a:spcAft>
                <a:spcPts val="800"/>
              </a:spcAft>
              <a:buSzPct val="100000"/>
              <a:buChar char="•"/>
            </a:pPr>
            <a:r>
              <a:rPr lang="en-US" sz="1350" dirty="0">
                <a:solidFill>
                  <a:srgbClr val="6B7280"/>
                </a:solidFill>
                <a:latin typeface="Calibri" pitchFamily="34" charset="0"/>
                <a:ea typeface="Calibri" pitchFamily="34" charset="-122"/>
                <a:cs typeface="Calibri" pitchFamily="34" charset="-120"/>
              </a:rPr>
              <a:t>Event-decomposition models — lost the back-test</a:t>
            </a:r>
            <a:endParaRPr lang="en-US" sz="1350" dirty="0"/>
          </a:p>
        </p:txBody>
      </p:sp>
      <p:sp>
        <p:nvSpPr>
          <p:cNvPr id="8" name="Text 6"/>
          <p:cNvSpPr/>
          <p:nvPr/>
        </p:nvSpPr>
        <p:spPr>
          <a:xfrm>
            <a:off x="685800" y="5577840"/>
            <a:ext cx="10817352" cy="5943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Nothing was adopted on plausibility. Every idea was scored on a withheld year; every verdict — including the failures — is documented in the repository.</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66928"/>
            <a:ext cx="10817352" cy="274320"/>
          </a:xfrm>
          <a:prstGeom prst="rect">
            <a:avLst/>
          </a:prstGeom>
          <a:noFill/>
          <a:ln/>
        </p:spPr>
        <p:txBody>
          <a:bodyPr wrap="square" lIns="0" tIns="0" rIns="0" bIns="0" rtlCol="0" anchor="ctr"/>
          <a:lstStyle/>
          <a:p>
            <a:pPr algn="l" indent="0" marL="0">
              <a:buNone/>
            </a:pPr>
            <a:r>
              <a:rPr lang="en-US" sz="1050" b="1" spc="300" kern="0" dirty="0">
                <a:solidFill>
                  <a:srgbClr val="6B7280"/>
                </a:solidFill>
                <a:latin typeface="Calibri" pitchFamily="34" charset="0"/>
                <a:ea typeface="Calibri" pitchFamily="34" charset="-122"/>
                <a:cs typeface="Calibri" pitchFamily="34" charset="-120"/>
              </a:rPr>
              <a:t>09 — FOR MITSUBISHI</a:t>
            </a:r>
            <a:endParaRPr lang="en-US" sz="1050" dirty="0"/>
          </a:p>
        </p:txBody>
      </p:sp>
      <p:sp>
        <p:nvSpPr>
          <p:cNvPr id="3" name="Text 1"/>
          <p:cNvSpPr/>
          <p:nvPr/>
        </p:nvSpPr>
        <p:spPr>
          <a:xfrm>
            <a:off x="685800" y="914400"/>
            <a:ext cx="10817352" cy="1051560"/>
          </a:xfrm>
          <a:prstGeom prst="rect">
            <a:avLst/>
          </a:prstGeom>
          <a:noFill/>
          <a:ln/>
        </p:spPr>
        <p:txBody>
          <a:bodyPr wrap="square" lIns="0" tIns="0" rIns="0" bIns="0" rtlCol="0" anchor="ctr"/>
          <a:lstStyle/>
          <a:p>
            <a:pPr algn="l" indent="0" marL="0">
              <a:buNone/>
            </a:pPr>
            <a:r>
              <a:rPr lang="en-US" sz="3800" b="1" dirty="0">
                <a:solidFill>
                  <a:srgbClr val="1C2530"/>
                </a:solidFill>
                <a:latin typeface="Cambria" pitchFamily="34" charset="0"/>
                <a:ea typeface="Cambria" pitchFamily="34" charset="-122"/>
                <a:cs typeface="Cambria" pitchFamily="34" charset="-120"/>
              </a:rPr>
              <a:t>Three answers would sharpen this.</a:t>
            </a:r>
            <a:endParaRPr lang="en-US" sz="3800" dirty="0"/>
          </a:p>
        </p:txBody>
      </p:sp>
      <p:sp>
        <p:nvSpPr>
          <p:cNvPr id="4" name="Text 2"/>
          <p:cNvSpPr/>
          <p:nvPr/>
        </p:nvSpPr>
        <p:spPr>
          <a:xfrm>
            <a:off x="685800" y="2286000"/>
            <a:ext cx="777240" cy="640080"/>
          </a:xfrm>
          <a:prstGeom prst="rect">
            <a:avLst/>
          </a:prstGeom>
          <a:noFill/>
          <a:ln/>
        </p:spPr>
        <p:txBody>
          <a:bodyPr wrap="square" lIns="0" tIns="0" rIns="0" bIns="0" rtlCol="0" anchor="ctr"/>
          <a:lstStyle/>
          <a:p>
            <a:pPr indent="0" marL="0">
              <a:buNone/>
            </a:pPr>
            <a:r>
              <a:rPr lang="en-US" sz="2400" i="1" dirty="0">
                <a:solidFill>
                  <a:srgbClr val="C8102E"/>
                </a:solidFill>
                <a:latin typeface="Cambria" pitchFamily="34" charset="0"/>
                <a:ea typeface="Cambria" pitchFamily="34" charset="-122"/>
                <a:cs typeface="Cambria" pitchFamily="34" charset="-120"/>
              </a:rPr>
              <a:t>01</a:t>
            </a:r>
            <a:endParaRPr lang="en-US" sz="2400" dirty="0"/>
          </a:p>
        </p:txBody>
      </p:sp>
      <p:sp>
        <p:nvSpPr>
          <p:cNvPr id="5" name="Text 3"/>
          <p:cNvSpPr/>
          <p:nvPr/>
        </p:nvSpPr>
        <p:spPr>
          <a:xfrm>
            <a:off x="1691640" y="2304288"/>
            <a:ext cx="9418320" cy="411480"/>
          </a:xfrm>
          <a:prstGeom prst="rect">
            <a:avLst/>
          </a:prstGeom>
          <a:noFill/>
          <a:ln/>
        </p:spPr>
        <p:txBody>
          <a:bodyPr wrap="square" lIns="0" tIns="0" rIns="0" bIns="0" rtlCol="0" anchor="ctr"/>
          <a:lstStyle/>
          <a:p>
            <a:pPr indent="0" marL="0">
              <a:buNone/>
            </a:pPr>
            <a:r>
              <a:rPr lang="en-US" sz="1550" b="1" dirty="0">
                <a:solidFill>
                  <a:srgbClr val="1C2530"/>
                </a:solidFill>
                <a:latin typeface="Calibri" pitchFamily="34" charset="0"/>
                <a:ea typeface="Calibri" pitchFamily="34" charset="-122"/>
                <a:cs typeface="Calibri" pitchFamily="34" charset="-120"/>
              </a:rPr>
              <a:t>What does order status “Closed” mean?</a:t>
            </a:r>
            <a:endParaRPr lang="en-US" sz="1550" dirty="0"/>
          </a:p>
        </p:txBody>
      </p:sp>
      <p:sp>
        <p:nvSpPr>
          <p:cNvPr id="6" name="Text 4"/>
          <p:cNvSpPr/>
          <p:nvPr/>
        </p:nvSpPr>
        <p:spPr>
          <a:xfrm>
            <a:off x="1691640" y="2743200"/>
            <a:ext cx="941832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data dictionary defines it two contradictory ways — 14.5% of volume rides on it</a:t>
            </a:r>
            <a:endParaRPr lang="en-US" sz="1200" dirty="0"/>
          </a:p>
        </p:txBody>
      </p:sp>
      <p:sp>
        <p:nvSpPr>
          <p:cNvPr id="7" name="Text 5"/>
          <p:cNvSpPr/>
          <p:nvPr/>
        </p:nvSpPr>
        <p:spPr>
          <a:xfrm>
            <a:off x="685800" y="3493008"/>
            <a:ext cx="777240" cy="640080"/>
          </a:xfrm>
          <a:prstGeom prst="rect">
            <a:avLst/>
          </a:prstGeom>
          <a:noFill/>
          <a:ln/>
        </p:spPr>
        <p:txBody>
          <a:bodyPr wrap="square" lIns="0" tIns="0" rIns="0" bIns="0" rtlCol="0" anchor="ctr"/>
          <a:lstStyle/>
          <a:p>
            <a:pPr indent="0" marL="0">
              <a:buNone/>
            </a:pPr>
            <a:r>
              <a:rPr lang="en-US" sz="2400" i="1" dirty="0">
                <a:solidFill>
                  <a:srgbClr val="C8102E"/>
                </a:solidFill>
                <a:latin typeface="Cambria" pitchFamily="34" charset="0"/>
                <a:ea typeface="Cambria" pitchFamily="34" charset="-122"/>
                <a:cs typeface="Cambria" pitchFamily="34" charset="-120"/>
              </a:rPr>
              <a:t>02</a:t>
            </a:r>
            <a:endParaRPr lang="en-US" sz="2400" dirty="0"/>
          </a:p>
        </p:txBody>
      </p:sp>
      <p:sp>
        <p:nvSpPr>
          <p:cNvPr id="8" name="Text 6"/>
          <p:cNvSpPr/>
          <p:nvPr/>
        </p:nvSpPr>
        <p:spPr>
          <a:xfrm>
            <a:off x="1691640" y="3511296"/>
            <a:ext cx="9418320" cy="411480"/>
          </a:xfrm>
          <a:prstGeom prst="rect">
            <a:avLst/>
          </a:prstGeom>
          <a:noFill/>
          <a:ln/>
        </p:spPr>
        <p:txBody>
          <a:bodyPr wrap="square" lIns="0" tIns="0" rIns="0" bIns="0" rtlCol="0" anchor="ctr"/>
          <a:lstStyle/>
          <a:p>
            <a:pPr indent="0" marL="0">
              <a:buNone/>
            </a:pPr>
            <a:r>
              <a:rPr lang="en-US" sz="1550" b="1" dirty="0">
                <a:solidFill>
                  <a:srgbClr val="1C2530"/>
                </a:solidFill>
                <a:latin typeface="Calibri" pitchFamily="34" charset="0"/>
                <a:ea typeface="Calibri" pitchFamily="34" charset="-122"/>
                <a:cs typeface="Calibri" pitchFamily="34" charset="-120"/>
              </a:rPr>
              <a:t>Is Base Price before or after the VIP discount?</a:t>
            </a:r>
            <a:endParaRPr lang="en-US" sz="1550" dirty="0"/>
          </a:p>
        </p:txBody>
      </p:sp>
      <p:sp>
        <p:nvSpPr>
          <p:cNvPr id="9" name="Text 7"/>
          <p:cNvSpPr/>
          <p:nvPr/>
        </p:nvSpPr>
        <p:spPr>
          <a:xfrm>
            <a:off x="1691640" y="3950208"/>
            <a:ext cx="941832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dictionary says VIP receive 37% off list; prices in the data suggest it is not yet applied — ฿461m of forecast revenue rides on it</a:t>
            </a:r>
            <a:endParaRPr lang="en-US" sz="1200" dirty="0"/>
          </a:p>
        </p:txBody>
      </p:sp>
      <p:sp>
        <p:nvSpPr>
          <p:cNvPr id="10" name="Text 8"/>
          <p:cNvSpPr/>
          <p:nvPr/>
        </p:nvSpPr>
        <p:spPr>
          <a:xfrm>
            <a:off x="685800" y="4700016"/>
            <a:ext cx="777240" cy="640080"/>
          </a:xfrm>
          <a:prstGeom prst="rect">
            <a:avLst/>
          </a:prstGeom>
          <a:noFill/>
          <a:ln/>
        </p:spPr>
        <p:txBody>
          <a:bodyPr wrap="square" lIns="0" tIns="0" rIns="0" bIns="0" rtlCol="0" anchor="ctr"/>
          <a:lstStyle/>
          <a:p>
            <a:pPr indent="0" marL="0">
              <a:buNone/>
            </a:pPr>
            <a:r>
              <a:rPr lang="en-US" sz="2400" i="1" dirty="0">
                <a:solidFill>
                  <a:srgbClr val="C8102E"/>
                </a:solidFill>
                <a:latin typeface="Cambria" pitchFamily="34" charset="0"/>
                <a:ea typeface="Cambria" pitchFamily="34" charset="-122"/>
                <a:cs typeface="Cambria" pitchFamily="34" charset="-120"/>
              </a:rPr>
              <a:t>03</a:t>
            </a:r>
            <a:endParaRPr lang="en-US" sz="2400" dirty="0"/>
          </a:p>
        </p:txBody>
      </p:sp>
      <p:sp>
        <p:nvSpPr>
          <p:cNvPr id="11" name="Text 9"/>
          <p:cNvSpPr/>
          <p:nvPr/>
        </p:nvSpPr>
        <p:spPr>
          <a:xfrm>
            <a:off x="1691640" y="4718304"/>
            <a:ext cx="9418320" cy="411480"/>
          </a:xfrm>
          <a:prstGeom prst="rect">
            <a:avLst/>
          </a:prstGeom>
          <a:noFill/>
          <a:ln/>
        </p:spPr>
        <p:txBody>
          <a:bodyPr wrap="square" lIns="0" tIns="0" rIns="0" bIns="0" rtlCol="0" anchor="ctr"/>
          <a:lstStyle/>
          <a:p>
            <a:pPr indent="0" marL="0">
              <a:buNone/>
            </a:pPr>
            <a:r>
              <a:rPr lang="en-US" sz="1550" b="1" dirty="0">
                <a:solidFill>
                  <a:srgbClr val="1C2530"/>
                </a:solidFill>
                <a:latin typeface="Calibri" pitchFamily="34" charset="0"/>
                <a:ea typeface="Calibri" pitchFamily="34" charset="-122"/>
                <a:cs typeface="Calibri" pitchFamily="34" charset="-120"/>
              </a:rPr>
              <a:t>Which FY2025 figures will grade this forecast?</a:t>
            </a:r>
            <a:endParaRPr lang="en-US" sz="1550" dirty="0"/>
          </a:p>
        </p:txBody>
      </p:sp>
      <p:sp>
        <p:nvSpPr>
          <p:cNvPr id="12" name="Text 10"/>
          <p:cNvSpPr/>
          <p:nvPr/>
        </p:nvSpPr>
        <p:spPr>
          <a:xfrm>
            <a:off x="1691640" y="5157216"/>
            <a:ext cx="941832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All-status quantity or billed only — a definition mismatch would read as forecast error</a:t>
            </a:r>
            <a:endParaRPr lang="en-US" sz="1200" dirty="0"/>
          </a:p>
        </p:txBody>
      </p:sp>
      <p:sp>
        <p:nvSpPr>
          <p:cNvPr id="13" name="Text 11"/>
          <p:cNvSpPr/>
          <p:nvPr/>
        </p:nvSpPr>
        <p:spPr>
          <a:xfrm>
            <a:off x="685800" y="5897880"/>
            <a:ext cx="10817352" cy="45720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Each is a one-line configuration change once answered — the system re-runs in two minutes.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66928"/>
            <a:ext cx="10817352" cy="274320"/>
          </a:xfrm>
          <a:prstGeom prst="rect">
            <a:avLst/>
          </a:prstGeom>
          <a:noFill/>
          <a:ln/>
        </p:spPr>
        <p:txBody>
          <a:bodyPr wrap="square" lIns="0" tIns="0" rIns="0" bIns="0" rtlCol="0" anchor="ctr"/>
          <a:lstStyle/>
          <a:p>
            <a:pPr algn="l" indent="0" marL="0">
              <a:buNone/>
            </a:pPr>
            <a:r>
              <a:rPr lang="en-US" sz="1050" b="1" spc="300" kern="0" dirty="0">
                <a:solidFill>
                  <a:srgbClr val="6B7280"/>
                </a:solidFill>
                <a:latin typeface="Calibri" pitchFamily="34" charset="0"/>
                <a:ea typeface="Calibri" pitchFamily="34" charset="-122"/>
                <a:cs typeface="Calibri" pitchFamily="34" charset="-120"/>
              </a:rPr>
              <a:t>10 — NEXT</a:t>
            </a:r>
            <a:endParaRPr lang="en-US" sz="1050" dirty="0"/>
          </a:p>
        </p:txBody>
      </p:sp>
      <p:sp>
        <p:nvSpPr>
          <p:cNvPr id="3" name="Text 1"/>
          <p:cNvSpPr/>
          <p:nvPr/>
        </p:nvSpPr>
        <p:spPr>
          <a:xfrm>
            <a:off x="685800" y="914400"/>
            <a:ext cx="10817352" cy="1051560"/>
          </a:xfrm>
          <a:prstGeom prst="rect">
            <a:avLst/>
          </a:prstGeom>
          <a:noFill/>
          <a:ln/>
        </p:spPr>
        <p:txBody>
          <a:bodyPr wrap="square" lIns="0" tIns="0" rIns="0" bIns="0" rtlCol="0" anchor="ctr"/>
          <a:lstStyle/>
          <a:p>
            <a:pPr algn="l" indent="0" marL="0">
              <a:buNone/>
            </a:pPr>
            <a:r>
              <a:rPr lang="en-US" sz="3800" b="1" dirty="0">
                <a:solidFill>
                  <a:srgbClr val="1C2530"/>
                </a:solidFill>
                <a:latin typeface="Cambria" pitchFamily="34" charset="0"/>
                <a:ea typeface="Cambria" pitchFamily="34" charset="-122"/>
                <a:cs typeface="Cambria" pitchFamily="34" charset="-120"/>
              </a:rPr>
              <a:t>Built to improve as it is fed.</a:t>
            </a:r>
            <a:endParaRPr lang="en-US" sz="3800" dirty="0"/>
          </a:p>
        </p:txBody>
      </p:sp>
      <p:sp>
        <p:nvSpPr>
          <p:cNvPr id="4" name="Text 2"/>
          <p:cNvSpPr/>
          <p:nvPr/>
        </p:nvSpPr>
        <p:spPr>
          <a:xfrm>
            <a:off x="685800" y="2286000"/>
            <a:ext cx="2384298" cy="685800"/>
          </a:xfrm>
          <a:prstGeom prst="rect">
            <a:avLst/>
          </a:prstGeom>
          <a:noFill/>
          <a:ln/>
        </p:spPr>
        <p:txBody>
          <a:bodyPr wrap="square" lIns="0" tIns="0" rIns="0" bIns="0" rtlCol="0" anchor="ctr"/>
          <a:lstStyle/>
          <a:p>
            <a:pPr indent="0" marL="0">
              <a:buNone/>
            </a:pPr>
            <a:r>
              <a:rPr lang="en-US" sz="3000" i="1" dirty="0">
                <a:solidFill>
                  <a:srgbClr val="C8102E"/>
                </a:solidFill>
                <a:latin typeface="Cambria" pitchFamily="34" charset="0"/>
                <a:ea typeface="Cambria" pitchFamily="34" charset="-122"/>
                <a:cs typeface="Cambria" pitchFamily="34" charset="-120"/>
              </a:rPr>
              <a:t>01</a:t>
            </a:r>
            <a:endParaRPr lang="en-US" sz="3000" dirty="0"/>
          </a:p>
        </p:txBody>
      </p:sp>
      <p:sp>
        <p:nvSpPr>
          <p:cNvPr id="5" name="Text 3"/>
          <p:cNvSpPr/>
          <p:nvPr/>
        </p:nvSpPr>
        <p:spPr>
          <a:xfrm>
            <a:off x="685800" y="3017520"/>
            <a:ext cx="2384298" cy="411480"/>
          </a:xfrm>
          <a:prstGeom prst="rect">
            <a:avLst/>
          </a:prstGeom>
          <a:noFill/>
          <a:ln/>
        </p:spPr>
        <p:txBody>
          <a:bodyPr wrap="square" lIns="0" tIns="0" rIns="0" bIns="0" rtlCol="0" anchor="ctr"/>
          <a:lstStyle/>
          <a:p>
            <a:pPr indent="0" marL="0">
              <a:buNone/>
            </a:pPr>
            <a:r>
              <a:rPr lang="en-US" sz="1600" b="1" dirty="0">
                <a:solidFill>
                  <a:srgbClr val="1C2530"/>
                </a:solidFill>
                <a:latin typeface="Calibri" pitchFamily="34" charset="0"/>
                <a:ea typeface="Calibri" pitchFamily="34" charset="-122"/>
                <a:cs typeface="Calibri" pitchFamily="34" charset="-120"/>
              </a:rPr>
              <a:t>FY2025 actuals</a:t>
            </a:r>
            <a:endParaRPr lang="en-US" sz="1600" dirty="0"/>
          </a:p>
        </p:txBody>
      </p:sp>
      <p:sp>
        <p:nvSpPr>
          <p:cNvPr id="6" name="Text 4"/>
          <p:cNvSpPr/>
          <p:nvPr/>
        </p:nvSpPr>
        <p:spPr>
          <a:xfrm>
            <a:off x="685800" y="3474720"/>
            <a:ext cx="2384298" cy="1463040"/>
          </a:xfrm>
          <a:prstGeom prst="rect">
            <a:avLst/>
          </a:prstGeom>
          <a:noFill/>
          <a:ln/>
        </p:spPr>
        <p:txBody>
          <a:bodyPr wrap="square" lIns="0" tIns="0" rIns="0" bIns="0" rtlCol="0" anchor="ctr"/>
          <a:lstStyle/>
          <a:p>
            <a:pPr indent="0" marL="0">
              <a:lnSpc>
                <a:spcPct val="115000"/>
              </a:lnSpc>
              <a:buNone/>
            </a:pPr>
            <a:r>
              <a:rPr lang="en-US" sz="1200" dirty="0">
                <a:solidFill>
                  <a:srgbClr val="6B7280"/>
                </a:solidFill>
                <a:latin typeface="Calibri" pitchFamily="34" charset="0"/>
                <a:ea typeface="Calibri" pitchFamily="34" charset="-122"/>
                <a:cs typeface="Calibri" pitchFamily="34" charset="-120"/>
              </a:rPr>
              <a:t>25% more history; seasonal models unlock automatically; first true validation</a:t>
            </a:r>
            <a:endParaRPr lang="en-US" sz="1200" dirty="0"/>
          </a:p>
        </p:txBody>
      </p:sp>
      <p:sp>
        <p:nvSpPr>
          <p:cNvPr id="7" name="Text 5"/>
          <p:cNvSpPr/>
          <p:nvPr/>
        </p:nvSpPr>
        <p:spPr>
          <a:xfrm>
            <a:off x="3390138" y="2286000"/>
            <a:ext cx="2384298" cy="685800"/>
          </a:xfrm>
          <a:prstGeom prst="rect">
            <a:avLst/>
          </a:prstGeom>
          <a:noFill/>
          <a:ln/>
        </p:spPr>
        <p:txBody>
          <a:bodyPr wrap="square" lIns="0" tIns="0" rIns="0" bIns="0" rtlCol="0" anchor="ctr"/>
          <a:lstStyle/>
          <a:p>
            <a:pPr indent="0" marL="0">
              <a:buNone/>
            </a:pPr>
            <a:r>
              <a:rPr lang="en-US" sz="3000" i="1" dirty="0">
                <a:solidFill>
                  <a:srgbClr val="C8102E"/>
                </a:solidFill>
                <a:latin typeface="Cambria" pitchFamily="34" charset="0"/>
                <a:ea typeface="Cambria" pitchFamily="34" charset="-122"/>
                <a:cs typeface="Cambria" pitchFamily="34" charset="-120"/>
              </a:rPr>
              <a:t>02</a:t>
            </a:r>
            <a:endParaRPr lang="en-US" sz="3000" dirty="0"/>
          </a:p>
        </p:txBody>
      </p:sp>
      <p:sp>
        <p:nvSpPr>
          <p:cNvPr id="8" name="Text 6"/>
          <p:cNvSpPr/>
          <p:nvPr/>
        </p:nvSpPr>
        <p:spPr>
          <a:xfrm>
            <a:off x="3390138" y="3017520"/>
            <a:ext cx="2384298" cy="411480"/>
          </a:xfrm>
          <a:prstGeom prst="rect">
            <a:avLst/>
          </a:prstGeom>
          <a:noFill/>
          <a:ln/>
        </p:spPr>
        <p:txBody>
          <a:bodyPr wrap="square" lIns="0" tIns="0" rIns="0" bIns="0" rtlCol="0" anchor="ctr"/>
          <a:lstStyle/>
          <a:p>
            <a:pPr indent="0" marL="0">
              <a:buNone/>
            </a:pPr>
            <a:r>
              <a:rPr lang="en-US" sz="1600" b="1" dirty="0">
                <a:solidFill>
                  <a:srgbClr val="1C2530"/>
                </a:solidFill>
                <a:latin typeface="Calibri" pitchFamily="34" charset="0"/>
                <a:ea typeface="Calibri" pitchFamily="34" charset="-122"/>
                <a:cs typeface="Calibri" pitchFamily="34" charset="-120"/>
              </a:rPr>
              <a:t>Sales-input channel</a:t>
            </a:r>
            <a:endParaRPr lang="en-US" sz="1600" dirty="0"/>
          </a:p>
        </p:txBody>
      </p:sp>
      <p:sp>
        <p:nvSpPr>
          <p:cNvPr id="9" name="Text 7"/>
          <p:cNvSpPr/>
          <p:nvPr/>
        </p:nvSpPr>
        <p:spPr>
          <a:xfrm>
            <a:off x="3390138" y="3474720"/>
            <a:ext cx="2384298" cy="1463040"/>
          </a:xfrm>
          <a:prstGeom prst="rect">
            <a:avLst/>
          </a:prstGeom>
          <a:noFill/>
          <a:ln/>
        </p:spPr>
        <p:txBody>
          <a:bodyPr wrap="square" lIns="0" tIns="0" rIns="0" bIns="0" rtlCol="0" anchor="ctr"/>
          <a:lstStyle/>
          <a:p>
            <a:pPr indent="0" marL="0">
              <a:lnSpc>
                <a:spcPct val="115000"/>
              </a:lnSpc>
              <a:buNone/>
            </a:pPr>
            <a:r>
              <a:rPr lang="en-US" sz="1200" dirty="0">
                <a:solidFill>
                  <a:srgbClr val="6B7280"/>
                </a:solidFill>
                <a:latin typeface="Calibri" pitchFamily="34" charset="0"/>
                <a:ea typeface="Calibri" pitchFamily="34" charset="-122"/>
                <a:cs typeface="Calibri" pitchFamily="34" charset="-120"/>
              </a:rPr>
              <a:t>30 minutes a month on the ~50 products that carry 40% of the error</a:t>
            </a:r>
            <a:endParaRPr lang="en-US" sz="1200" dirty="0"/>
          </a:p>
        </p:txBody>
      </p:sp>
      <p:sp>
        <p:nvSpPr>
          <p:cNvPr id="10" name="Text 8"/>
          <p:cNvSpPr/>
          <p:nvPr/>
        </p:nvSpPr>
        <p:spPr>
          <a:xfrm>
            <a:off x="6094476" y="2286000"/>
            <a:ext cx="2384298" cy="685800"/>
          </a:xfrm>
          <a:prstGeom prst="rect">
            <a:avLst/>
          </a:prstGeom>
          <a:noFill/>
          <a:ln/>
        </p:spPr>
        <p:txBody>
          <a:bodyPr wrap="square" lIns="0" tIns="0" rIns="0" bIns="0" rtlCol="0" anchor="ctr"/>
          <a:lstStyle/>
          <a:p>
            <a:pPr indent="0" marL="0">
              <a:buNone/>
            </a:pPr>
            <a:r>
              <a:rPr lang="en-US" sz="3000" i="1" dirty="0">
                <a:solidFill>
                  <a:srgbClr val="C8102E"/>
                </a:solidFill>
                <a:latin typeface="Cambria" pitchFamily="34" charset="0"/>
                <a:ea typeface="Cambria" pitchFamily="34" charset="-122"/>
                <a:cs typeface="Cambria" pitchFamily="34" charset="-120"/>
              </a:rPr>
              <a:t>03</a:t>
            </a:r>
            <a:endParaRPr lang="en-US" sz="3000" dirty="0"/>
          </a:p>
        </p:txBody>
      </p:sp>
      <p:sp>
        <p:nvSpPr>
          <p:cNvPr id="11" name="Text 9"/>
          <p:cNvSpPr/>
          <p:nvPr/>
        </p:nvSpPr>
        <p:spPr>
          <a:xfrm>
            <a:off x="6094476" y="3017520"/>
            <a:ext cx="2384298" cy="411480"/>
          </a:xfrm>
          <a:prstGeom prst="rect">
            <a:avLst/>
          </a:prstGeom>
          <a:noFill/>
          <a:ln/>
        </p:spPr>
        <p:txBody>
          <a:bodyPr wrap="square" lIns="0" tIns="0" rIns="0" bIns="0" rtlCol="0" anchor="ctr"/>
          <a:lstStyle/>
          <a:p>
            <a:pPr indent="0" marL="0">
              <a:buNone/>
            </a:pPr>
            <a:r>
              <a:rPr lang="en-US" sz="1600" b="1" dirty="0">
                <a:solidFill>
                  <a:srgbClr val="1C2530"/>
                </a:solidFill>
                <a:latin typeface="Calibri" pitchFamily="34" charset="0"/>
                <a:ea typeface="Calibri" pitchFamily="34" charset="-122"/>
                <a:cs typeface="Calibri" pitchFamily="34" charset="-120"/>
              </a:rPr>
              <a:t>Monthly re-forecasts</a:t>
            </a:r>
            <a:endParaRPr lang="en-US" sz="1600" dirty="0"/>
          </a:p>
        </p:txBody>
      </p:sp>
      <p:sp>
        <p:nvSpPr>
          <p:cNvPr id="12" name="Text 10"/>
          <p:cNvSpPr/>
          <p:nvPr/>
        </p:nvSpPr>
        <p:spPr>
          <a:xfrm>
            <a:off x="6094476" y="3474720"/>
            <a:ext cx="2384298" cy="1463040"/>
          </a:xfrm>
          <a:prstGeom prst="rect">
            <a:avLst/>
          </a:prstGeom>
          <a:noFill/>
          <a:ln/>
        </p:spPr>
        <p:txBody>
          <a:bodyPr wrap="square" lIns="0" tIns="0" rIns="0" bIns="0" rtlCol="0" anchor="ctr"/>
          <a:lstStyle/>
          <a:p>
            <a:pPr indent="0" marL="0">
              <a:lnSpc>
                <a:spcPct val="115000"/>
              </a:lnSpc>
              <a:buNone/>
            </a:pPr>
            <a:r>
              <a:rPr lang="en-US" sz="1200" dirty="0">
                <a:solidFill>
                  <a:srgbClr val="6B7280"/>
                </a:solidFill>
                <a:latin typeface="Calibri" pitchFamily="34" charset="0"/>
                <a:ea typeface="Calibri" pitchFamily="34" charset="-122"/>
                <a:cs typeface="Calibri" pitchFamily="34" charset="-120"/>
              </a:rPr>
              <a:t>upload the latest orders; the whole system re-runs in two minutes</a:t>
            </a:r>
            <a:endParaRPr lang="en-US" sz="1200" dirty="0"/>
          </a:p>
        </p:txBody>
      </p:sp>
      <p:sp>
        <p:nvSpPr>
          <p:cNvPr id="13" name="Text 11"/>
          <p:cNvSpPr/>
          <p:nvPr/>
        </p:nvSpPr>
        <p:spPr>
          <a:xfrm>
            <a:off x="8798814" y="2286000"/>
            <a:ext cx="2384298" cy="685800"/>
          </a:xfrm>
          <a:prstGeom prst="rect">
            <a:avLst/>
          </a:prstGeom>
          <a:noFill/>
          <a:ln/>
        </p:spPr>
        <p:txBody>
          <a:bodyPr wrap="square" lIns="0" tIns="0" rIns="0" bIns="0" rtlCol="0" anchor="ctr"/>
          <a:lstStyle/>
          <a:p>
            <a:pPr indent="0" marL="0">
              <a:buNone/>
            </a:pPr>
            <a:r>
              <a:rPr lang="en-US" sz="3000" i="1" dirty="0">
                <a:solidFill>
                  <a:srgbClr val="C8102E"/>
                </a:solidFill>
                <a:latin typeface="Cambria" pitchFamily="34" charset="0"/>
                <a:ea typeface="Cambria" pitchFamily="34" charset="-122"/>
                <a:cs typeface="Cambria" pitchFamily="34" charset="-120"/>
              </a:rPr>
              <a:t>04</a:t>
            </a:r>
            <a:endParaRPr lang="en-US" sz="3000" dirty="0"/>
          </a:p>
        </p:txBody>
      </p:sp>
      <p:sp>
        <p:nvSpPr>
          <p:cNvPr id="14" name="Text 12"/>
          <p:cNvSpPr/>
          <p:nvPr/>
        </p:nvSpPr>
        <p:spPr>
          <a:xfrm>
            <a:off x="8798814" y="3017520"/>
            <a:ext cx="2384298" cy="411480"/>
          </a:xfrm>
          <a:prstGeom prst="rect">
            <a:avLst/>
          </a:prstGeom>
          <a:noFill/>
          <a:ln/>
        </p:spPr>
        <p:txBody>
          <a:bodyPr wrap="square" lIns="0" tIns="0" rIns="0" bIns="0" rtlCol="0" anchor="ctr"/>
          <a:lstStyle/>
          <a:p>
            <a:pPr indent="0" marL="0">
              <a:buNone/>
            </a:pPr>
            <a:r>
              <a:rPr lang="en-US" sz="1600" b="1" dirty="0">
                <a:solidFill>
                  <a:srgbClr val="1C2530"/>
                </a:solidFill>
                <a:latin typeface="Calibri" pitchFamily="34" charset="0"/>
                <a:ea typeface="Calibri" pitchFamily="34" charset="-122"/>
                <a:cs typeface="Calibri" pitchFamily="34" charset="-120"/>
              </a:rPr>
              <a:t>Final report</a:t>
            </a:r>
            <a:endParaRPr lang="en-US" sz="1600" dirty="0"/>
          </a:p>
        </p:txBody>
      </p:sp>
      <p:sp>
        <p:nvSpPr>
          <p:cNvPr id="15" name="Text 13"/>
          <p:cNvSpPr/>
          <p:nvPr/>
        </p:nvSpPr>
        <p:spPr>
          <a:xfrm>
            <a:off x="8798814" y="3474720"/>
            <a:ext cx="2384298" cy="1463040"/>
          </a:xfrm>
          <a:prstGeom prst="rect">
            <a:avLst/>
          </a:prstGeom>
          <a:noFill/>
          <a:ln/>
        </p:spPr>
        <p:txBody>
          <a:bodyPr wrap="square" lIns="0" tIns="0" rIns="0" bIns="0" rtlCol="0" anchor="ctr"/>
          <a:lstStyle/>
          <a:p>
            <a:pPr indent="0" marL="0">
              <a:lnSpc>
                <a:spcPct val="115000"/>
              </a:lnSpc>
              <a:buNone/>
            </a:pPr>
            <a:r>
              <a:rPr lang="en-US" sz="1200" dirty="0">
                <a:solidFill>
                  <a:srgbClr val="6B7280"/>
                </a:solidFill>
                <a:latin typeface="Calibri" pitchFamily="34" charset="0"/>
                <a:ea typeface="Calibri" pitchFamily="34" charset="-122"/>
                <a:cs typeface="Calibri" pitchFamily="34" charset="-120"/>
              </a:rPr>
              <a:t>every method, decision and verdict, written for hand-over</a:t>
            </a:r>
            <a:endParaRPr lang="en-US" sz="1200" dirty="0"/>
          </a:p>
        </p:txBody>
      </p:sp>
      <p:sp>
        <p:nvSpPr>
          <p:cNvPr id="16" name="Text 14"/>
          <p:cNvSpPr/>
          <p:nvPr/>
        </p:nvSpPr>
        <p:spPr>
          <a:xfrm>
            <a:off x="685800" y="5623560"/>
            <a:ext cx="10817352" cy="54864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The remaining error needs event information — the sales pipeline — not more elaborate models. That is a measured conclusion, not a hope.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9601200" y="-2286000"/>
            <a:ext cx="4754880" cy="4754880"/>
          </a:xfrm>
          <a:prstGeom prst="ellipse">
            <a:avLst/>
          </a:prstGeom>
          <a:solidFill>
            <a:srgbClr val="1C2530"/>
          </a:solidFill>
          <a:ln w="15875">
            <a:solidFill>
              <a:srgbClr val="C8102E"/>
            </a:solidFill>
            <a:prstDash val="solid"/>
          </a:ln>
        </p:spPr>
      </p:sp>
      <p:sp>
        <p:nvSpPr>
          <p:cNvPr id="3" name="Text 1"/>
          <p:cNvSpPr/>
          <p:nvPr/>
        </p:nvSpPr>
        <p:spPr>
          <a:xfrm>
            <a:off x="685800" y="1920240"/>
            <a:ext cx="10817352" cy="320040"/>
          </a:xfrm>
          <a:prstGeom prst="rect">
            <a:avLst/>
          </a:prstGeom>
          <a:noFill/>
          <a:ln/>
        </p:spPr>
        <p:txBody>
          <a:bodyPr wrap="square" lIns="0" tIns="0" rIns="0" bIns="0" rtlCol="0" anchor="ctr"/>
          <a:lstStyle/>
          <a:p>
            <a:pPr indent="0" marL="0">
              <a:buNone/>
            </a:pPr>
            <a:r>
              <a:rPr lang="en-US" sz="1100" b="1" spc="300" kern="0" dirty="0">
                <a:solidFill>
                  <a:srgbClr val="9AA4B0"/>
                </a:solidFill>
                <a:latin typeface="Calibri" pitchFamily="34" charset="0"/>
                <a:ea typeface="Calibri" pitchFamily="34" charset="-122"/>
                <a:cs typeface="Calibri" pitchFamily="34" charset="-120"/>
              </a:rPr>
              <a:t>THANK YOU</a:t>
            </a:r>
            <a:endParaRPr lang="en-US" sz="1100" dirty="0"/>
          </a:p>
        </p:txBody>
      </p:sp>
      <p:sp>
        <p:nvSpPr>
          <p:cNvPr id="4" name="Text 2"/>
          <p:cNvSpPr/>
          <p:nvPr/>
        </p:nvSpPr>
        <p:spPr>
          <a:xfrm>
            <a:off x="685800" y="2377440"/>
            <a:ext cx="9601200" cy="2377440"/>
          </a:xfrm>
          <a:prstGeom prst="rect">
            <a:avLst/>
          </a:prstGeom>
          <a:noFill/>
          <a:ln/>
        </p:spPr>
        <p:txBody>
          <a:bodyPr wrap="square" lIns="0" tIns="0" rIns="0" bIns="0" rtlCol="0" anchor="ctr"/>
          <a:lstStyle/>
          <a:p>
            <a:pPr indent="0" marL="0">
              <a:lnSpc>
                <a:spcPct val="115000"/>
              </a:lnSpc>
              <a:buNone/>
            </a:pPr>
            <a:r>
              <a:rPr lang="en-US" sz="3800" b="1" dirty="0">
                <a:solidFill>
                  <a:srgbClr val="FFFFFF"/>
                </a:solidFill>
                <a:latin typeface="Cambria" pitchFamily="34" charset="0"/>
                <a:ea typeface="Cambria" pitchFamily="34" charset="-122"/>
                <a:cs typeface="Cambria" pitchFamily="34" charset="-120"/>
              </a:rPr>
              <a:t>176,044 units.</a:t>
            </a:r>
            <a:endParaRPr lang="en-US" sz="3800" dirty="0"/>
          </a:p>
          <a:p>
            <a:pPr indent="0" marL="0">
              <a:lnSpc>
                <a:spcPct val="115000"/>
              </a:lnSpc>
              <a:buNone/>
            </a:pPr>
            <a:r>
              <a:rPr lang="en-US" sz="3800" b="1" dirty="0">
                <a:solidFill>
                  <a:srgbClr val="FFFFFF"/>
                </a:solidFill>
                <a:latin typeface="Cambria" pitchFamily="34" charset="0"/>
                <a:ea typeface="Cambria" pitchFamily="34" charset="-122"/>
                <a:cs typeface="Cambria" pitchFamily="34" charset="-120"/>
              </a:rPr>
              <a:t>฿1.91 billion.</a:t>
            </a:r>
            <a:endParaRPr lang="en-US" sz="3800" dirty="0"/>
          </a:p>
          <a:p>
            <a:pPr indent="0" marL="0">
              <a:lnSpc>
                <a:spcPct val="115000"/>
              </a:lnSpc>
              <a:buNone/>
            </a:pPr>
            <a:r>
              <a:rPr lang="en-US" sz="3800" b="1" dirty="0">
                <a:solidFill>
                  <a:srgbClr val="FFFFFF"/>
                </a:solidFill>
                <a:latin typeface="Cambria" pitchFamily="34" charset="0"/>
                <a:ea typeface="Cambria" pitchFamily="34" charset="-122"/>
                <a:cs typeface="Cambria" pitchFamily="34" charset="-120"/>
              </a:rPr>
              <a:t>And the evidence to defend both.</a:t>
            </a:r>
            <a:endParaRPr lang="en-US" sz="3800" dirty="0"/>
          </a:p>
        </p:txBody>
      </p:sp>
      <p:sp>
        <p:nvSpPr>
          <p:cNvPr id="5" name="Text 3"/>
          <p:cNvSpPr/>
          <p:nvPr/>
        </p:nvSpPr>
        <p:spPr>
          <a:xfrm>
            <a:off x="685800" y="5257800"/>
            <a:ext cx="8229600" cy="365760"/>
          </a:xfrm>
          <a:prstGeom prst="rect">
            <a:avLst/>
          </a:prstGeom>
          <a:noFill/>
          <a:ln/>
        </p:spPr>
        <p:txBody>
          <a:bodyPr wrap="square" lIns="0" tIns="0" rIns="0" bIns="0" rtlCol="0" anchor="ctr"/>
          <a:lstStyle/>
          <a:p>
            <a:pPr indent="0" marL="0">
              <a:buNone/>
            </a:pPr>
            <a:r>
              <a:rPr lang="en-US" sz="1400" dirty="0">
                <a:solidFill>
                  <a:srgbClr val="A9B4C2"/>
                </a:solidFill>
                <a:latin typeface="Calibri" pitchFamily="34" charset="0"/>
                <a:ea typeface="Calibri" pitchFamily="34" charset="-122"/>
                <a:cs typeface="Calibri" pitchFamily="34" charset="-120"/>
              </a:rPr>
              <a:t>Live dashboard available —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2026-08-05T04:15:19Z</dcterms:created>
  <dcterms:modified xsi:type="dcterms:W3CDTF">2026-08-05T04:15:19Z</dcterms:modified>
</cp:coreProperties>
</file>